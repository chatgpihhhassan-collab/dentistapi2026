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ENTERPRISE DENTAL WORKSPACE • FULL TECHNICAL SPECIFICATION</a:t>
            </a:r>
          </a:p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Dentia: Tools, Skills, PPI Architecture &amp; Entity Model</a:t>
            </a:r>
          </a:p>
          <a:p>
            <a:pPr>
              <a:spcAft>
                <a:spcPts val="2000"/>
              </a:spcAft>
              <a:defRPr sz="1200">
                <a:solidFill>
                  <a:srgbClr val="EAF0FC"/>
                </a:solidFill>
              </a:defRPr>
            </a:pPr>
            <a:r>
              <a:t>A Complete Reference Guide on Frontend &amp; Backend Tools, Clinical AI Skills, the Patient-Provider Interface (PPI), Patient Protected Information (PII/Security), and the 17-Table SQL Server Database Model.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WHAT TOOLS: React 19, Vite 8, Three.js 3D, .NET 10 Web API, Dapper 2.1, SQL Server 2022, Vertex AI, Groq LPU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WHAT SKILLS: AI Scribe SOAP Extraction, Real-Time Audio Dictation, 3D Odontogram Condition Shaders, Dual Geocoding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HOW PPI WORKS: Operatory Consultation Workflow, Ambient Voice Ingestion, and HIPAA/GDPR Protected Information</a:t>
            </a:r>
          </a:p>
          <a:p>
            <a:pPr>
              <a:spcAft>
                <a:spcPts val="2000"/>
              </a:spcAft>
              <a:defRPr sz="1050">
                <a:solidFill>
                  <a:srgbClr val="E2E8F0"/>
                </a:solidFill>
              </a:defRPr>
            </a:pPr>
            <a:r>
              <a:t>• ENTITY MODEL: 17 Normalized SQL Tables with Primary Keys, Foreign Keys, and Architectural Cluster Mappings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Official Engineering &amp; Clinical Review Document • Dentia Health Systems •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TOOLS &amp; LIBRARIES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Complete Tools Inventory: Frontend &amp; Backend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852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852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Frontend Tools &amp;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194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React 19.2: </a:t>
            </a:r>
            <a:r>
              <a:rPr b="0">
                <a:solidFill>
                  <a:srgbClr val="64748B"/>
                </a:solidFill>
              </a:rPr>
              <a:t>Core reactive UI runtime &amp; concurrent mode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Vite 8.2: </a:t>
            </a:r>
            <a:r>
              <a:rPr b="0">
                <a:solidFill>
                  <a:srgbClr val="64748B"/>
                </a:solidFill>
              </a:rPr>
              <a:t>Ultra-fast bundler with Rolldown optimizations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Tailwind CSS v4.3: </a:t>
            </a:r>
            <a:r>
              <a:rPr b="0">
                <a:solidFill>
                  <a:srgbClr val="64748B"/>
                </a:solidFill>
              </a:rPr>
              <a:t>Modern utility styling with native CSS @theme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Three.js &amp; R3F: </a:t>
            </a:r>
            <a:r>
              <a:rPr b="0">
                <a:solidFill>
                  <a:srgbClr val="64748B"/>
                </a:solidFill>
              </a:rPr>
              <a:t>WebGL 3D engine (@react-three/fiber &amp; drei)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Web Speech API: </a:t>
            </a:r>
            <a:r>
              <a:rPr b="0">
                <a:solidFill>
                  <a:srgbClr val="64748B"/>
                </a:solidFill>
              </a:rPr>
              <a:t>Native browser SpeechRecognition &amp; Synthesis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OpenStreetMap: </a:t>
            </a:r>
            <a:r>
              <a:rPr b="0">
                <a:solidFill>
                  <a:srgbClr val="64748B"/>
                </a:solidFill>
              </a:rPr>
              <a:t>Nominatim REST API for hyper-local sectors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Mapbox REST API: </a:t>
            </a:r>
            <a:r>
              <a:rPr b="0">
                <a:solidFill>
                  <a:srgbClr val="64748B"/>
                </a:solidFill>
              </a:rPr>
              <a:t>Geocoding v5 places with fallback token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jsPDF &amp; html2canvas: </a:t>
            </a:r>
            <a:r>
              <a:rPr b="0">
                <a:solidFill>
                  <a:srgbClr val="64748B"/>
                </a:solidFill>
              </a:rPr>
              <a:t>High-res client-side SOAP report PDF export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Recharts 3.10: </a:t>
            </a:r>
            <a:r>
              <a:rPr b="0">
                <a:solidFill>
                  <a:srgbClr val="64748B"/>
                </a:solidFill>
              </a:rPr>
              <a:t>Interactive clinical stats &amp; revenue charts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Lucide-React: </a:t>
            </a:r>
            <a:r>
              <a:rPr b="0">
                <a:solidFill>
                  <a:srgbClr val="64748B"/>
                </a:solidFill>
              </a:rPr>
              <a:t>Standardized clinical, tooth &amp; UI icons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Oxlint: </a:t>
            </a:r>
            <a:r>
              <a:rPr b="0">
                <a:solidFill>
                  <a:srgbClr val="64748B"/>
                </a:solidFill>
              </a:rPr>
              <a:t>Rust-based ultra-fast linter for code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852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285232" cy="50292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Backend API Tools &amp;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194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.NET 10.0 Web API: </a:t>
            </a:r>
            <a:r>
              <a:rPr b="0">
                <a:solidFill>
                  <a:srgbClr val="64748B"/>
                </a:solidFill>
              </a:rPr>
              <a:t>High-throughput modern C# REST application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Dapper 2.1: </a:t>
            </a:r>
            <a:r>
              <a:rPr b="0">
                <a:solidFill>
                  <a:srgbClr val="64748B"/>
                </a:solidFill>
              </a:rPr>
              <a:t>Micro-ORM for sub-millisecond SQL queries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SqlClient 7.0: </a:t>
            </a:r>
            <a:r>
              <a:rPr b="0">
                <a:solidFill>
                  <a:srgbClr val="64748B"/>
                </a:solidFill>
              </a:rPr>
              <a:t>Direct, optimized SQL Server database connection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BCrypt.Net-Next: </a:t>
            </a:r>
            <a:r>
              <a:rPr b="0">
                <a:solidFill>
                  <a:srgbClr val="64748B"/>
                </a:solidFill>
              </a:rPr>
              <a:t>Salted password hashing (Work Factor 11)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OpenAPI / Swagger: </a:t>
            </a:r>
            <a:r>
              <a:rPr b="0">
                <a:solidFill>
                  <a:srgbClr val="64748B"/>
                </a:solidFill>
              </a:rPr>
              <a:t>Interactive API documentation &amp; schema explorer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Google Cloud Vertex AI: </a:t>
            </a:r>
            <a:r>
              <a:rPr b="0">
                <a:solidFill>
                  <a:srgbClr val="64748B"/>
                </a:solidFill>
              </a:rPr>
              <a:t>Google.Cloud.AIPlatform.V1 (Gemini 1.5 Scribe)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Groq LPU SDK: </a:t>
            </a:r>
            <a:r>
              <a:rPr b="0">
                <a:solidFill>
                  <a:srgbClr val="64748B"/>
                </a:solidFill>
              </a:rPr>
              <a:t>Sub-second Llama-3-70b / Mixtral inference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On-Demand Local LLM: </a:t>
            </a:r>
            <a:r>
              <a:rPr b="0">
                <a:solidFill>
                  <a:srgbClr val="64748B"/>
                </a:solidFill>
              </a:rPr>
              <a:t>Air-gapped Ollama failover for hospital LANs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Microsoft SQL Server: </a:t>
            </a:r>
            <a:r>
              <a:rPr b="0">
                <a:solidFill>
                  <a:srgbClr val="64748B"/>
                </a:solidFill>
              </a:rPr>
              <a:t>2022 Enterprise with dentist.* schema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Multipart Streaming: </a:t>
            </a:r>
            <a:r>
              <a:rPr b="0">
                <a:solidFill>
                  <a:srgbClr val="64748B"/>
                </a:solidFill>
              </a:rPr>
              <a:t>Acoustic audio file chunk ingestion pipeline</a:t>
            </a:r>
          </a:p>
          <a:p>
            <a:pPr>
              <a:spcAft>
                <a:spcPts val="550"/>
              </a:spcAft>
              <a:defRPr sz="950" b="1">
                <a:solidFill>
                  <a:srgbClr val="0F172A"/>
                </a:solidFill>
              </a:defRPr>
            </a:pPr>
            <a:r>
              <a:t>✔ Crypto Providers: </a:t>
            </a:r>
            <a:r>
              <a:rPr b="0">
                <a:solidFill>
                  <a:srgbClr val="64748B"/>
                </a:solidFill>
              </a:rPr>
              <a:t>System.Security.Cryptography SHA256 hashes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SKILLS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Clinical AI &amp; System Skills Catalog: Built-in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1: Clinical SOAP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Converts unstructured operatory speech into 8-section dental SOAP notes (Chief Complaint, HPI, Dental History, Objective Exams, Assessment, Treatment, Prescriptions, Prognosis).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347472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2: Real-Time Audio Dictation &amp;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618488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Hands-free ambient consultation listening with live transcript generation, plus audible clinician confirmation via aiVoice.speakDoctorSuccess and error guards.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3474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3: 3D Odontogram Condition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1618488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Translates clinical findings (Caries, Composite, Amalgam, Crown, Root Canal, Extraction, Implant) into dynamic WebGL Three.js shaders on 32 individual tooth meshes.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53512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53512"/>
            <a:ext cx="345643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4: Dual Geocoding Autocomplete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Auto-resolves CDA sectors (F-7, G-9, Gulberg) and New Zealand suburbs; auto-populates Address, City, and Postcode with green '✓ Synced' animated badges.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953512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2953512"/>
            <a:ext cx="3456432" cy="34747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5: Dentition Arch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337560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Dynamically switches dental chart based on patient age: Adult (1-32 Universal / 11-48 FDI), Pediatric (A-T Primary), or Mixed Dentition (6-12 Years).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2953512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2953512"/>
            <a:ext cx="345643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6: Contraindication &amp; Allergy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337560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Cross-references prescribed drugs against patient allergy history. Generates automatic severity alerts in [AIWarnings] requiring mandatory doctor sign-off.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72583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72583"/>
            <a:ext cx="345643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7: Cryptographic Non-Repudiation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56631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Generates SHA-256 integrity hashes for all prompt inputs and LLM outputs in [AIAuditLogs] to ensure legal HIPAA non-repudiation and prevent tampering.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672583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672583"/>
            <a:ext cx="3456432" cy="347472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8: Multi-Tier Offline Failover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5056631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Resilient 3-tier routing: Primary Google Vertex AI Gemini 1.5 Flash -&gt; Secondary Groq LPU Llama-3-70B -&gt; Tertiary On-Demand Local LLM for 100% offline hospital LANs.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4672583"/>
            <a:ext cx="3456432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0144" y="4672583"/>
            <a:ext cx="3456432" cy="3474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Skill 9: Automated Signed PDF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7304" y="5056631"/>
            <a:ext cx="3182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0F172A"/>
                </a:solidFill>
              </a:defRPr>
            </a:pPr>
            <a:r>
              <a:t>Compiles patient history, dental jaw diagrams, condition summaries, and clinic branding into a printable/downloadable multi-page PDF via jsPDF &amp; html2canvas.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VISUAL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Data Flow Diagram: Patient-Provider Interface (PPI)</a:t>
            </a:r>
          </a:p>
        </p:txBody>
      </p:sp>
      <p:pic>
        <p:nvPicPr>
          <p:cNvPr id="6" name="Picture 5" descr="ppi_system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PATIENT-PROVIDER INTERFACE (PPI)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PPI Works: Live Operatory Workflow &amp; Speech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99032"/>
            <a:ext cx="3108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Zero-Friction Patient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Clinician opens NewPatientPage with smart country toggle (PK / NZ).</a:t>
            </a:r>
            <a:br/>
            <a:r>
              <a:t>• Dual-engine geocoding auto-completes street address, district, and postcode.</a:t>
            </a:r>
            <a:br/>
            <a:r>
              <a:t>• Age auto-calculates from Date of Birth, adapting dentition arch to Adult (1-32), Pediatric (A-T), or Mixed.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79192"/>
            <a:ext cx="3108960" cy="292608"/>
          </a:xfrm>
          <a:prstGeom prst="round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5176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Ambient Voice Scribing in Operatory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Operatory microphone continuously streams doctor-patient consultation.</a:t>
            </a:r>
            <a:br/>
            <a:r>
              <a:t>• Audio ingested as chunked streams to .NET 10 API; assigned SHA-256 deduplication checksum.</a:t>
            </a:r>
            <a:br/>
            <a:r>
              <a:t>• Web Speech API and backend SpeechToTextService produce raw and cleaned transcripts.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59352"/>
            <a:ext cx="3108960" cy="292608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93192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Multi-Tier AI SOAP Note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Transcripts routed to Gemini 1.5 Flash or Groq LPU with specialized dental prompts.</a:t>
            </a:r>
            <a:br/>
            <a:r>
              <a:t>• Automatically extracts 8-section clinical SOAP record including diagnosis and treatment plan.</a:t>
            </a:r>
            <a:br/>
            <a:r>
              <a:t>• Prescription medications and dosages mapped into [DentalNotePrescriptions].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19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239511"/>
            <a:ext cx="31089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212079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3D Odontogram Synchronization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Extracted findings (e.g. Tooth #14 MOD Caries, Tooth #30 Root Canal) immediately update [TeethState].</a:t>
            </a:r>
            <a:br/>
            <a:r>
              <a:t>• Three.js WebGL canvas re-renders individual tooth materials with color-coded shaders.</a:t>
            </a:r>
            <a:br/>
            <a:r>
              <a:t>• AI voice assistant speaks aloud: 'Doctor, treatment notes and chart synced successfully.'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PPI Works: Patient Protected Information (PII/HIPAA/GDPR)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85232" cy="24505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8523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In-Transit &amp; At-Rest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Strict TLS 1.3 transport security across all frontend-to-backend REST API endpoints.</a:t>
            </a:r>
            <a:br/>
            <a:r>
              <a:t>• AES-256 Transparent Data Encryption (TDE) on SQL Server physical data pages.</a:t>
            </a:r>
            <a:br/>
            <a:r>
              <a:t>• Digital X-ray blobs and voice recordings stored with signed, expiring URI tokens.</a:t>
            </a:r>
            <a:br/>
            <a:r>
              <a:t>• Doctor passwords salted and hashed using BCrypt.Net-Next (Work Factor 11).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85232" cy="24505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285232" cy="438912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Cryptographic Non-Repudiation (SHA-256)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Every AI interaction computes and logs InputHash and OutputHash in [AIAuditLogs].</a:t>
            </a:r>
            <a:br/>
            <a:r>
              <a:t>• Proves that clinical records generated by AI were not tampered with after the consultation.</a:t>
            </a:r>
            <a:br/>
            <a:r>
              <a:t>• Full audit trail maps every change to DoctorID, NoteId, ModelName, and Timestamp.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85232" cy="24505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28523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Automated Contraindication Safety Interceptor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Real-time rule engine cross-references prescribed medications with patient allergy history.</a:t>
            </a:r>
            <a:br/>
            <a:r>
              <a:t>• Discrepancies (e.g. Amoxicillin prescribed to Penicillin-allergic patient) trigger [AIWarnings].</a:t>
            </a:r>
            <a:br/>
            <a:r>
              <a:t>• Clinical system blocks finalized sign-off until doctor reviews and marks flag as resolved.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5285232" cy="24505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840480"/>
            <a:ext cx="5285232" cy="43891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PII Masking &amp; Air-Gapped Hospital LAN 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343400"/>
            <a:ext cx="4919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Automated de-identification scrubs patient names, phones, and addresses before cloud routing.</a:t>
            </a:r>
            <a:br/>
            <a:r>
              <a:t>• On-Demand Local LLM Service runs Ollama locally on hospital hardware for 100% offline security.</a:t>
            </a:r>
            <a:br/>
            <a:r>
              <a:t>• Zero patient protected health data is ever retained for public AI model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VISUAL ENTITY MODEL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Database Entity-Relationship Model: 17 Normalized SQL Tables</a:t>
            </a:r>
          </a:p>
        </p:txBody>
      </p:sp>
      <p:pic>
        <p:nvPicPr>
          <p:cNvPr id="6" name="Picture 5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DATABASE ARCHITECTURE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Model Breakdown: Core Patients &amp; 3D Odontogram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[dentist].[Patients] (Master Demographic)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PatientID (INT, PK, IDENTITY)</a:t>
            </a:r>
            <a:br/>
            <a:r>
              <a:t>• FirstName, LastName (NVARCHAR 50, NOT NULL)</a:t>
            </a:r>
            <a:br/>
            <a:r>
              <a:t>• DOB (DATE, NOT NULL) -&gt; Auto calculates age &amp; dentition</a:t>
            </a:r>
            <a:br/>
            <a:r>
              <a:t>• Gender, Phone, Address, City, Postcode</a:t>
            </a:r>
            <a:br/>
            <a:r>
              <a:t>• HealthcareRegion: 'PK' (Pakistan) or 'NZ' (New Zealand)</a:t>
            </a:r>
            <a:br/>
            <a:r>
              <a:t>• DentitionType: 'Permanent', 'Pediatric', or 'Mixed'</a:t>
            </a:r>
            <a:br/>
            <a:r>
              <a:t>• GuardianName, GuardianRelationship (For pediatric)</a:t>
            </a:r>
            <a:br/>
            <a:r>
              <a:t>• ProfileImageDataUrl (Base64 avatar or default)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0292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[dentist].[Doctors] &amp; [Appointments]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Doctors (Clinician Master):</a:t>
            </a:r>
            <a:br/>
            <a:r>
              <a:t>  - DoctorID (INT, PK, IDENTITY)</a:t>
            </a:r>
            <a:br/>
            <a:r>
              <a:t>  - FullName, Email (UNIQUE), PasswordHash (BCrypt)</a:t>
            </a:r>
            <a:br/>
            <a:r>
              <a:t>  - Specialization, Role, Region</a:t>
            </a:r>
            <a:br/>
            <a:br/>
            <a:r>
              <a:t>• Appointments (Clinic Scheduling):</a:t>
            </a:r>
            <a:br/>
            <a:r>
              <a:t>  - AppointmentID (INT, PK, IDENTITY)</a:t>
            </a:r>
            <a:br/>
            <a:r>
              <a:t>  - DoctorID (INT, FK -&gt; Doctors.DoctorID)</a:t>
            </a:r>
            <a:br/>
            <a:r>
              <a:t>  - FullName, Phone, PreferredDate, Status, Reason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[dentist].[TeethState] &amp; [Radiographs]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TeethState (3D Odontogram Anatomy):</a:t>
            </a:r>
            <a:br/>
            <a:r>
              <a:t>  - TeethStateID (INT, PK, IDENTITY)</a:t>
            </a:r>
            <a:br/>
            <a:r>
              <a:t>  - PatientID (INT, FK -&gt; Patients.PatientID)</a:t>
            </a:r>
            <a:br/>
            <a:r>
              <a:t>  - ToothNumber (1-32 Universal / 11-48 FDI)</a:t>
            </a:r>
            <a:br/>
            <a:r>
              <a:t>  - Condition, Surface, ColorHex (#EF4444, #3B82F6)</a:t>
            </a:r>
            <a:br/>
            <a:br/>
            <a:r>
              <a:t>• Radiographs (Digital Imaging Assets):</a:t>
            </a:r>
            <a:br/>
            <a:r>
              <a:t>  - RadiographID (INT, PK), ToothNumber</a:t>
            </a:r>
            <a:br/>
            <a:r>
              <a:t>  - ImageType ('Bitewing'/'CBCT'), ImageUri, AIAnalysisSummary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DATABASE ARCHITECTURE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Entity Model Breakdown: Ambient Voice, AI Scribing &amp; Plans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[Sessions], [Audio] &amp; [Transcripts]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DentalNoteSessions (Lifecycle Container):</a:t>
            </a:r>
            <a:br/>
            <a:r>
              <a:t>  - SessionId (BIGINT, PK, IDENTITY)</a:t>
            </a:r>
            <a:br/>
            <a:r>
              <a:t>  - PatientId (FK), DoctorId (FK), Status, StartedAt</a:t>
            </a:r>
            <a:br/>
            <a:br/>
            <a:r>
              <a:t>• AudioRecordings (Raw Audio Ingest):</a:t>
            </a:r>
            <a:br/>
            <a:r>
              <a:t>  - AudioId (BIGINT, PK), StorageUri, Sha256Hash</a:t>
            </a:r>
            <a:br/>
            <a:br/>
            <a:r>
              <a:t>• Transcripts (Speech-to-Text):</a:t>
            </a:r>
            <a:br/>
            <a:r>
              <a:t>  - TranscriptId (BIGINT, PK), RawText, CleanedText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[DentalNotes] &amp; [AI Governance]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DentalNotes (8-Section SOAP Record):</a:t>
            </a:r>
            <a:br/>
            <a:r>
              <a:t>  - NoteId (BIGINT, PK, IDENTITY)</a:t>
            </a:r>
            <a:br/>
            <a:r>
              <a:t>  - ChiefComplaint, HPI, DentalHistory, ObjectiveFindings,</a:t>
            </a:r>
            <a:br/>
            <a:r>
              <a:t>    Assessment, TreatmentRendered, TreatmentPlan, Prognosis</a:t>
            </a:r>
            <a:br/>
            <a:br/>
            <a:r>
              <a:t>• AIAuditLogs (Non-Repudiation Hashes):</a:t>
            </a:r>
            <a:br/>
            <a:r>
              <a:t>  - AuditId (BIGINT, PK), InputHash, OutputHash, ModelName</a:t>
            </a:r>
            <a:br/>
            <a:br/>
            <a:r>
              <a:t>• AIWarnings (Safety Contraindications):</a:t>
            </a:r>
            <a:br/>
            <a:r>
              <a:t>  - WarningId (BIGINT, PK), FieldName, Severity, 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[Prescriptions] &amp; [TreatmentPlans]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2880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0F172A"/>
                </a:solidFill>
              </a:defRPr>
            </a:pPr>
            <a:r>
              <a:t>• DentalNotePrescriptions (Medications):</a:t>
            </a:r>
            <a:br/>
            <a:r>
              <a:t>  - PrescriptionId (BIGINT, PK), NoteId (FK)</a:t>
            </a:r>
            <a:br/>
            <a:r>
              <a:t>  - MedicationName, Strength, Dose, Frequency, Instructions</a:t>
            </a:r>
            <a:br/>
            <a:br/>
            <a:r>
              <a:t>• DentalNoteTreatmentPlans (Multi-Stage):</a:t>
            </a:r>
            <a:br/>
            <a:r>
              <a:t>  - PlanId (BIGINT, PK), NoteId (FK), Stage, Procedure, EstCost</a:t>
            </a:r>
            <a:br/>
            <a:br/>
            <a:r>
              <a:t>• Prescriptions (Pharmacy Master Chart):</a:t>
            </a:r>
            <a:br/>
            <a:r>
              <a:t>  - PrescriptionID (INT, PK), PatientID, DoctorID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3D GRAPHICS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3D Dental Odontogram: Three.js, R3F &amp; Dynamic Shader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2918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WebGL Scene &amp; Camera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4416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Managed via @react-three/fiber v9.7 declarative React canvas.</a:t>
            </a:r>
            <a:br/>
            <a:r>
              <a:t>• @react-three/drei OrbitControls enables smooth 360° rotation, pitch, and zoom.</a:t>
            </a:r>
            <a:br/>
            <a:r>
              <a:t>• Auto-focus raycasting zooms smoothly to inspected tooth when selected in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291840" cy="150876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Universal (1-32) &amp; FDI (11-48)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03580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Supports both Universal Numbering System (USA standard) and FDI Two-Digit (International standard).</a:t>
            </a:r>
            <a:br/>
            <a:r>
              <a:t>• Automatic arch morphing: Adult (32 teeth), Pediatric primary (20 teeth A-T), or Mixed dentition.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3291840" cy="1508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Dynamic Condition Shaders &amp; Texturing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72744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Caries / Cavity: High-visibility pulsing crimson shader (#EF4444).</a:t>
            </a:r>
            <a:br/>
            <a:r>
              <a:t>• Composite / Amalgam: Medical cyan (#06B6D4) and metallic silver (#64748B).</a:t>
            </a:r>
            <a:br/>
            <a:r>
              <a:t>• Crown / Endodontic: Clinical royal blue (#3B82F6) and restorative gold (#F59E0B).</a:t>
            </a:r>
            <a:br/>
            <a:r>
              <a:t>• Missing / Extraction / Implant: Alpha transparency (#94A3B8) with titanium screw anchor mesh.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LOCATION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Dual Geocoding Intake: OpenStreetMap Nominatim + Mapbox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Clinical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Standard Mapbox API failed on Pakistani CDA administrative sectors (F-6, F-7, G-9, DHA, Bahria Town) without explicit city name.</a:t>
            </a:r>
            <a:br/>
            <a:r>
              <a:t>• External shadow DOM web components blocked manual typing of rural/custom clinic addresses.</a:t>
            </a:r>
            <a:br/>
            <a:r>
              <a:t>• Missing production environment variables caused silent search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5643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Dual Geocoding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Engine 1: OpenStreetMap Nominatim with English localization (accept-language=en) handles hyper-local sectors, suburbs, and postcodes.</a:t>
            </a:r>
            <a:br/>
            <a:r>
              <a:t>• Engine 2: Mapbox Geocoding REST API with encoded fallback token resolves highways, avenues, and global cities.</a:t>
            </a:r>
            <a:br/>
            <a:r>
              <a:t>• Real-time deduplication merges results seamlessly.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56432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45643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Clinician UI/UX Innovations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920240"/>
            <a:ext cx="3090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950">
                <a:solidFill>
                  <a:srgbClr val="0F172A"/>
                </a:solidFill>
              </a:defRPr>
            </a:pPr>
            <a:r>
              <a:t>• Inline Non-Clipping Drawer: Expands right beneath the search input without covering City/Postcode fields or getting clipped by parent containers.</a:t>
            </a:r>
            <a:br/>
            <a:r>
              <a:t>• 1-Click Select &amp; Fill: Populates Street, City, and Postcode simultaneously with green '✓ Synced' animated badges.</a:t>
            </a:r>
            <a:br/>
            <a:r>
              <a:t>• Quick City Chips: 1-click pills (+ Islamabad, + Lahore, + Auckland, + Wellington).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AI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Multi-Tier AI Scribing: Cloud Vertex AI, Groq LPU &amp; Offline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2918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1: Google Cloud Vertex AI (Gemini 1.5 Flash)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4416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Primary clinical SOAP scribing engine via Google.Cloud.AIPlatform.V1.</a:t>
            </a:r>
            <a:br/>
            <a:r>
              <a:t>• Deep medical domain knowledge for anatomical tooth extraction, FDI mapping, and dosage verification.</a:t>
            </a:r>
            <a:br/>
            <a:r>
              <a:t>• Latency: ~1.2s - 2.0s | High semantic precision on complex multi-procedure consults.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291840" cy="1508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2: Groq LPU Ultra-Fast Inference (Llama-3-70b)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03580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Sub-second conversational sync via GroqAIService.cs.</a:t>
            </a:r>
            <a:br/>
            <a:r>
              <a:t>• Powers the live Intake AI Assistant and real-time operatory dictation.</a:t>
            </a:r>
            <a:br/>
            <a:r>
              <a:t>• Latency: ~300ms - 600ms | Immediate doctor voice feedback without lagging.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10728655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3291840" cy="150876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Tier 3: On-Demand Local LLM Failover (Ollama Air-Gap)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727448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</a:defRPr>
            </a:pPr>
            <a:r>
              <a:t>• Offline resilience via OnDemandLocalLLMService.cs.</a:t>
            </a:r>
            <a:br/>
            <a:r>
              <a:t>• Automatically activates if internet connectivity drops or in strict air-gapped hospital LANs.</a:t>
            </a:r>
            <a:br/>
            <a:r>
              <a:t>• 100% HIPAA/GDPR local containment: Zero audio or text packets leave the premises.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INTEGRATION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Runtime Integration: How Tools and Skills Connect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99032"/>
            <a:ext cx="29260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1: Intake &amp; Geocoding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37160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Tools Active: React 19 + Dual Geocoding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Doctor types address -&gt; OpenStreetMap &amp; Mapbox query in parallel -&gt; Results populate Street, City, Postcode -&gt; Dentition arch adapts to 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79192"/>
            <a:ext cx="2926080" cy="292608"/>
          </a:xfrm>
          <a:prstGeom prst="round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2: Voice Dictation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5176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Tools Active: Web Speech + .NET 10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Microphone streams audio -&gt; Web Speech transcribes in real-time -&gt; .NET API calculates SHA-256 hash -&gt; [AudioRecordings] &amp; [Transcripts] saved.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59352"/>
            <a:ext cx="2926080" cy="292608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3: AI Scribing &amp; SOAP Compilation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93192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Tools Active: Vertex AI / Groq LPU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Cleaned transcript sent to Gemini 1.5 Flash / Groq -&gt; 8-section SOAP compiled -&gt; Drugs parsed to [DentalNotePrescriptions] -&gt; Hashes logged to [AIAuditLogs].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19"/>
            <a:ext cx="10728655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239511"/>
            <a:ext cx="29260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4: Safety Check &amp; 3D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212079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Tools Active: Three.js + [AIWarnings]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Allergies cross-referenced in [AIWarnings] -&gt; Tooth conditions mapped to Three.js WebGL canvas -&gt; Tooth colors update -&gt; Spoken voice confirms success.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EXECUTIVE SUMMARY &amp; SYSTEM READINESS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Dentia: Production-Ready Dental AI Platform</a:t>
            </a:r>
          </a:p>
          <a:p>
            <a:pPr>
              <a:spcAft>
                <a:spcPts val="800"/>
              </a:spcAft>
              <a:defRPr sz="1100">
                <a:solidFill>
                  <a:srgbClr val="EAF0FC"/>
                </a:solidFill>
              </a:defRPr>
            </a:pPr>
            <a:r>
              <a:t>✔ 22 Enterprise Tools: Full integration between React 19, Three.js, .NET 10 Web API, Dapper, SQL Server 2022, Vertex AI, and Groq LPU.</a:t>
            </a:r>
          </a:p>
          <a:p>
            <a:pPr>
              <a:spcAft>
                <a:spcPts val="800"/>
              </a:spcAft>
              <a:defRPr sz="1100">
                <a:solidFill>
                  <a:srgbClr val="EAF0FC"/>
                </a:solidFill>
              </a:defRPr>
            </a:pPr>
            <a:r>
              <a:t>✔ 9 Specialized Clinical Skills: Ambient SOAP scribing, 3D anatomical odontogram, voice dictation, allergy warnings, and audit hashing.</a:t>
            </a:r>
          </a:p>
          <a:p>
            <a:pPr>
              <a:spcAft>
                <a:spcPts val="800"/>
              </a:spcAft>
              <a:defRPr sz="1100">
                <a:solidFill>
                  <a:srgbClr val="EAF0FC"/>
                </a:solidFill>
              </a:defRPr>
            </a:pPr>
            <a:r>
              <a:t>✔ Robust PPI Architecture: Fully visual diagram mapping consultation audio to 3D chart sync and HIPAA/GDPR protected data governance.</a:t>
            </a:r>
          </a:p>
          <a:p>
            <a:pPr>
              <a:spcAft>
                <a:spcPts val="800"/>
              </a:spcAft>
              <a:defRPr sz="1100">
                <a:solidFill>
                  <a:srgbClr val="EAF0FC"/>
                </a:solidFill>
              </a:defRPr>
            </a:pPr>
            <a:r>
              <a:t>✔ 17 Normalized SQL Tables: High-performance ERD covering patient demographics, dental anatomy, voice recordings, and treatment planning.</a:t>
            </a:r>
          </a:p>
          <a:p>
            <a:pPr>
              <a:spcAft>
                <a:spcPts val="800"/>
              </a:spcAft>
              <a:defRPr sz="1100">
                <a:solidFill>
                  <a:srgbClr val="EAF0FC"/>
                </a:solidFill>
              </a:defRPr>
            </a:pPr>
            <a:r>
              <a:t>✔ Verified on Live Production: Live on Vercel production frontend and high-throughput .NET 10 Web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