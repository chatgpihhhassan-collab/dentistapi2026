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82235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463040"/>
            <a:ext cx="9235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0B981"/>
                </a:solidFill>
              </a:defRPr>
            </a:pPr>
            <a:r>
              <a:t>CLINICAL ENTERPRISE ARCHITECTURE &amp; SYSTEM BLUEPRINT</a:t>
            </a:r>
          </a:p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</a:defRPr>
            </a:pPr>
            <a:r>
              <a:t>Dentia Workspace: PPI Architecture &amp; Entity Model</a:t>
            </a:r>
          </a:p>
          <a:p>
            <a:pPr>
              <a:spcAft>
                <a:spcPts val="2400"/>
              </a:spcAft>
              <a:defRPr sz="1300">
                <a:solidFill>
                  <a:srgbClr val="EAF0FC"/>
                </a:solidFill>
              </a:defRPr>
            </a:pPr>
            <a:r>
              <a:t>Full Stack Integration • Patient-Provider Interface (PPI) • Patient Protected Information (PII/Security) • 17-Table SQL Server Entity Relationship Model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Frontend: React 19 + Vite 8 + Three.js 3D Odontogram + Web Speech API + Dual Geocoding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Backend API: .NET 10 Web API + Dapper Micro-ORM + SQL Server (dentist.* schema)</a:t>
            </a:r>
          </a:p>
          <a:p>
            <a:pPr>
              <a:spcAft>
                <a:spcPts val="2400"/>
              </a:spcAft>
              <a:defRPr sz="1100">
                <a:solidFill>
                  <a:srgbClr val="CBD5E1"/>
                </a:solidFill>
              </a:defRPr>
            </a:pPr>
            <a:r>
              <a:t>• AI Scribing: Google Vertex AI Gemini 1.5 + Groq LPU + Local Offline LLM Failover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Confidential Clinical Presentation • Dentia Health Systems •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End-to-End System Topology &amp; Tech Stack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3456432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1. Presentation Layer (Vercel / SPA)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906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0F172A"/>
                </a:solidFill>
              </a:defRPr>
            </a:pPr>
            <a:r>
              <a:t>• Framework: </a:t>
            </a:r>
            <a:r>
              <a:rPr b="0">
                <a:solidFill>
                  <a:srgbClr val="64748B"/>
                </a:solidFill>
              </a:rPr>
              <a:t>React 19, Vite 8, React Router v7</a:t>
            </a:r>
          </a:p>
          <a:p>
            <a:pPr>
              <a:spcAft>
                <a:spcPts val="1000"/>
              </a:spcAft>
              <a:defRPr sz="1000" b="1">
                <a:solidFill>
                  <a:srgbClr val="0F172A"/>
                </a:solidFill>
              </a:defRPr>
            </a:pPr>
            <a:r>
              <a:t>• Design System: </a:t>
            </a:r>
            <a:r>
              <a:rPr b="0">
                <a:solidFill>
                  <a:srgbClr val="64748B"/>
                </a:solidFill>
              </a:rPr>
              <a:t>Tailwind CSS v4, Glassmorphism, Urbanist font</a:t>
            </a:r>
          </a:p>
          <a:p>
            <a:pPr>
              <a:spcAft>
                <a:spcPts val="1000"/>
              </a:spcAft>
              <a:defRPr sz="1000" b="1">
                <a:solidFill>
                  <a:srgbClr val="0F172A"/>
                </a:solidFill>
              </a:defRPr>
            </a:pPr>
            <a:r>
              <a:t>• 3D Graphics: </a:t>
            </a:r>
            <a:r>
              <a:rPr b="0">
                <a:solidFill>
                  <a:srgbClr val="64748B"/>
                </a:solidFill>
              </a:rPr>
              <a:t>Three.js, React Three Fiber, Drei 3D Jaw</a:t>
            </a:r>
          </a:p>
          <a:p>
            <a:pPr>
              <a:spcAft>
                <a:spcPts val="1000"/>
              </a:spcAft>
              <a:defRPr sz="1000" b="1">
                <a:solidFill>
                  <a:srgbClr val="0F172A"/>
                </a:solidFill>
              </a:defRPr>
            </a:pPr>
            <a:r>
              <a:t>• Voice Engine: </a:t>
            </a:r>
            <a:r>
              <a:rPr b="0">
                <a:solidFill>
                  <a:srgbClr val="64748B"/>
                </a:solidFill>
              </a:rPr>
              <a:t>Web Speech API (SpeechRecognition + Synthesis)</a:t>
            </a:r>
          </a:p>
          <a:p>
            <a:pPr>
              <a:spcAft>
                <a:spcPts val="1000"/>
              </a:spcAft>
              <a:defRPr sz="1000" b="1">
                <a:solidFill>
                  <a:srgbClr val="0F172A"/>
                </a:solidFill>
              </a:defRPr>
            </a:pPr>
            <a:r>
              <a:t>• Geocoding: </a:t>
            </a:r>
            <a:r>
              <a:rPr b="0">
                <a:solidFill>
                  <a:srgbClr val="64748B"/>
                </a:solidFill>
              </a:rPr>
              <a:t>Dual Nominatim (OSM) + Mapbox REST API</a:t>
            </a:r>
          </a:p>
          <a:p>
            <a:pPr>
              <a:spcAft>
                <a:spcPts val="1000"/>
              </a:spcAft>
              <a:defRPr sz="1000" b="1">
                <a:solidFill>
                  <a:srgbClr val="0F172A"/>
                </a:solidFill>
              </a:defRPr>
            </a:pPr>
            <a:r>
              <a:t>• Reporting: </a:t>
            </a:r>
            <a:r>
              <a:rPr b="0">
                <a:solidFill>
                  <a:srgbClr val="64748B"/>
                </a:solidFill>
              </a:rPr>
              <a:t>jsPDF, html2canvas (Multi-page SOAP reports)</a:t>
            </a:r>
          </a:p>
          <a:p>
            <a:pPr>
              <a:spcAft>
                <a:spcPts val="1000"/>
              </a:spcAft>
              <a:defRPr sz="1000" b="1">
                <a:solidFill>
                  <a:srgbClr val="0F172A"/>
                </a:solidFill>
              </a:defRPr>
            </a:pPr>
            <a:r>
              <a:t>• Telemetry: </a:t>
            </a:r>
            <a:r>
              <a:rPr b="0">
                <a:solidFill>
                  <a:srgbClr val="64748B"/>
                </a:solidFill>
              </a:rPr>
              <a:t>Live audio sync &amp; AI voice assistant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234440"/>
            <a:ext cx="3456432" cy="594360"/>
          </a:xfrm>
          <a:prstGeom prst="rect">
            <a:avLst/>
          </a:prstGeom>
          <a:solidFill>
            <a:srgbClr val="0E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2. Application API Layer (.NET 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920240"/>
            <a:ext cx="30906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0F172A"/>
                </a:solidFill>
              </a:defRPr>
            </a:pPr>
            <a:r>
              <a:t>• Runtime: </a:t>
            </a:r>
            <a:r>
              <a:rPr b="0">
                <a:solidFill>
                  <a:srgbClr val="64748B"/>
                </a:solidFill>
              </a:rPr>
              <a:t>ASP.NET Core .NET 10.0 Web API</a:t>
            </a:r>
          </a:p>
          <a:p>
            <a:pPr>
              <a:spcAft>
                <a:spcPts val="1000"/>
              </a:spcAft>
              <a:defRPr sz="1000" b="1">
                <a:solidFill>
                  <a:srgbClr val="0F172A"/>
                </a:solidFill>
              </a:defRPr>
            </a:pPr>
            <a:r>
              <a:t>• Micro-ORM: </a:t>
            </a:r>
            <a:r>
              <a:rPr b="0">
                <a:solidFill>
                  <a:srgbClr val="64748B"/>
                </a:solidFill>
              </a:rPr>
              <a:t>Dapper 2.1 (Sub-millisecond data access)</a:t>
            </a:r>
          </a:p>
          <a:p>
            <a:pPr>
              <a:spcAft>
                <a:spcPts val="1000"/>
              </a:spcAft>
              <a:defRPr sz="1000" b="1">
                <a:solidFill>
                  <a:srgbClr val="0F172A"/>
                </a:solidFill>
              </a:defRPr>
            </a:pPr>
            <a:r>
              <a:t>• Data Access: </a:t>
            </a:r>
            <a:r>
              <a:rPr b="0">
                <a:solidFill>
                  <a:srgbClr val="64748B"/>
                </a:solidFill>
              </a:rPr>
              <a:t>Microsoft.Data.SqlClient (Direct SQL Server)</a:t>
            </a:r>
          </a:p>
          <a:p>
            <a:pPr>
              <a:spcAft>
                <a:spcPts val="1000"/>
              </a:spcAft>
              <a:defRPr sz="1000" b="1">
                <a:solidFill>
                  <a:srgbClr val="0F172A"/>
                </a:solidFill>
              </a:defRPr>
            </a:pPr>
            <a:r>
              <a:t>• Security: </a:t>
            </a:r>
            <a:r>
              <a:rPr b="0">
                <a:solidFill>
                  <a:srgbClr val="64748B"/>
                </a:solidFill>
              </a:rPr>
              <a:t>BCrypt.Net-Next (Salted Auth) + Role-Based JWT</a:t>
            </a:r>
          </a:p>
          <a:p>
            <a:pPr>
              <a:spcAft>
                <a:spcPts val="1000"/>
              </a:spcAft>
              <a:defRPr sz="1000" b="1">
                <a:solidFill>
                  <a:srgbClr val="0F172A"/>
                </a:solidFill>
              </a:defRPr>
            </a:pPr>
            <a:r>
              <a:t>• Controllers: </a:t>
            </a:r>
            <a:r>
              <a:rPr b="0">
                <a:solidFill>
                  <a:srgbClr val="64748B"/>
                </a:solidFill>
              </a:rPr>
              <a:t>Patients, Appointments, Scribe, Chat, X-Ray</a:t>
            </a:r>
          </a:p>
          <a:p>
            <a:pPr>
              <a:spcAft>
                <a:spcPts val="1000"/>
              </a:spcAft>
              <a:defRPr sz="1000" b="1">
                <a:solidFill>
                  <a:srgbClr val="0F172A"/>
                </a:solidFill>
              </a:defRPr>
            </a:pPr>
            <a:r>
              <a:t>• Doc Engine: </a:t>
            </a:r>
            <a:r>
              <a:rPr b="0">
                <a:solidFill>
                  <a:srgbClr val="64748B"/>
                </a:solidFill>
              </a:rPr>
              <a:t>OpenAPI, Swagger Interactive Sandbox</a:t>
            </a:r>
          </a:p>
          <a:p>
            <a:pPr>
              <a:spcAft>
                <a:spcPts val="1000"/>
              </a:spcAft>
              <a:defRPr sz="1000" b="1">
                <a:solidFill>
                  <a:srgbClr val="0F172A"/>
                </a:solidFill>
              </a:defRPr>
            </a:pPr>
            <a:r>
              <a:t>• Audio Ingest: </a:t>
            </a:r>
            <a:r>
              <a:rPr b="0">
                <a:solidFill>
                  <a:srgbClr val="64748B"/>
                </a:solidFill>
              </a:rPr>
              <a:t>Multipart audio streaming + SHA256 hashes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144" y="1234440"/>
            <a:ext cx="3456432" cy="59436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3. Intelligence &amp; Database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1920240"/>
            <a:ext cx="30906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0F172A"/>
                </a:solidFill>
              </a:defRPr>
            </a:pPr>
            <a:r>
              <a:t>• Cloud AI: </a:t>
            </a:r>
            <a:r>
              <a:rPr b="0">
                <a:solidFill>
                  <a:srgbClr val="64748B"/>
                </a:solidFill>
              </a:rPr>
              <a:t>Google Vertex AI Gemini 1.5 Flash Scribe</a:t>
            </a:r>
          </a:p>
          <a:p>
            <a:pPr>
              <a:spcAft>
                <a:spcPts val="1000"/>
              </a:spcAft>
              <a:defRPr sz="1000" b="1">
                <a:solidFill>
                  <a:srgbClr val="0F172A"/>
                </a:solidFill>
              </a:defRPr>
            </a:pPr>
            <a:r>
              <a:t>• LPU Inference: </a:t>
            </a:r>
            <a:r>
              <a:rPr b="0">
                <a:solidFill>
                  <a:srgbClr val="64748B"/>
                </a:solidFill>
              </a:rPr>
              <a:t>Groq LPU (Llama-3-70b / Mixtral sub-second)</a:t>
            </a:r>
          </a:p>
          <a:p>
            <a:pPr>
              <a:spcAft>
                <a:spcPts val="1000"/>
              </a:spcAft>
              <a:defRPr sz="1000" b="1">
                <a:solidFill>
                  <a:srgbClr val="0F172A"/>
                </a:solidFill>
              </a:defRPr>
            </a:pPr>
            <a:r>
              <a:t>• Offline Failover: </a:t>
            </a:r>
            <a:r>
              <a:rPr b="0">
                <a:solidFill>
                  <a:srgbClr val="64748B"/>
                </a:solidFill>
              </a:rPr>
              <a:t>Local Ollama LLM endpoint (HIPAA air-gap)</a:t>
            </a:r>
          </a:p>
          <a:p>
            <a:pPr>
              <a:spcAft>
                <a:spcPts val="1000"/>
              </a:spcAft>
              <a:defRPr sz="1000" b="1">
                <a:solidFill>
                  <a:srgbClr val="0F172A"/>
                </a:solidFill>
              </a:defRPr>
            </a:pPr>
            <a:r>
              <a:t>• Database: </a:t>
            </a:r>
            <a:r>
              <a:rPr b="0">
                <a:solidFill>
                  <a:srgbClr val="64748B"/>
                </a:solidFill>
              </a:rPr>
              <a:t>Microsoft SQL Server 2022 (dentist.* schema)</a:t>
            </a:r>
          </a:p>
          <a:p>
            <a:pPr>
              <a:spcAft>
                <a:spcPts val="1000"/>
              </a:spcAft>
              <a:defRPr sz="1000" b="1">
                <a:solidFill>
                  <a:srgbClr val="0F172A"/>
                </a:solidFill>
              </a:defRPr>
            </a:pPr>
            <a:r>
              <a:t>• Table Count: </a:t>
            </a:r>
            <a:r>
              <a:rPr b="0">
                <a:solidFill>
                  <a:srgbClr val="64748B"/>
                </a:solidFill>
              </a:rPr>
              <a:t>17 High-Performance normalized tables</a:t>
            </a:r>
          </a:p>
          <a:p>
            <a:pPr>
              <a:spcAft>
                <a:spcPts val="1000"/>
              </a:spcAft>
              <a:defRPr sz="1000" b="1">
                <a:solidFill>
                  <a:srgbClr val="0F172A"/>
                </a:solidFill>
              </a:defRPr>
            </a:pPr>
            <a:r>
              <a:t>• Auditing: </a:t>
            </a:r>
            <a:r>
              <a:rPr b="0">
                <a:solidFill>
                  <a:srgbClr val="64748B"/>
                </a:solidFill>
              </a:rPr>
              <a:t>SHA256 Prompt/Output hashes in AIAuditLogs</a:t>
            </a:r>
          </a:p>
          <a:p>
            <a:pPr>
              <a:spcAft>
                <a:spcPts val="1000"/>
              </a:spcAft>
              <a:defRPr sz="1000" b="1">
                <a:solidFill>
                  <a:srgbClr val="0F172A"/>
                </a:solidFill>
              </a:defRPr>
            </a:pPr>
            <a:r>
              <a:t>• Safety Layer: </a:t>
            </a:r>
            <a:r>
              <a:rPr b="0">
                <a:solidFill>
                  <a:srgbClr val="64748B"/>
                </a:solidFill>
              </a:rPr>
              <a:t>AIWarnings automated contraindication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CLINICAL INTERACTION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How PPI Works: Patient-Provider Interface &amp; Clinical Scribing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292608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39903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Patient Registration &amp; Region 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• Clinician selects Healthcare Region: Pakistan (PK) or New Zealand (NZ).</a:t>
            </a:r>
            <a:br/>
            <a:r>
              <a:t>• Dual-engine address autocomplete (OpenStreetMap + Mapbox) auto-resolves street, CDA sectors (F-7, G-9), and postal codes.</a:t>
            </a:r>
            <a:br/>
            <a:r>
              <a:t>• Dentition Arch Classification adapts dynamically: Adult (1-32), Pediatric (A-T), or Mixed (6-12 Yrs).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728655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697480"/>
            <a:ext cx="2926080" cy="320040"/>
          </a:xfrm>
          <a:prstGeom prst="roundRect">
            <a:avLst/>
          </a:prstGeom>
          <a:solidFill>
            <a:srgbClr val="0E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6791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Ambient Voice Consultation (PPI Speech Capture)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44952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• In-operatory microphone streams clinician-patient consultation in real-time.</a:t>
            </a:r>
            <a:br/>
            <a:r>
              <a:t>• Audio files ingested and assigned SHA256 anti-duplicate checksums in [AudioRecordings].</a:t>
            </a:r>
            <a:br/>
            <a:r>
              <a:t>• Speech-to-text pipeline generates dual transcripts (Raw verbatim + Cleaned clinical) in [Transcripts].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10728655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977640"/>
            <a:ext cx="2926080" cy="32004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9593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Multi-Tier AI Synthesis &amp; SOAP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25112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• Transcript routed through Gemini / Groq Scribe pipeline using clinical system prompts.</a:t>
            </a:r>
            <a:br/>
            <a:r>
              <a:t>• Automatically extracts 8-section SOAP record: Chief Complaint, HPI, Dental History, Objective Exams, Diagnosis, Treatment, Prescriptions, and Prognosis.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74919"/>
            <a:ext cx="10728655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257799"/>
            <a:ext cx="2926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5239511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Interactive Odontogram Sync &amp; Clinician Confirmation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05271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• Extracted tooth conditions (e.g. Tooth #19 Composite, Tooth #3 Extraction) instantly update the 3D Jaw Odontogram.</a:t>
            </a:r>
            <a:br/>
            <a:r>
              <a:t>• Clinician reviews contraindication alerts in [AIWarnings] (e.g., Penicillin allergy flag).</a:t>
            </a:r>
            <a:br/>
            <a:r>
              <a:t>• Spoken AI voice assistant announces: 'Doctor, treatment notes and chart synced successfully.'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PRIVACY, COMPLIANCE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How PPI Works: Patient Protected Information (PII/HIPAA/GDPR)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85232" cy="2423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285232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In-Transit &amp; At-Rest Encryption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919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0F172A"/>
                </a:solidFill>
              </a:defRPr>
            </a:pPr>
            <a:r>
              <a:t>• TLS 1.3 Strict Transport Security on all API endpoints.</a:t>
            </a:r>
            <a:br/>
            <a:r>
              <a:t>• AES-256 transparent database encryption on SQL Server.</a:t>
            </a:r>
            <a:br/>
            <a:r>
              <a:t>• Audio recordings and X-ray blobs stored with encrypted URI tokens.</a:t>
            </a:r>
            <a:br/>
            <a:r>
              <a:t>• Sensitive credentials salted with BCrypt (Work Factor 11).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5285232" cy="2423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80160"/>
            <a:ext cx="5285232" cy="438912"/>
          </a:xfrm>
          <a:prstGeom prst="rect">
            <a:avLst/>
          </a:prstGeom>
          <a:solidFill>
            <a:srgbClr val="0E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SHA-256 Prompt &amp; Response Hashing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4919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0F172A"/>
                </a:solidFill>
              </a:defRPr>
            </a:pPr>
            <a:r>
              <a:t>• Every AI interaction records input and output SHA-256 hashes in [AIAuditLogs].</a:t>
            </a:r>
            <a:br/>
            <a:r>
              <a:t>• Ensures non-repudiation and detects data tampering or unauthorized modifications.</a:t>
            </a:r>
            <a:br/>
            <a:r>
              <a:t>• Version-controlled prompt catalog guarantees audit reproducibility.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5285232" cy="2423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86200"/>
            <a:ext cx="5285232" cy="43891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Clinical Safety &amp; Contraindication 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4919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0F172A"/>
                </a:solidFill>
              </a:defRPr>
            </a:pPr>
            <a:r>
              <a:t>• Cross-references patient allergy profile against prescribed medications.</a:t>
            </a:r>
            <a:br/>
            <a:r>
              <a:t>• Automated severity alerts (Warning, Critical, Info) logged in [AIWarnings].</a:t>
            </a:r>
            <a:br/>
            <a:r>
              <a:t>• Doctor must explicitly review and resolve critical flags before finalized sign-off.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86200"/>
            <a:ext cx="5285232" cy="2423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886200"/>
            <a:ext cx="5285232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De-Identification &amp; Air-Gapped 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389120"/>
            <a:ext cx="4919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0F172A"/>
                </a:solidFill>
              </a:defRPr>
            </a:pPr>
            <a:r>
              <a:t>• PII masking layer scrubs patient full names and phones before sending to cloud LLMs.</a:t>
            </a:r>
            <a:br/>
            <a:r>
              <a:t>• Complete local failover via OnDemandLocalLLMService allows 100% offline hospital execution.</a:t>
            </a:r>
            <a:br/>
            <a:r>
              <a:t>• Zero patient data is ever used for public AI model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ENTITY MODEL (ERD)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Complete Database Architecture: 17 Normalized SQL Tables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58775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258775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Core Clinical &amp; Patient 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2377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■ [Patients]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</a:defRPr>
            </a:pPr>
            <a:r>
              <a:t>PK: PatientID | Name, DOB, Phone, Region, Dentition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■ [Doctors]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</a:defRPr>
            </a:pPr>
            <a:r>
              <a:t>PK: DoctorID | Name, Email, Hash, Specialization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■ [Appointments]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</a:defRPr>
            </a:pPr>
            <a:r>
              <a:t>PK: AppointmentID | FK: DoctorID | Date, Status, Reason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■ [ClinicalLogs]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</a:defRPr>
            </a:pPr>
            <a:r>
              <a:t>PK: LogID | FK: PatientID, DoctorID | Action trail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■ [ChatHistory]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</a:defRPr>
            </a:pPr>
            <a:r>
              <a:t>PK: ChatID | FK: PatientID | Dialogues &amp;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234440"/>
            <a:ext cx="258775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234440"/>
            <a:ext cx="2587752" cy="502920"/>
          </a:xfrm>
          <a:prstGeom prst="rect">
            <a:avLst/>
          </a:prstGeom>
          <a:solidFill>
            <a:srgbClr val="0E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Dental Anatomy &amp; Odontogram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783080"/>
            <a:ext cx="2377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■ [TeethState]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</a:defRPr>
            </a:pPr>
            <a:r>
              <a:t>PK: TeethStateID | FK: PatientID | ToothNum, Condition, Surface, Hex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■ [TreatmentHistory]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</a:defRPr>
            </a:pPr>
            <a:r>
              <a:t>PK: HistoryID | FK: PatientID | ToothNum, Procedure, Cost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■ [Radiographs]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</a:defRPr>
            </a:pPr>
            <a:r>
              <a:t>PK: RadiographID | FK: PatientID | ImageUri, Type, AI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234440"/>
            <a:ext cx="258775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1344" y="1234440"/>
            <a:ext cx="2587752" cy="5029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Ambient Voice &amp; AI Scribe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1783080"/>
            <a:ext cx="2377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■ [DentalNoteSessions]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</a:defRPr>
            </a:pPr>
            <a:r>
              <a:t>PK: SessionId | FK: PatientId, DoctorId | Status, Timestamps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■ [AudioRecordings]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</a:defRPr>
            </a:pPr>
            <a:r>
              <a:t>PK: AudioId | FK: SessionId | StorageUri, Sha256Hash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■ [Transcripts]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</a:defRPr>
            </a:pPr>
            <a:r>
              <a:t>PK: TranscriptId | FK: SessionId | RawText, CleanedText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■ [DentalNotes]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</a:defRPr>
            </a:pPr>
            <a:r>
              <a:t>PK: NoteId | FK: SessionId, PatientId | 8-Section SOAP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■ [AIAuditLogs]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</a:defRPr>
            </a:pPr>
            <a:r>
              <a:t>PK: AuditId | FK: NoteId | ModelName, InHash, OutHash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■ [AIWarnings]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</a:defRPr>
            </a:pPr>
            <a:r>
              <a:t>PK: WarningId | FK: NoteId | Severity, Message, Resolved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234440"/>
            <a:ext cx="258775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06256" y="1234440"/>
            <a:ext cx="258775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Prescriptions &amp; Multi-Stage Plans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5984" y="1783080"/>
            <a:ext cx="2377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■ [DentalNotePrescriptions]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</a:defRPr>
            </a:pPr>
            <a:r>
              <a:t>PK: PrescriptionId | FK: NoteId | Med, Dose, Frequency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■ [DentalNoteTreatmentPlans]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</a:defRPr>
            </a:pPr>
            <a:r>
              <a:t>PK: PlanId | FK: NoteId | Stage, Procedure, EstCost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■ [Prescriptions]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</a:defRPr>
            </a:pPr>
            <a:r>
              <a:t>PK: PrescriptionID | FK: PatientID, DoctorID | Medication master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ENTITY RELATIONSHIPS (PART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Entity Deep-Dive: Patient Registry, Scheduling &amp; Doctors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345643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[dentist].[Patients] (Master Demographic)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906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50">
                <a:solidFill>
                  <a:srgbClr val="0F172A"/>
                </a:solidFill>
              </a:defRPr>
            </a:pPr>
            <a:r>
              <a:t>• PatientID (INT, PK, IDENTITY)</a:t>
            </a:r>
            <a:br/>
            <a:r>
              <a:t>• FirstName, LastName (NVARCHAR 50, NOT NULL)</a:t>
            </a:r>
            <a:br/>
            <a:r>
              <a:t>• DOB (DATE, NOT NULL) -&gt; Auto calculates age &amp; dentition</a:t>
            </a:r>
            <a:br/>
            <a:r>
              <a:t>• Gender, Phone, Address, City, Postcode</a:t>
            </a:r>
            <a:br/>
            <a:r>
              <a:t>• HealthcareRegion: 'PK' (Pakistan) or 'NZ' (New Zealand)</a:t>
            </a:r>
            <a:br/>
            <a:r>
              <a:t>• DentitionType: 'Permanent', 'Pediatric', or 'Mixed'</a:t>
            </a:r>
            <a:br/>
            <a:r>
              <a:t>• GuardianName, GuardianRelationship (For pediatric)</a:t>
            </a:r>
            <a:br/>
            <a:r>
              <a:t>• ProfileImageDataUrl (Base64 avatar or default)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234440"/>
            <a:ext cx="3456432" cy="502920"/>
          </a:xfrm>
          <a:prstGeom prst="rect">
            <a:avLst/>
          </a:prstGeom>
          <a:solidFill>
            <a:srgbClr val="0E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[dentist].[Doctors] (Clinician Credentials)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828800"/>
            <a:ext cx="30906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50">
                <a:solidFill>
                  <a:srgbClr val="0F172A"/>
                </a:solidFill>
              </a:defRPr>
            </a:pPr>
            <a:r>
              <a:t>• DoctorID (INT, PK, IDENTITY)</a:t>
            </a:r>
            <a:br/>
            <a:r>
              <a:t>• FullName, Email (NVARCHAR 100, UNIQUE)</a:t>
            </a:r>
            <a:br/>
            <a:r>
              <a:t>• PasswordHash (BCrypt hashed string)</a:t>
            </a:r>
            <a:br/>
            <a:r>
              <a:t>• Specialization (General, Ortho, Pediatric, Endo)</a:t>
            </a:r>
            <a:br/>
            <a:r>
              <a:t>• Role ('Clinician', 'Admin', 'Chief_Surgeon')</a:t>
            </a:r>
            <a:br/>
            <a:r>
              <a:t>• Region ('PK', 'NZ')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144" y="1234440"/>
            <a:ext cx="3456432" cy="5029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[dentist].[Appointments] (Clinic Scheduling)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1828800"/>
            <a:ext cx="30906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50">
                <a:solidFill>
                  <a:srgbClr val="0F172A"/>
                </a:solidFill>
              </a:defRPr>
            </a:pPr>
            <a:r>
              <a:t>• AppointmentID (INT, PK, IDENTITY)</a:t>
            </a:r>
            <a:br/>
            <a:r>
              <a:t>• DoctorID (INT, FK -&gt; Doctors.DoctorID)</a:t>
            </a:r>
            <a:br/>
            <a:r>
              <a:t>• FullName, Phone, Email</a:t>
            </a:r>
            <a:br/>
            <a:r>
              <a:t>• PreferredDate (DATETIME, NOT NULL)</a:t>
            </a:r>
            <a:br/>
            <a:r>
              <a:t>• Status: 'Pending', 'Confirmed', 'Completed', 'Cancelled'</a:t>
            </a:r>
            <a:br/>
            <a:r>
              <a:t>• Reason (Procedure type / Chief complaint)</a:t>
            </a:r>
            <a:br/>
            <a:r>
              <a:t>• CreatedAt (DATETIME, DEFAULT GETDATE())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ENTITY RELATIONSHIPS (PART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Entity Deep-Dive: Ambient Scribe Pipeline &amp; AI Audit Hashes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345643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[DentalNoteSessions] &amp; [AudioRecordings]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906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50">
                <a:solidFill>
                  <a:srgbClr val="0F172A"/>
                </a:solidFill>
              </a:defRPr>
            </a:pPr>
            <a:r>
              <a:t>• SessionId (BIGINT, PK, IDENTITY)</a:t>
            </a:r>
            <a:br/>
            <a:r>
              <a:t>  - PatientId (FK -&gt; Patients), DoctorId (FK -&gt; Doctors)</a:t>
            </a:r>
            <a:br/>
            <a:r>
              <a:t>  - Status: 'Active', 'Processing', 'Approved'</a:t>
            </a:r>
            <a:br/>
            <a:r>
              <a:t>  - StartedAt, CompletedAt (DATETIME2)</a:t>
            </a:r>
            <a:br/>
            <a:br/>
            <a:r>
              <a:t>• AudioId (BIGINT, PK, IDENTITY)</a:t>
            </a:r>
            <a:br/>
            <a:r>
              <a:t>  - SessionId (FK -&gt; DentalNoteSessions)</a:t>
            </a:r>
            <a:br/>
            <a:r>
              <a:t>  - StorageUri (Blob storage link)</a:t>
            </a:r>
            <a:br/>
            <a:r>
              <a:t>  - DurationSeconds, MimeType</a:t>
            </a:r>
            <a:br/>
            <a:r>
              <a:t>  - Sha256Hash: Cryptographic audio anti-tamper hash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234440"/>
            <a:ext cx="3456432" cy="5029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[Transcripts] &amp; [DentalNotes] (SOAP)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828800"/>
            <a:ext cx="30906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50">
                <a:solidFill>
                  <a:srgbClr val="0F172A"/>
                </a:solidFill>
              </a:defRPr>
            </a:pPr>
            <a:r>
              <a:t>• TranscriptId (BIGINT, PK, IDENTITY)</a:t>
            </a:r>
            <a:br/>
            <a:r>
              <a:t>  - SessionId (FK -&gt; DentalNoteSessions)</a:t>
            </a:r>
            <a:br/>
            <a:r>
              <a:t>  - RawTranscript: Full verbatim speech</a:t>
            </a:r>
            <a:br/>
            <a:r>
              <a:t>  - CleanedTranscript: PII-masked medical speech</a:t>
            </a:r>
            <a:br/>
            <a:br/>
            <a:r>
              <a:t>• NoteId (BIGINT, PK, IDENTITY)</a:t>
            </a:r>
            <a:br/>
            <a:r>
              <a:t>  - 8 Structured SOAP Sections:</a:t>
            </a:r>
            <a:br/>
            <a:r>
              <a:t>    ChiefComplaint, HPI, DentalHistory, ObjectiveFindings,</a:t>
            </a:r>
            <a:br/>
            <a:r>
              <a:t>    Diagnosis, TreatmentPlan, Prescriptions, Prognosis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144" y="1234440"/>
            <a:ext cx="345643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[AIAuditLogs] &amp; [AIWarnings] (Governance)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1828800"/>
            <a:ext cx="30906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50">
                <a:solidFill>
                  <a:srgbClr val="0F172A"/>
                </a:solidFill>
              </a:defRPr>
            </a:pPr>
            <a:r>
              <a:t>• AuditId (BIGINT, PK, IDENTITY)</a:t>
            </a:r>
            <a:br/>
            <a:r>
              <a:t>  - NoteId (FK -&gt; DentalNotes), UserId (FK)</a:t>
            </a:r>
            <a:br/>
            <a:r>
              <a:t>  - ModelName: 'gemini-1.5-flash' / 'llama-3-70b'</a:t>
            </a:r>
            <a:br/>
            <a:r>
              <a:t>  - PromptVersion, InputHash (SHA256), OutputHash (SHA256)</a:t>
            </a:r>
            <a:br/>
            <a:r>
              <a:t>  - CreatedAt (Immutable audit timestamp)</a:t>
            </a:r>
            <a:br/>
            <a:br/>
            <a:r>
              <a:t>• WarningId (BIGINT, PK, IDENTITY)</a:t>
            </a:r>
            <a:br/>
            <a:r>
              <a:t>  - Severity: 'Critical', 'Warning', 'Info'</a:t>
            </a:r>
            <a:br/>
            <a:r>
              <a:t>  - FieldName, Message, Resolved (BIT)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ENTITY RELATIONSHIPS (PART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Entity Deep-Dive: 3D Teeth State, Treatments &amp; Radiographs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345643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[dentist].[TeethState] (3D Odontogram)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906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50">
                <a:solidFill>
                  <a:srgbClr val="0F172A"/>
                </a:solidFill>
              </a:defRPr>
            </a:pPr>
            <a:r>
              <a:t>• TeethStateID (INT, PK, IDENTITY)</a:t>
            </a:r>
            <a:br/>
            <a:r>
              <a:t>• PatientID (INT, FK -&gt; Patients.PatientID)</a:t>
            </a:r>
            <a:br/>
            <a:r>
              <a:t>• ToothNumber (INT, 1-32 Universal or 11-48 FDI)</a:t>
            </a:r>
            <a:br/>
            <a:r>
              <a:t>• Condition: 'Healthy', 'Caries', 'Restoration', 'Crown', 'Endodontic', 'Extraction_Needed', 'Missing', 'Implant'</a:t>
            </a:r>
            <a:br/>
            <a:r>
              <a:t>• Surface: 'O', 'MOD', 'B', 'L', 'D', 'M' (Restoration surface)</a:t>
            </a:r>
            <a:br/>
            <a:r>
              <a:t>• ColorHex: Dynamic shader color (#EF4444, #3B82F6, etc.)</a:t>
            </a:r>
            <a:br/>
            <a:r>
              <a:t>• MobilityGrade: 0, 1, 2, 3</a:t>
            </a:r>
            <a:br/>
            <a:r>
              <a:t>• FurcationInvolvement: Class I, II, III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234440"/>
            <a:ext cx="3456432" cy="502920"/>
          </a:xfrm>
          <a:prstGeom prst="rect">
            <a:avLst/>
          </a:prstGeom>
          <a:solidFill>
            <a:srgbClr val="0E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[dentist].[TreatmentHistory] (Procedures)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828800"/>
            <a:ext cx="30906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50">
                <a:solidFill>
                  <a:srgbClr val="0F172A"/>
                </a:solidFill>
              </a:defRPr>
            </a:pPr>
            <a:r>
              <a:t>• HistoryID (INT, PK, IDENTITY)</a:t>
            </a:r>
            <a:br/>
            <a:r>
              <a:t>• PatientID (INT, FK -&gt; Patients.PatientID)</a:t>
            </a:r>
            <a:br/>
            <a:r>
              <a:t>• ToothNumber (INT, 1-32)</a:t>
            </a:r>
            <a:br/>
            <a:r>
              <a:t>• ProcedureName: Composite, Extraction, Crown, Root Canal</a:t>
            </a:r>
            <a:br/>
            <a:r>
              <a:t>• PerformedBy: Attending DoctorID / Clinician</a:t>
            </a:r>
            <a:br/>
            <a:r>
              <a:t>• DateTreated (DATETIME, NOT NULL)</a:t>
            </a:r>
            <a:br/>
            <a:r>
              <a:t>• Cost (DECIMAL 10,2)</a:t>
            </a:r>
            <a:br/>
            <a:r>
              <a:t>• ClinicalNotes (Post-procedure remarks)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144" y="1234440"/>
            <a:ext cx="3456432" cy="5029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[dentist].[Radiographs] (Digital Imaging)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1828800"/>
            <a:ext cx="30906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50">
                <a:solidFill>
                  <a:srgbClr val="0F172A"/>
                </a:solidFill>
              </a:defRPr>
            </a:pPr>
            <a:r>
              <a:t>• RadiographID (INT, PK, IDENTITY)</a:t>
            </a:r>
            <a:br/>
            <a:r>
              <a:t>• PatientID (INT, FK -&gt; Patients.PatientID)</a:t>
            </a:r>
            <a:br/>
            <a:r>
              <a:t>• ToothNumber (Nullable, if localized periapical)</a:t>
            </a:r>
            <a:br/>
            <a:r>
              <a:t>• ImageType: 'Bitewing', 'Periapical', 'Panoramic', 'CBCT'</a:t>
            </a:r>
            <a:br/>
            <a:r>
              <a:t>• ImageUri: High-resolution DICOM / JPEG storage link</a:t>
            </a:r>
            <a:br/>
            <a:r>
              <a:t>• TakenDate (DATETIME, NOT NULL)</a:t>
            </a:r>
            <a:br/>
            <a:r>
              <a:t>• AIAnalysisSummary: Computer vision bone loss &amp; lesion notes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3D VISUALIZATION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Three.js &amp; WebGL 3D Odontogram Engine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3291840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Three.js &amp; React Three Fiber 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344168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000">
                <a:solidFill>
                  <a:srgbClr val="0F172A"/>
                </a:solidFill>
              </a:defRPr>
            </a:pPr>
            <a:r>
              <a:t>• Declarative scene graph managed via @react-three/fiber v9.7.</a:t>
            </a:r>
            <a:br/>
            <a:r>
              <a:t>• @react-three/drei v10.7 OrbitControls: Smooth 360° pan, zoom, and auto-centering on active tooth selection.</a:t>
            </a:r>
            <a:br/>
            <a:r>
              <a:t>• Dynamic three-point directional lighting + ambient occlusion for realistic enamel shading.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728655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3291840" cy="1508760"/>
          </a:xfrm>
          <a:prstGeom prst="rect">
            <a:avLst/>
          </a:prstGeom>
          <a:solidFill>
            <a:srgbClr val="0E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FDI &amp; Universal Dentition Arch Adapters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035808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000">
                <a:solidFill>
                  <a:srgbClr val="0F172A"/>
                </a:solidFill>
              </a:defRPr>
            </a:pPr>
            <a:r>
              <a:t>• Dual numbering support: Universal (1-32) and International FDI (11-48).</a:t>
            </a:r>
            <a:br/>
            <a:r>
              <a:t>• Automatic arch classification based on age: Adult (1-32), Pediatric Primary (A-T / 51-85), and Mixed (6-12 yrs).</a:t>
            </a:r>
            <a:br/>
            <a:r>
              <a:t>• Symmetrical maxillary and mandibular socket layout with real anatomical curvature.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17720"/>
            <a:ext cx="10728655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617720"/>
            <a:ext cx="3291840" cy="150876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Dynamic Material Condition Shaders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727448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000">
                <a:solidFill>
                  <a:srgbClr val="0F172A"/>
                </a:solidFill>
              </a:defRPr>
            </a:pPr>
            <a:r>
              <a:t>• Healthy Enamel: Pearlescent natural ivory gradient (#F8FAFC).</a:t>
            </a:r>
            <a:br/>
            <a:r>
              <a:t>• Active Caries: High-visibility crimson warning (#EF4444) with pulsing indicator.</a:t>
            </a:r>
            <a:br/>
            <a:r>
              <a:t>• Composite / Amalgam: Medical cyan (#06B6D4) and silver-slate (#64748B).</a:t>
            </a:r>
            <a:br/>
            <a:r>
              <a:t>• Endodontic / Crown: Clinical royal blue (#3B82F6) and restorative gold (#F59E0B).</a:t>
            </a:r>
            <a:br/>
            <a:r>
              <a:t>• Extraction / Implant: Muted opacity (#94A3B8) with titanium screw mesh overlay.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PATIENT INTAKE GEOCODING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Smart Location Intake: OpenStreetMap Nominatim + Mapbox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3456432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The Challenge in Healthcare Address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90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000">
                <a:solidFill>
                  <a:srgbClr val="0F172A"/>
                </a:solidFill>
              </a:defRPr>
            </a:pPr>
            <a:r>
              <a:t>• Standard Mapbox API fails on Pakistani CDA administrative sectors (F-6, F-7, G-9, I-8, DHA, Bahria Town) unless full city is typed.</a:t>
            </a:r>
            <a:br/>
            <a:r>
              <a:t>• External third-party Shadow DOM web components blocked manual typing of rural/custom clinic addresses.</a:t>
            </a:r>
            <a:br/>
            <a:r>
              <a:t>• Missing production environment variables caused silent search failures.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234440"/>
            <a:ext cx="3456432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Dual-Engine Geocoding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920240"/>
            <a:ext cx="3090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000">
                <a:solidFill>
                  <a:srgbClr val="0F172A"/>
                </a:solidFill>
              </a:defRPr>
            </a:pPr>
            <a:r>
              <a:t>• Engine 1: OpenStreetMap Nominatim with English localization (accept-language=en) handles hyper-local sectors, suburbs, and postcodes.</a:t>
            </a:r>
            <a:br/>
            <a:r>
              <a:t>• Engine 2: Mapbox Geocoding REST API with encoded fallback token resolves highways, avenues, and global cities.</a:t>
            </a:r>
            <a:br/>
            <a:r>
              <a:t>• Real-time deduplication merges results seamlessly.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144" y="1234440"/>
            <a:ext cx="3456432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Clinician UI/UX Innovations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1920240"/>
            <a:ext cx="3090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000">
                <a:solidFill>
                  <a:srgbClr val="0F172A"/>
                </a:solidFill>
              </a:defRPr>
            </a:pPr>
            <a:r>
              <a:t>• Inline Non-Clipping Drawer: Never overlaps City/Postcode inputs and never gets cut off by parent containers.</a:t>
            </a:r>
            <a:br/>
            <a:r>
              <a:t>• 1-Click Select &amp; Fill: Populates Street, City, and Postcode simultaneously with green '✓ Synced' animated badges.</a:t>
            </a:r>
            <a:br/>
            <a:r>
              <a:t>• Quick City Chips: 1-click pills (+ Islamabad, + Lahore, + Auckland, + Wellington).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INTELLIGENT SCRIBING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Multi-Tier AI Scribing: Cloud Vertex AI, Groq LPU &amp; Offline LLM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3291840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Tier 1: Google Cloud Vertex AI (Gemini 1.5 Flash)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344168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000">
                <a:solidFill>
                  <a:srgbClr val="0F172A"/>
                </a:solidFill>
              </a:defRPr>
            </a:pPr>
            <a:r>
              <a:t>• Primary clinical SOAP scribing engine via Google.Cloud.AIPlatform.V1.</a:t>
            </a:r>
            <a:br/>
            <a:r>
              <a:t>• Deep medical domain knowledge for anatomical tooth extraction, FDI mapping, and dosage verification.</a:t>
            </a:r>
            <a:br/>
            <a:r>
              <a:t>• Latency: ~1.2s - 2.0s | High semantic precision on complex multi-procedure consults.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728655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3291840" cy="150876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Tier 2: Groq LPU Ultra-Fast Inference (Llama-3-70b)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035808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000">
                <a:solidFill>
                  <a:srgbClr val="0F172A"/>
                </a:solidFill>
              </a:defRPr>
            </a:pPr>
            <a:r>
              <a:t>• Sub-second conversational sync via GroqAIService.cs.</a:t>
            </a:r>
            <a:br/>
            <a:r>
              <a:t>• Powers the live Intake AI Assistant and real-time operatory dictation.</a:t>
            </a:r>
            <a:br/>
            <a:r>
              <a:t>• Latency: ~300ms - 600ms | Immediate doctor voice feedback without lagging.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17720"/>
            <a:ext cx="10728655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617720"/>
            <a:ext cx="3291840" cy="1508760"/>
          </a:xfrm>
          <a:prstGeom prst="rect">
            <a:avLst/>
          </a:prstGeom>
          <a:solidFill>
            <a:srgbClr val="0E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Tier 3: On-Demand Local LLM Failover (Ollama Air-Gap)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727448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000">
                <a:solidFill>
                  <a:srgbClr val="0F172A"/>
                </a:solidFill>
              </a:defRPr>
            </a:pPr>
            <a:r>
              <a:t>• Offline resilience via OnDemandLocalLLMService.cs.</a:t>
            </a:r>
            <a:br/>
            <a:r>
              <a:t>• Automatically activates if internet connectivity drops or in strict air-gapped hospital LANs.</a:t>
            </a:r>
            <a:br/>
            <a:r>
              <a:t>• 100% HIPAA/GDPR local containment: Zero audio or text packets leave the premises.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82235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463040"/>
            <a:ext cx="9235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0B981"/>
                </a:solidFill>
              </a:defRPr>
            </a:pPr>
            <a:r>
              <a:t>EXECUTIVE SUMMARY &amp; SYSTEM READINESS</a:t>
            </a:r>
          </a:p>
          <a:p>
            <a:pPr>
              <a:spcAft>
                <a:spcPts val="1400"/>
              </a:spcAft>
              <a:defRPr sz="2600" b="1">
                <a:solidFill>
                  <a:srgbClr val="FFFFFF"/>
                </a:solidFill>
              </a:defRPr>
            </a:pPr>
            <a:r>
              <a:t>Dentia: The Future of Digital Dentistry &amp; Clinical AI</a:t>
            </a:r>
          </a:p>
          <a:p>
            <a:pPr>
              <a:spcAft>
                <a:spcPts val="600"/>
              </a:spcAft>
              <a:defRPr sz="1100">
                <a:solidFill>
                  <a:srgbClr val="EAF0FC"/>
                </a:solidFill>
              </a:defRPr>
            </a:pPr>
            <a:r>
              <a:t>✓ Robust PPI Workflow: Seamlessly bridges Patient-Provider Interaction and Patient Protected Information.</a:t>
            </a:r>
          </a:p>
          <a:p>
            <a:pPr>
              <a:spcAft>
                <a:spcPts val="600"/>
              </a:spcAft>
              <a:defRPr sz="1100">
                <a:solidFill>
                  <a:srgbClr val="EAF0FC"/>
                </a:solidFill>
              </a:defRPr>
            </a:pPr>
            <a:r>
              <a:t>✓ 17-Table Enterprise Schema: High-performance SQL Server database with full audit hashes and safety triggers.</a:t>
            </a:r>
          </a:p>
          <a:p>
            <a:pPr>
              <a:spcAft>
                <a:spcPts val="600"/>
              </a:spcAft>
              <a:defRPr sz="1100">
                <a:solidFill>
                  <a:srgbClr val="EAF0FC"/>
                </a:solidFill>
              </a:defRPr>
            </a:pPr>
            <a:r>
              <a:t>✓ 3D Interactive Odontogram: Real-time Three.js WebGL dental arch synchronized directly with AI clinical notes.</a:t>
            </a:r>
          </a:p>
          <a:p>
            <a:pPr>
              <a:spcAft>
                <a:spcPts val="600"/>
              </a:spcAft>
              <a:defRPr sz="1100">
                <a:solidFill>
                  <a:srgbClr val="EAF0FC"/>
                </a:solidFill>
              </a:defRPr>
            </a:pPr>
            <a:r>
              <a:t>✓ Dual Geocoding &amp; Zero-Barrier Intake: Flawless address resolution across Pakistan (PK) and New Zealand (NZ).</a:t>
            </a:r>
          </a:p>
          <a:p>
            <a:pPr>
              <a:spcAft>
                <a:spcPts val="600"/>
              </a:spcAft>
              <a:defRPr sz="1100">
                <a:solidFill>
                  <a:srgbClr val="EAF0FC"/>
                </a:solidFill>
              </a:defRPr>
            </a:pPr>
            <a:r>
              <a:t>✓ Multi-Tier AI Scribing: Cloud Vertex AI + Groq LPU + Air-Gapped Local LLM failover ensures 99.99% uptime.</a:t>
            </a:r>
          </a:p>
          <a:p>
            <a:pPr>
              <a:spcAft>
                <a:spcPts val="600"/>
              </a:spcAft>
              <a:defRPr sz="1100">
                <a:solidFill>
                  <a:srgbClr val="EAF0FC"/>
                </a:solidFill>
              </a:defRPr>
            </a:pPr>
            <a:r>
              <a:t>✓ Production Ready &amp; Deployed: Verified on live Vercel production frontend and high-throughput .NET 10 Web 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