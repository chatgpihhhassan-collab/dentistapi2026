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image" Target="../media/image-8-2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image" Target="../media/image-9-2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5C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926080" cy="2926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120640"/>
            <a:ext cx="2743200" cy="2743200"/>
          </a:xfrm>
          <a:prstGeom prst="ellipse">
            <a:avLst/>
          </a:prstGeom>
          <a:solidFill>
            <a:srgbClr val="017A85"/>
          </a:solidFill>
          <a:ln/>
        </p:spPr>
      </p:sp>
      <p:pic>
        <p:nvPicPr>
          <p:cNvPr id="5" name="Image 0" descr="icons/toot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6692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548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 DENTAL</a:t>
            </a:r>
            <a:pPr indent="0" marL="0">
              <a:buNone/>
            </a:pPr>
            <a:r>
              <a:rPr lang="en-US" sz="1300" spc="120" kern="0" dirty="0">
                <a:solidFill>
                  <a:srgbClr val="BF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DENTIA PLATFORM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214884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 Dental Scribe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621792" y="32004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8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Voice-to-Chart Automation — Platform Options, Cost, and a Build-It-Yourself Path for Dentia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1792" y="416052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792" y="4434840"/>
            <a:ext cx="1821485" cy="384048"/>
          </a:xfrm>
          <a:prstGeom prst="roundRect">
            <a:avLst>
              <a:gd name="adj" fmla="val 19048"/>
            </a:avLst>
          </a:prstGeom>
          <a:solidFill>
            <a:srgbClr val="046B77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" y="4434840"/>
            <a:ext cx="182148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comparison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644445" y="4434840"/>
            <a:ext cx="1660550" cy="384048"/>
          </a:xfrm>
          <a:prstGeom prst="roundRect">
            <a:avLst>
              <a:gd name="adj" fmla="val 19048"/>
            </a:avLst>
          </a:prstGeom>
          <a:solidFill>
            <a:srgbClr val="046B77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44445" y="4434840"/>
            <a:ext cx="166055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&amp; NZ readiness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06163" y="4434840"/>
            <a:ext cx="1499616" cy="384048"/>
          </a:xfrm>
          <a:prstGeom prst="roundRect">
            <a:avLst>
              <a:gd name="adj" fmla="val 19048"/>
            </a:avLst>
          </a:prstGeom>
          <a:solidFill>
            <a:srgbClr val="046B77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06163" y="4434840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API access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06947" y="4434840"/>
            <a:ext cx="1338682" cy="384048"/>
          </a:xfrm>
          <a:prstGeom prst="roundRect">
            <a:avLst>
              <a:gd name="adj" fmla="val 19048"/>
            </a:avLst>
          </a:prstGeom>
          <a:solidFill>
            <a:srgbClr val="046B77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06947" y="4434840"/>
            <a:ext cx="133868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vs. buy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21792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Dentia dashboard team  ·  August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an AI dental scribe actually does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listens during the checkup, then turns speech into a structured clinical record — no manual typing.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542032" cy="3246120"/>
          </a:xfrm>
          <a:prstGeom prst="roundRect">
            <a:avLst>
              <a:gd name="adj" fmla="val 4317"/>
            </a:avLst>
          </a:prstGeom>
          <a:solidFill>
            <a:srgbClr val="EFF6F4"/>
          </a:solidFill>
          <a:ln w="12700">
            <a:solidFill>
              <a:srgbClr val="D9E4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3134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408176" y="2715768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icons/mi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9276" y="2826868"/>
            <a:ext cx="600761" cy="60076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749040"/>
            <a:ext cx="217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1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Record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4160520"/>
            <a:ext cx="208483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narrates findings during the exam — “tooth #6, cavity, needs RCT.”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099816" y="354330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346704" y="2148840"/>
            <a:ext cx="2542032" cy="3246120"/>
          </a:xfrm>
          <a:prstGeom prst="roundRect">
            <a:avLst>
              <a:gd name="adj" fmla="val 4317"/>
            </a:avLst>
          </a:prstGeom>
          <a:solidFill>
            <a:srgbClr val="EFF6F4"/>
          </a:solidFill>
          <a:ln w="12700">
            <a:solidFill>
              <a:srgbClr val="D9E4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47872" y="23134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206240" y="2715768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1" descr="icons/wav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340" y="2826868"/>
            <a:ext cx="600761" cy="60076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29584" y="3749040"/>
            <a:ext cx="217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1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Transcribe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3575304" y="4160520"/>
            <a:ext cx="208483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engine converts the audio into raw text in seconds.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5897880" y="354330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6144768" y="2148840"/>
            <a:ext cx="2542032" cy="3246120"/>
          </a:xfrm>
          <a:prstGeom prst="roundRect">
            <a:avLst>
              <a:gd name="adj" fmla="val 4317"/>
            </a:avLst>
          </a:prstGeom>
          <a:solidFill>
            <a:srgbClr val="EFF6F4"/>
          </a:solidFill>
          <a:ln w="12700">
            <a:solidFill>
              <a:srgbClr val="D9E4E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345936" y="23134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7004304" y="2715768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2" descr="icons/robo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404" y="2826868"/>
            <a:ext cx="600761" cy="600761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27648" y="3749040"/>
            <a:ext cx="217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1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Structure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6373368" y="4160520"/>
            <a:ext cx="208483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organizes the text into a SOAP note, caries %, and treatment plan.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8695944" y="354330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8942832" y="2148840"/>
            <a:ext cx="2542032" cy="3246120"/>
          </a:xfrm>
          <a:prstGeom prst="roundRect">
            <a:avLst>
              <a:gd name="adj" fmla="val 4317"/>
            </a:avLst>
          </a:prstGeom>
          <a:solidFill>
            <a:srgbClr val="EFF6F4"/>
          </a:solidFill>
          <a:ln w="12700">
            <a:solidFill>
              <a:srgbClr val="D9E4E1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9144000" y="23134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9802368" y="2715768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9" name="Image 3" descr="icons/db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3468" y="2826868"/>
            <a:ext cx="600761" cy="600761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125712" y="3749040"/>
            <a:ext cx="217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1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Save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9171432" y="4160520"/>
            <a:ext cx="208483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structured note fills the patient chart and Health Overview automatically.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E4F6F1"/>
          </a:solidFill>
          <a:ln/>
        </p:spPr>
      </p:sp>
      <p:sp>
        <p:nvSpPr>
          <p:cNvPr id="33" name="Text 27"/>
          <p:cNvSpPr/>
          <p:nvPr/>
        </p:nvSpPr>
        <p:spPr>
          <a:xfrm>
            <a:off x="822960" y="562356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Dentia:  </a:t>
            </a:r>
            <a:pPr indent="0" marL="0">
              <a:buNone/>
            </a:pPr>
            <a:r>
              <a:rPr lang="en-US" sz="125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stop hand-typing checkup notes — the AI fills patient stats (Caries, Cleaning, RCT needed) straight into the dashboard.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DENTIA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this fits the Dentia dashboard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9E4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92808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mi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937" y="1961937"/>
            <a:ext cx="373807" cy="3738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7452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371600" y="207568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Doctor taps Record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9808" y="2743200"/>
            <a:ext cx="311810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button captures audio during the live checkup via the browser (MediaRecorder API).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25112" y="169164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9E4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26280" y="1892808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icons/clou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5409" y="1961937"/>
            <a:ext cx="373807" cy="37380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48072" y="187452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148072" y="207568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Audio sent to backend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26280" y="2743200"/>
            <a:ext cx="311810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streams to the server and is queued for transcription.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01584" y="169164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9E4E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02752" y="1892808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icons/wav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881" y="1961937"/>
            <a:ext cx="373807" cy="37380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24544" y="187452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8924544" y="207568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Speech becomes text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302752" y="2743200"/>
            <a:ext cx="311810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or Deepgram converts the audio into a raw transcript in near real time.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43434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9E4E1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4544568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4" name="Image 3" descr="icons/robo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937" y="4613697"/>
            <a:ext cx="373807" cy="37380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71600" y="452628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1371600" y="47274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GPT-4o structures it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49808" y="5394960"/>
            <a:ext cx="311810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turns the transcript into a SOAP note: diagnosis, caries %, treatment steps.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325112" y="43434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9E4E1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526280" y="4544568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0" name="Image 4" descr="icons/fileme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5409" y="4613697"/>
            <a:ext cx="373807" cy="373807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148072" y="452628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5148072" y="47274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Note shown for review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4526280" y="5394960"/>
            <a:ext cx="311810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structured draft appears in the Consultation panel for the doctor to check.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8101584" y="43434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9E4E1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302752" y="4544568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6" name="Image 5" descr="icons/db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1881" y="4613697"/>
            <a:ext cx="373807" cy="373807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924544" y="452628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950" dirty="0"/>
          </a:p>
        </p:txBody>
      </p:sp>
      <p:sp>
        <p:nvSpPr>
          <p:cNvPr id="38" name="Text 30"/>
          <p:cNvSpPr/>
          <p:nvPr/>
        </p:nvSpPr>
        <p:spPr>
          <a:xfrm>
            <a:off x="8924544" y="47274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Saved to patient chart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8302752" y="5394960"/>
            <a:ext cx="311810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writes the note into MySQL/MongoDB and updates the Health Overview stats.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— BUY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Ready-made AI scribe platforms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dental-specific tools already on the market, from budget to enterprise.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EFF6F4"/>
          </a:solidFill>
          <a:ln w="12700">
            <a:solidFill>
              <a:srgbClr val="D9E4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066544"/>
            <a:ext cx="3163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Dentistry Dashboard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2404872"/>
            <a:ext cx="31638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notes + patient-friendly referral letters in one recording.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9808" y="3044952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E1A34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30449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suggested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343400" y="192024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EFF6F4"/>
          </a:solidFill>
          <a:ln w="12700">
            <a:solidFill>
              <a:srgbClr val="D9E4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2066544"/>
            <a:ext cx="3163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Kiroku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44568" y="2404872"/>
            <a:ext cx="31638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Long-established scribe with ready templates plus AI audio capture.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44568" y="304495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4544568" y="304495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trial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138160" y="192024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EFF6F4"/>
          </a:solidFill>
          <a:ln w="12700">
            <a:solidFill>
              <a:srgbClr val="D9E4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9328" y="2066544"/>
            <a:ext cx="3163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DigitalTCO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39328" y="2404872"/>
            <a:ext cx="31638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full professional note within 30 seconds of recording.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339328" y="3044952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E1A340"/>
          </a:solidFill>
          <a:ln/>
        </p:spPr>
      </p:sp>
      <p:sp>
        <p:nvSpPr>
          <p:cNvPr id="19" name="Text 17"/>
          <p:cNvSpPr/>
          <p:nvPr/>
        </p:nvSpPr>
        <p:spPr>
          <a:xfrm>
            <a:off x="8339328" y="30449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suggested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EFF6F4"/>
          </a:solidFill>
          <a:ln w="12700">
            <a:solidFill>
              <a:srgbClr val="D9E4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3803904"/>
            <a:ext cx="3163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Dentascribe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9808" y="4142232"/>
            <a:ext cx="31638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Budget-friendly, basic AI notes — the cheapest entry point.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49808" y="4782312"/>
            <a:ext cx="1897380" cy="25603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4782312"/>
            <a:ext cx="18973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tier, self-serve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343400" y="365760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EFF6F4"/>
          </a:solidFill>
          <a:ln w="12700">
            <a:solidFill>
              <a:srgbClr val="D9E4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3803904"/>
            <a:ext cx="3163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OpenDentist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44568" y="4142232"/>
            <a:ext cx="31638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Voice-first; pulls periodontal scores (e.g., BPE) straight from speech.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44568" y="4782312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E1A340"/>
          </a:solidFill>
          <a:ln/>
        </p:spPr>
      </p:sp>
      <p:sp>
        <p:nvSpPr>
          <p:cNvPr id="29" name="Text 27"/>
          <p:cNvSpPr/>
          <p:nvPr/>
        </p:nvSpPr>
        <p:spPr>
          <a:xfrm>
            <a:off x="4544568" y="47823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suggested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138160" y="365760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EFF6F4"/>
          </a:solidFill>
          <a:ln w="12700">
            <a:solidFill>
              <a:srgbClr val="D9E4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39328" y="3803904"/>
            <a:ext cx="3163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Bola AI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39328" y="4142232"/>
            <a:ext cx="31638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voice charting built for larger, multi-chair clinics.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339328" y="4782312"/>
            <a:ext cx="1760220" cy="256032"/>
          </a:xfrm>
          <a:prstGeom prst="roundRect">
            <a:avLst>
              <a:gd name="adj" fmla="val 50000"/>
            </a:avLst>
          </a:prstGeom>
          <a:solidFill>
            <a:srgbClr val="C4634E"/>
          </a:solidFill>
          <a:ln/>
        </p:spPr>
      </p:sp>
      <p:sp>
        <p:nvSpPr>
          <p:cNvPr id="34" name="Text 32"/>
          <p:cNvSpPr/>
          <p:nvPr/>
        </p:nvSpPr>
        <p:spPr>
          <a:xfrm>
            <a:off x="8339328" y="4782312"/>
            <a:ext cx="17602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call required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— COST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the ready-made platforms cost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monthly cost per clinic, converted at ~277.5 PKR and ~1.68 NZD per USD.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7315200" cy="3291840"/>
        </p:xfrm>
        <a:graphic>
          <a:graphicData uri="http://schemas.openxmlformats.org/drawingml/2006/table">
            <a:tbl>
              <a:tblPr/>
              <a:tblGrid>
                <a:gridCol w="2286000"/>
                <a:gridCol w="1737360"/>
                <a:gridCol w="1828800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/ month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PKR / month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NZD / month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Dentascribe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– $38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– 10,500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– $64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Kiroku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 – $117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9,700 – 32,500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 – $197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Dentistry Dashboard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~$52 – $53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~14,600 – 14,900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~$87 – $89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OpenDentist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~18,000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DigitalTCO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~33,300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Bola 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~69,100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1965960"/>
            <a:ext cx="73152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834640" y="1965960"/>
            <a:ext cx="1737360" cy="457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/ month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/ month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0" y="1965960"/>
            <a:ext cx="1463040" cy="457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NZD / month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92440" y="196596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015C68"/>
          </a:solidFill>
          <a:ln/>
        </p:spPr>
      </p:sp>
      <p:sp>
        <p:nvSpPr>
          <p:cNvPr id="12" name="Shape 9"/>
          <p:cNvSpPr/>
          <p:nvPr/>
        </p:nvSpPr>
        <p:spPr>
          <a:xfrm>
            <a:off x="8348472" y="2212848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3" name="Image 0" descr="icons/cod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6366" y="2280742"/>
            <a:ext cx="367132" cy="3671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275320" y="2834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Build it yourself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8275320" y="321868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Whisper/Deepgram + GPT-4o-mini, wired directly into Dentia.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8275320" y="37947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~$20–$25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8275320" y="427939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per clinic  (~5,700–6,900 PKR  ·  ~$34–$42 NZD)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8275320" y="4800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F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~100 patient recordings/day, ~5 min each.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— 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do-it-yourself stack for Dentia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licensing fee — three APIs, wired directly into the dashboard you already have.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24328" cy="3566160"/>
          </a:xfrm>
          <a:prstGeom prst="roundRect">
            <a:avLst>
              <a:gd name="adj" fmla="val 4181"/>
            </a:avLst>
          </a:prstGeom>
          <a:solidFill>
            <a:srgbClr val="EFF6F4"/>
          </a:solidFill>
          <a:ln w="12700">
            <a:solidFill>
              <a:srgbClr val="D9E4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17904" y="22402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icons/mi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0487" y="2332863"/>
            <a:ext cx="500634" cy="5006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3108960"/>
            <a:ext cx="2295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21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 Capture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49808" y="3502152"/>
            <a:ext cx="22219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MediaRecorder API records the doctor's voice in the browser — no plugin needed.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68680" y="5029200"/>
            <a:ext cx="1984248" cy="320040"/>
          </a:xfrm>
          <a:prstGeom prst="roundRect">
            <a:avLst>
              <a:gd name="adj" fmla="val 48571"/>
            </a:avLst>
          </a:prstGeom>
          <a:solidFill>
            <a:srgbClr val="00A896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029200"/>
            <a:ext cx="1984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172968" y="352044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392424" y="1965960"/>
            <a:ext cx="2624328" cy="356616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 w="12700">
            <a:solidFill>
              <a:srgbClr val="D9E4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61688" y="22402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1" descr="icons/wav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4271" y="2332863"/>
            <a:ext cx="500634" cy="50063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57016" y="3108960"/>
            <a:ext cx="2295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21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2. Transcribe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3593592" y="3502152"/>
            <a:ext cx="22219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audio file to OpenAI Whisper API or Deepgram to convert speech into raw text.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712464" y="5029200"/>
            <a:ext cx="1984248" cy="320040"/>
          </a:xfrm>
          <a:prstGeom prst="roundRect">
            <a:avLst>
              <a:gd name="adj" fmla="val 48571"/>
            </a:avLst>
          </a:prstGeom>
          <a:solidFill>
            <a:srgbClr val="00A896"/>
          </a:solidFill>
          <a:ln/>
        </p:spPr>
      </p:sp>
      <p:sp>
        <p:nvSpPr>
          <p:cNvPr id="19" name="Text 15"/>
          <p:cNvSpPr/>
          <p:nvPr/>
        </p:nvSpPr>
        <p:spPr>
          <a:xfrm>
            <a:off x="3712464" y="5029200"/>
            <a:ext cx="1984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$0.003–$0.006/min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6016752" y="352044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6236208" y="1965960"/>
            <a:ext cx="2624328" cy="3566160"/>
          </a:xfrm>
          <a:prstGeom prst="roundRect">
            <a:avLst>
              <a:gd name="adj" fmla="val 4181"/>
            </a:avLst>
          </a:prstGeom>
          <a:solidFill>
            <a:srgbClr val="EFF6F4"/>
          </a:solidFill>
          <a:ln w="12700">
            <a:solidFill>
              <a:srgbClr val="D9E4E1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205472" y="22402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2" descr="icons/robo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055" y="2332863"/>
            <a:ext cx="500634" cy="50063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00800" y="3108960"/>
            <a:ext cx="2295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21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3. Structure</a:t>
            </a:r>
            <a:endParaRPr lang="en-US" sz="1550" dirty="0"/>
          </a:p>
        </p:txBody>
      </p:sp>
      <p:sp>
        <p:nvSpPr>
          <p:cNvPr id="25" name="Text 20"/>
          <p:cNvSpPr/>
          <p:nvPr/>
        </p:nvSpPr>
        <p:spPr>
          <a:xfrm>
            <a:off x="6437376" y="3502152"/>
            <a:ext cx="22219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the transcript to GPT-4o with a SOAP-note prompt: patient name, diagnosis, caries %, treatment.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6556248" y="5029200"/>
            <a:ext cx="1984248" cy="320040"/>
          </a:xfrm>
          <a:prstGeom prst="roundRect">
            <a:avLst>
              <a:gd name="adj" fmla="val 48571"/>
            </a:avLst>
          </a:prstGeom>
          <a:solidFill>
            <a:srgbClr val="00A896"/>
          </a:solidFill>
          <a:ln/>
        </p:spPr>
      </p:sp>
      <p:sp>
        <p:nvSpPr>
          <p:cNvPr id="27" name="Text 22"/>
          <p:cNvSpPr/>
          <p:nvPr/>
        </p:nvSpPr>
        <p:spPr>
          <a:xfrm>
            <a:off x="6556248" y="5029200"/>
            <a:ext cx="1984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/ GPT-4o-mini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8860536" y="352044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9079992" y="1965960"/>
            <a:ext cx="2624328" cy="356616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 w="12700">
            <a:solidFill>
              <a:srgbClr val="D9E4E1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10049256" y="22402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3" descr="icons/db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1839" y="2332863"/>
            <a:ext cx="500634" cy="50063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244584" y="3108960"/>
            <a:ext cx="2295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21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4. Store</a:t>
            </a:r>
            <a:endParaRPr lang="en-US" sz="1550" dirty="0"/>
          </a:p>
        </p:txBody>
      </p:sp>
      <p:sp>
        <p:nvSpPr>
          <p:cNvPr id="33" name="Text 27"/>
          <p:cNvSpPr/>
          <p:nvPr/>
        </p:nvSpPr>
        <p:spPr>
          <a:xfrm>
            <a:off x="9281160" y="3502152"/>
            <a:ext cx="22219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draft in the Consultation panel; on Save, write it into MySQL or MongoDB against the patient profile.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9400032" y="5029200"/>
            <a:ext cx="1984248" cy="320040"/>
          </a:xfrm>
          <a:prstGeom prst="roundRect">
            <a:avLst>
              <a:gd name="adj" fmla="val 48571"/>
            </a:avLst>
          </a:prstGeom>
          <a:solidFill>
            <a:srgbClr val="00A896"/>
          </a:solidFill>
          <a:ln/>
        </p:spPr>
      </p:sp>
      <p:sp>
        <p:nvSpPr>
          <p:cNvPr id="35" name="Text 29"/>
          <p:cNvSpPr/>
          <p:nvPr/>
        </p:nvSpPr>
        <p:spPr>
          <a:xfrm>
            <a:off x="9400032" y="5029200"/>
            <a:ext cx="1984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1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instruction sent to GPT-4o:  </a:t>
            </a:r>
            <a:pPr indent="0" marL="0">
              <a:buNone/>
            </a:pPr>
            <a:r>
              <a:rPr lang="en-US" sz="1150" i="1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“Structure this transcript into a clinical SOAP note with Patient Name, Diagnosis, Caries %, and Treatment steps.”</a:t>
            </a:r>
            <a:endParaRPr lang="en-US" sz="1150" dirty="0"/>
          </a:p>
        </p:txBody>
      </p:sp>
      <p:sp>
        <p:nvSpPr>
          <p:cNvPr id="37" name="Text 31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SALES CALL NEEDED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Free API access you can start using today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keys are self-serve — created from a signup form, not a meeting with a sales rep.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38728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4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945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icons/ke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479" y="2274799"/>
            <a:ext cx="433883" cy="43388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395728" y="2221992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2395728" y="222199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free start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77240" y="2926080"/>
            <a:ext cx="3081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Deepgram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3429000"/>
            <a:ext cx="308152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 in free credit on signup — no credit card required. Covers roughly 450+ hours of transcription before you pay anything.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15968" y="1965960"/>
            <a:ext cx="3538728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4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44568" y="21945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1" descr="icons/wav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807" y="2274799"/>
            <a:ext cx="433883" cy="433883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163056" y="2221992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6" name="Text 12"/>
          <p:cNvSpPr/>
          <p:nvPr/>
        </p:nvSpPr>
        <p:spPr>
          <a:xfrm>
            <a:off x="6163056" y="222199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at scale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4544568" y="2926080"/>
            <a:ext cx="3081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OpenAI Whisper / GPT-4o-mini Transcribe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544568" y="3429000"/>
            <a:ext cx="308152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permanent free tier, but self-serve pay-as-you-go from $0.003/min — a card is needed, no call required.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083296" y="1965960"/>
            <a:ext cx="3538728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4E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311896" y="21945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2" descr="icons/fileme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2135" y="2274799"/>
            <a:ext cx="433883" cy="433883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9930384" y="2221992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3" name="Text 18"/>
          <p:cNvSpPr/>
          <p:nvPr/>
        </p:nvSpPr>
        <p:spPr>
          <a:xfrm>
            <a:off x="9930384" y="222199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free ready-made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8311896" y="2926080"/>
            <a:ext cx="3081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Dentascribe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8311896" y="3429000"/>
            <a:ext cx="308152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a genuinely free entry plan for small clinics, upgrading to ~$21–$29/month as usage grows.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BF0DF"/>
          </a:solidFill>
          <a:ln/>
        </p:spPr>
      </p:sp>
      <p:pic>
        <p:nvPicPr>
          <p:cNvPr id="27" name="Image 3" descr="icons/shield_charco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230368"/>
            <a:ext cx="384048" cy="38404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325880" y="512064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to verify before launch:  </a:t>
            </a:r>
            <a:pPr indent="0" marL="0">
              <a:buNone/>
            </a:pPr>
            <a:r>
              <a:rPr lang="en-US" sz="110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credit amounts and card requirements change often. Confirm the current offer on each provider's pricing page, and check that patient-audio data handling meets your local privacy rules before recording live consultations.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FIT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Best fit for Pakistan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035040" cy="4709160"/>
          </a:xfrm>
          <a:prstGeom prst="roundRect">
            <a:avLst>
              <a:gd name="adj" fmla="val 2330"/>
            </a:avLst>
          </a:prstGeom>
          <a:solidFill>
            <a:srgbClr val="EFF6F4"/>
          </a:solidFill>
          <a:ln w="12700">
            <a:solidFill>
              <a:srgbClr val="D9E4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p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854" y="1805254"/>
            <a:ext cx="367132" cy="3671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105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Considerations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224028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9" name="Image 1" descr="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993" y="2277313"/>
            <a:ext cx="200254" cy="20025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08" y="220370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access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822960" y="2514600"/>
            <a:ext cx="5532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platforms bill in USD/GBP via international card — a barrier for clinics without one; pay-as-you-go APIs sidestep this with prepaid credit.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822960" y="3172968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3" name="Image 2" descr="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93" y="3210001"/>
            <a:ext cx="200254" cy="20025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07008" y="313639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exposure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822960" y="3447288"/>
            <a:ext cx="5532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~277.5 PKR/USD, subscription tiers above $100/month translate to PKR 27,000+ — a DIY build keeps monthly spend near PKR 6,000.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822960" y="4105656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7" name="Image 3" descr="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993" y="4142689"/>
            <a:ext cx="200254" cy="20025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07008" y="4069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822960" y="4379976"/>
            <a:ext cx="5532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transcription (upload after the visit) is more forgiving on variable clinic broadband than live-streaming speech APIs.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822960" y="5038344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4" descr="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993" y="5075377"/>
            <a:ext cx="200254" cy="20025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07008" y="5001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822960" y="5312664"/>
            <a:ext cx="5532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has no dental-specific health-data law yet — treat patient audio with the same care as PHI regardless, and confirm where each vendor stores it.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812280" y="1463040"/>
            <a:ext cx="4828032" cy="4709160"/>
          </a:xfrm>
          <a:prstGeom prst="roundRect">
            <a:avLst>
              <a:gd name="adj" fmla="val 2330"/>
            </a:avLst>
          </a:prstGeom>
          <a:solidFill>
            <a:srgbClr val="015C68"/>
          </a:solidFill>
          <a:ln/>
        </p:spPr>
      </p:sp>
      <p:sp>
        <p:nvSpPr>
          <p:cNvPr id="25" name="Shape 18"/>
          <p:cNvSpPr/>
          <p:nvPr/>
        </p:nvSpPr>
        <p:spPr>
          <a:xfrm>
            <a:off x="7086600" y="17373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6" name="Image 5" descr="icons/cod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4494" y="1805254"/>
            <a:ext cx="367132" cy="36713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726680" y="18105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Recommended path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7086600" y="246888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Build it yourself with Deepgram's free credit</a:t>
            </a:r>
            <a:endParaRPr lang="en-US" sz="1700" dirty="0"/>
          </a:p>
        </p:txBody>
      </p:sp>
      <p:sp>
        <p:nvSpPr>
          <p:cNvPr id="29" name="Text 21"/>
          <p:cNvSpPr/>
          <p:nvPr/>
        </p:nvSpPr>
        <p:spPr>
          <a:xfrm>
            <a:off x="7086600" y="320040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on Deepgram's $200 free credit (no card needed) for transcription, format notes with GPT-4o-mini, and pay only in small USD top-ups as you grow — avoiding a recurring PKR subscription entirely at first.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7086600" y="4709160"/>
            <a:ext cx="4279392" cy="0"/>
          </a:xfrm>
          <a:prstGeom prst="line">
            <a:avLst/>
          </a:prstGeom>
          <a:noFill/>
          <a:ln w="12700">
            <a:solidFill>
              <a:srgbClr val="0E8C93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7086600" y="4846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ready-made tool is preferred: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7086600" y="512064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Dentascribe — lowest entry cost, free tier available for small clinics.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FIT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Best fit for New Zealand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035040" cy="4709160"/>
          </a:xfrm>
          <a:prstGeom prst="roundRect">
            <a:avLst>
              <a:gd name="adj" fmla="val 2330"/>
            </a:avLst>
          </a:prstGeom>
          <a:solidFill>
            <a:srgbClr val="EFF6F4"/>
          </a:solidFill>
          <a:ln w="12700">
            <a:solidFill>
              <a:srgbClr val="D9E4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p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854" y="1805254"/>
            <a:ext cx="367132" cy="3671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105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Considerations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224028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9" name="Image 1" descr="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993" y="2277313"/>
            <a:ext cx="200254" cy="20025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08" y="220370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access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822960" y="2514600"/>
            <a:ext cx="5532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and subscription billing is routine for NZ clinics, so the full range of ready-made platforms is realistically available.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822960" y="3172968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3" name="Image 2" descr="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93" y="3210001"/>
            <a:ext cx="200254" cy="20025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07008" y="313639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822960" y="3447288"/>
            <a:ext cx="5532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~1.68 NZD/USD, monthly costs stay moderate — even Bola AI's $249/month (~NZD $418) is a plausible line item for a multi-chair practice.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822960" y="4105656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7" name="Image 3" descr="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993" y="4142689"/>
            <a:ext cx="200254" cy="20025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07008" y="4069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compliance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822960" y="4379976"/>
            <a:ext cx="5532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Privacy Act 2020 and HISO health-data standards apply to patient recordings; confirm each vendor's data residency and retention before rollout.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822960" y="5038344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4" descr="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993" y="5075377"/>
            <a:ext cx="200254" cy="20025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07008" y="5001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expectations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822960" y="5312664"/>
            <a:ext cx="5532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 clinics often value local support and onboarding — a point in favor of vendors offering guided setup over a pure self-serve API.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812280" y="1463040"/>
            <a:ext cx="4828032" cy="4709160"/>
          </a:xfrm>
          <a:prstGeom prst="roundRect">
            <a:avLst>
              <a:gd name="adj" fmla="val 2330"/>
            </a:avLst>
          </a:prstGeom>
          <a:solidFill>
            <a:srgbClr val="015C68"/>
          </a:solidFill>
          <a:ln/>
        </p:spPr>
      </p:sp>
      <p:sp>
        <p:nvSpPr>
          <p:cNvPr id="25" name="Shape 18"/>
          <p:cNvSpPr/>
          <p:nvPr/>
        </p:nvSpPr>
        <p:spPr>
          <a:xfrm>
            <a:off x="7086600" y="17373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6" name="Image 5" descr="icons/fileme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4494" y="1805254"/>
            <a:ext cx="367132" cy="36713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726680" y="18105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Recommended path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7086600" y="246888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Kiroku, or the DIY stack to cut cost</a:t>
            </a:r>
            <a:endParaRPr lang="en-US" sz="1700" dirty="0"/>
          </a:p>
        </p:txBody>
      </p:sp>
      <p:sp>
        <p:nvSpPr>
          <p:cNvPr id="29" name="Text 21"/>
          <p:cNvSpPr/>
          <p:nvPr/>
        </p:nvSpPr>
        <p:spPr>
          <a:xfrm>
            <a:off x="7086600" y="3200400"/>
            <a:ext cx="4297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Kiroku's template + AI audio combination and established support suit clinics that want a supported, compliant tool out of the box. Where budget matters more than support, the same DIY stack used for PK still applies — currency is simply less of a constraint here.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7086600" y="4800600"/>
            <a:ext cx="4279392" cy="0"/>
          </a:xfrm>
          <a:prstGeom prst="line">
            <a:avLst/>
          </a:prstGeom>
          <a:noFill/>
          <a:ln w="12700">
            <a:solidFill>
              <a:srgbClr val="0E8C93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7086600" y="49377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tighter budget: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7086600" y="52120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Dentascribe or the DIY build — both land under NZD $65/month.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5C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4023360" cy="4023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call for Dentia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046B77"/>
          </a:solidFill>
          <a:ln w="12700">
            <a:solidFill>
              <a:srgbClr val="0E8C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745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OVERALL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DIY: Whisper/Deepgram + GPT-4o-mini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F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~$20–$25/mo · PKR ~6,000 · NZD ~$35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25112" y="169164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046B77"/>
          </a:solidFill>
          <a:ln w="12700">
            <a:solidFill>
              <a:srgbClr val="0E8C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8745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TO LAUNCH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53712" y="21945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Dentascribe (free tier)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553712" y="31089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F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Self-serve, no sales call, live same day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01584" y="169164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046B77"/>
          </a:solidFill>
          <a:ln w="12700">
            <a:solidFill>
              <a:srgbClr val="0E8C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0184" y="18745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SUPPORTED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330184" y="21945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Kiroku (NZ) · Dentascribe (PK)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330184" y="31089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F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Templates, e-signature, guided onboarding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Suggested next steps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48640" y="4434840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4348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44074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free Deepgram key ($200 credit) and an OpenAI API key to prototype the Record → Transcribe → Structure flow.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001768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0017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49743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MediaRecorder button into the existing Consultation panel in Dentia.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568696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5686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55412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on 10–15 real checkups in one clinic before deciding DIY vs. a licensed platform long-term.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2026-08-25T06:52:36Z</dcterms:created>
  <dcterms:modified xsi:type="dcterms:W3CDTF">2026-08-25T06:52:36Z</dcterms:modified>
</cp:coreProperties>
</file>