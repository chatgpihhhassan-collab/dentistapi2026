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943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9525">
            <a:solidFill>
              <a:srgbClr val="244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-2011680"/>
            <a:ext cx="5120640" cy="5120640"/>
          </a:xfrm>
          <a:prstGeom prst="ellipse">
            <a:avLst/>
          </a:prstGeom>
          <a:solidFill>
            <a:srgbClr val="1F4A73"/>
          </a:solidFill>
          <a:ln/>
        </p:spPr>
      </p:sp>
      <p:pic>
        <p:nvPicPr>
          <p:cNvPr id="9" name="Image 0" descr="icons/too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5303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DENTISTAPP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850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EHR &amp; PRACTICE PLATFORM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4360" y="2103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DentistApp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21792" y="3108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Architecture, Page-by-Page Specifications &amp; Clinical User Manual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792" y="41605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2960" y="4544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9.0 + React 19 + SQL Server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33672" y="41605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434840" y="4544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Flash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45552" y="41605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0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046720" y="4544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Release v2.5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DentistApp engineering &amp; clinical teams  · 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whole clinical visit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DentistApp unifies charting, treatment planning, AI dictation, imaging, and prescriptions into a single reactive interface.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5856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7" name="Image 0" descr="icons/tee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" y="2320290"/>
            <a:ext cx="333756" cy="333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21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odontogram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286207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32-tooth charting with diagnostic color states.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225856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12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282" y="2320290"/>
            <a:ext cx="333756" cy="333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2221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Multi-modality planning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98848" y="286207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Orthodontics, whitening, and restorative caries in one drawer.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0" y="225856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17" name="Image 2" descr="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322" y="2320290"/>
            <a:ext cx="333756" cy="3337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2221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prevention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47888" y="286207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duplicate patients while allowing sibling accounts.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404164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2" name="Image 3" descr="icons/m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" y="4103370"/>
            <a:ext cx="333756" cy="3337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AI dictation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9808" y="464515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transcribes and structures clinical speech.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9768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80560" y="404164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7" name="Image 4" descr="icons/xra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282" y="4103370"/>
            <a:ext cx="333756" cy="3337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7492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Radiograph inspection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498848" y="464515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contrast, and inversion tools for X-ray review.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04672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29600" y="4041648"/>
            <a:ext cx="457200" cy="45720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32" name="Image 5" descr="icons/rx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322" y="4103370"/>
            <a:ext cx="333756" cy="3337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23960" y="400507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e-Prescribing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47888" y="4645152"/>
            <a:ext cx="3118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prescriptions with printable clinic slips.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stack, layer by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96796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43" y="1873331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64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UI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· Vite · Tailwind CSS · Lucide Icons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46320" y="1691640"/>
            <a:ext cx="0" cy="777240"/>
          </a:xfrm>
          <a:prstGeom prst="line">
            <a:avLst/>
          </a:prstGeom>
          <a:noFill/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554480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with sub-millisecond tab switching, live odontogram rendering, and responsive glassmorphism UI.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976372"/>
            <a:ext cx="566928" cy="566928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13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43" y="3052907"/>
            <a:ext cx="413857" cy="4138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8437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Core API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32095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(.NET 9.0) · C# 13 · Dapper ORM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0" y="2871216"/>
            <a:ext cx="0" cy="777240"/>
          </a:xfrm>
          <a:prstGeom prst="line">
            <a:avLst/>
          </a:prstGeom>
          <a:noFill/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74920" y="2734056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REST API managing multi-tenant doctor sessions, SQL transaction pooling, and clinical CRUD.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913632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4155948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0" name="Image 2" descr="icons/db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3" y="4232483"/>
            <a:ext cx="413857" cy="41385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54480" y="4389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SQL Server (LocalDB — DentistDB)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46320" y="4050792"/>
            <a:ext cx="0" cy="777240"/>
          </a:xfrm>
          <a:prstGeom prst="line">
            <a:avLst/>
          </a:prstGeom>
          <a:noFill/>
          <a:ln w="12700">
            <a:solidFill>
              <a:srgbClr val="DCE3E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74920" y="3913632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enforcing integrity across 32-tooth odontogram matrices, audit notes, appointments, prescriptions.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509320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" y="5335524"/>
            <a:ext cx="566928" cy="566928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7" name="Image 3" descr="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43" y="5412059"/>
            <a:ext cx="413857" cy="41385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52029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554480" y="55686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Gemini 1.5 Flash · Speech Services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846320" y="5230368"/>
            <a:ext cx="0" cy="777240"/>
          </a:xfrm>
          <a:prstGeom prst="line">
            <a:avLst/>
          </a:prstGeom>
          <a:noFill/>
          <a:ln w="12700">
            <a:solidFill>
              <a:srgbClr val="DCE3E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74920" y="5093208"/>
            <a:ext cx="6903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intake extraction, unscripted dictation transcription, and a 24/7 patient conversational assistant.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schema: seven core clinical tables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 maintain clinical histories, odontogram tooth states, and multi-doctor isolation.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icons/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2115922"/>
            <a:ext cx="267005" cy="2670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2039112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DoctorID (PK), Username, Region, IsSuperAdmin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1520" y="2770632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credentials, clinic branch, and admin permissions.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06824" y="1920240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71416" y="206654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1" descr="icons/ta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794" y="2115922"/>
            <a:ext cx="267005" cy="2670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28616" y="2039112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89704" y="2450592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PatientID (PK), DoctorID (FK), DOB, TreatmentPlan, TargetShade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489704" y="2770632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demographics plus active treatment plan and stage.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065008" y="1920240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0" y="2066544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9" name="Image 2" descr="icons/tab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2115922"/>
            <a:ext cx="267005" cy="2670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0" y="2039112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TeethState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247888" y="2450592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TeethStateID (PK), PatientID (FK), ToothNumber (1–32), Status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247888" y="2770632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32-tooth odontogram: Healthy, Decay, Filled, Missing, Crown, RCT.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8640" y="3401568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13232" y="354787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5" name="Image 3" descr="icons/tab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10" y="3597250"/>
            <a:ext cx="267005" cy="26700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70432" y="3520440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ClinicalNotes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31520" y="393192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NoteID (PK), PatientID (FK), DoctorID (FK), LogType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31520" y="4251960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EHR audit trail for procedures and reverts.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06824" y="3401568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471416" y="354787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4" descr="icons/tab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0794" y="3597250"/>
            <a:ext cx="267005" cy="26700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28616" y="3520440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489704" y="393192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AppointmentID (PK), PatientID (FK), TimeSlot, Status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4489704" y="4251960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tracking: Confirmed, Completed, Pending, Cancelled.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065008" y="3401568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229600" y="3547872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7" name="Image 5" descr="icons/tab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978" y="3597250"/>
            <a:ext cx="267005" cy="26700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86800" y="3520440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247888" y="3931920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PrescriptionID (PK), MedicineName, Dosage, Frequency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8247888" y="4251960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prescriptions with dosage and export history.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48640" y="4882896"/>
            <a:ext cx="3538728" cy="1298448"/>
          </a:xfrm>
          <a:prstGeom prst="roundRect">
            <a:avLst>
              <a:gd name="adj" fmla="val 7042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13232" y="5029200"/>
            <a:ext cx="365760" cy="3657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3" name="Image 6" descr="icons/tab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10" y="5078578"/>
            <a:ext cx="267005" cy="26700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170432" y="5001768"/>
            <a:ext cx="2752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Radiographs</a:t>
            </a:r>
            <a:endParaRPr lang="en-US" sz="1350" dirty="0"/>
          </a:p>
        </p:txBody>
      </p:sp>
      <p:sp>
        <p:nvSpPr>
          <p:cNvPr id="45" name="Text 36"/>
          <p:cNvSpPr/>
          <p:nvPr/>
        </p:nvSpPr>
        <p:spPr>
          <a:xfrm>
            <a:off x="731520" y="5413248"/>
            <a:ext cx="3172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RadiographID (PK), ImageUrl, RadiographType, Findings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731520" y="5733288"/>
            <a:ext cx="3172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assets — Bitewing, Periapical, Panoramic OPG.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PAGE-BY-PAGE ·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Directory &amp; Consultation Console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/directory  —  the primary clinical cockpit used during patient appointments.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39112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7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547" y="2093427"/>
            <a:ext cx="293705" cy="293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202082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directory search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by First Name, Last Name, or Patient ID with 4-card pagination.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2039112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12" name="Image 1" descr="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587" y="2093427"/>
            <a:ext cx="293705" cy="293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74336" y="202082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alert card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80560" y="251460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ID, DOB, blood group, and red warning badges for critical alerts (e.g. Penicillin allergy).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2039112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17" name="Image 2" descr="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627" y="2093427"/>
            <a:ext cx="293705" cy="293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23376" y="2020824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Modality tagger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0" y="2514600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tagging across Braces, Whitening, and Cavity — saves straight to SQL with an audit note.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48640" y="3493008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3657600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2" name="Image 3" descr="icons/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47" y="3711915"/>
            <a:ext cx="293705" cy="2937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25296" y="363931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15-second auto-hide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1520" y="4133088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collapses after inactivity; the reset icon (↺) instantly reverts a mistaken plan.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97680" y="3493008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62272" y="3657600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27" name="Image 4" descr="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587" y="3711915"/>
            <a:ext cx="293705" cy="29370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74336" y="363931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overview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80560" y="4133088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bars for Health %, Caries %, RCT %, Missing %, and Crown % from the odontogram state.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46720" y="3493008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3657600"/>
            <a:ext cx="402336" cy="402336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32" name="Image 5" descr="icons/calend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5627" y="3711915"/>
            <a:ext cx="293705" cy="29370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23376" y="3639312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logs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229600" y="4133088"/>
            <a:ext cx="3154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visit logs and upcoming scheduled visits on one card.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BEEEA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" y="57150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spotter shortcut:  </a:t>
            </a:r>
            <a:pPr indent="0" marL="0">
              <a:buNone/>
            </a:pPr>
            <a:r>
              <a:rPr lang="en-US" sz="11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quick-select teeth #3, #8, #9, #14, #19, #30, #31 and flag Damaged/Decay (#EF4444) in one click.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PAGE-BY-PAGE ·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Odontogram &amp; Clinical Workspace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/chart/:patientId  —  anatomical charting on the Universal 32-Tooth Numbering System.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103120" cy="3794760"/>
          </a:xfrm>
          <a:prstGeom prst="roundRect">
            <a:avLst>
              <a:gd name="adj" fmla="val 4348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209397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icons/teet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634" y="2161870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74320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 · 32-Tooth Odontogram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4944" y="3447288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Maxillary (1–16) and Mandibular (17–32) arches. States: Healthy (white), Decay (red), Filled (green), Missing (gray), Crown (gold), RCT (purple).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70632" y="1874520"/>
            <a:ext cx="2103120" cy="3794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0732" y="209397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icons/xra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626" y="2161870"/>
            <a:ext cx="367132" cy="3671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274320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 · Radiographs &amp; X-Rays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916936" y="3447288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viewer for Panoramic (OPG), Bitewing, Periapical, and Cephalometric films with zoom, contrast, and inversion.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992624" y="1874520"/>
            <a:ext cx="2103120" cy="3794760"/>
          </a:xfrm>
          <a:prstGeom prst="roundRect">
            <a:avLst>
              <a:gd name="adj" fmla="val 4348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92724" y="209397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2" descr="icons/r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618" y="2161870"/>
            <a:ext cx="367132" cy="3671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20640" y="274320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3 · Prescriptions (e-Rx)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138928" y="3447288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Amoxicillin, Ibuprofen, Augmentin and more — dosage, frequency (OD/BD/TDS), duration, printable slip.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214616" y="1874520"/>
            <a:ext cx="2103120" cy="3794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14716" y="209397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2" name="Image 3" descr="icons/mon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610" y="2161870"/>
            <a:ext cx="367132" cy="3671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274320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4 · Treatment Plans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360920" y="3447288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procedures with tooth association, estimated cost, and stage: Proposed, Accepted, In-Progress, Completed.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9436608" y="1874520"/>
            <a:ext cx="2103120" cy="3794760"/>
          </a:xfrm>
          <a:prstGeom prst="roundRect">
            <a:avLst>
              <a:gd name="adj" fmla="val 4348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36708" y="2093976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7" name="Image 4" descr="icons/filem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4602" y="2161870"/>
            <a:ext cx="367132" cy="3671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64624" y="274320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5 · Clinical SOAP Notes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582912" y="3447288"/>
            <a:ext cx="181051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Subjective, Objective, Assessment, Plan documentation with timestamped doctor signatures.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PAGE-BY-PAGE · 3.3 &amp; 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intake and ambient AI dictation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2C7A7B"/>
          </a:solidFill>
          <a:ln/>
        </p:spPr>
      </p:sp>
      <p:pic>
        <p:nvPicPr>
          <p:cNvPr id="6" name="Image 0" descr="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34" y="180525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Patient Intake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/new-patient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2651760"/>
            <a:ext cx="256032" cy="25603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04" y="2686324"/>
            <a:ext cx="186903" cy="1869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6243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" y="290779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 duplicate if First Name + Last Name + DOB match — but allows siblings sharing a parent's mobile number.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7240" y="3584448"/>
            <a:ext cx="256032" cy="25603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4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04" y="3619012"/>
            <a:ext cx="186903" cy="1869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55701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&amp; text intake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77240" y="38404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 or speak into the mic; Gemini extracts Name, DOB, Gender, Phone, Chief Complaint, and Medical Alerts.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77240" y="4517136"/>
            <a:ext cx="256032" cy="25603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8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04" y="4551700"/>
            <a:ext cx="186903" cy="1869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4897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initialization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77240" y="477316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seeds all 32 TeethState rows as 'Healthy' on patient creation.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17920" y="150876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142943"/>
          </a:solidFill>
          <a:ln/>
        </p:spPr>
      </p:sp>
      <p:sp>
        <p:nvSpPr>
          <p:cNvPr id="22" name="Shape 16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3" name="Image 4" descr="icons/mic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414" y="1805254"/>
            <a:ext cx="367132" cy="3671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1810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Clinical Notes &amp; Voice Dictation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44652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/ai-notes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44652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 listening and dictation assistant for hands-free dental documentation.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46520" y="33375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B3B5E"/>
          </a:solidFill>
          <a:ln/>
        </p:spPr>
      </p:sp>
      <p:sp>
        <p:nvSpPr>
          <p:cNvPr id="28" name="Text 21"/>
          <p:cNvSpPr/>
          <p:nvPr/>
        </p:nvSpPr>
        <p:spPr>
          <a:xfrm>
            <a:off x="6656832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dictation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656832" y="374904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audio directly in the surgery after a procedure — no typing.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46520" y="4416552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B3B5E"/>
          </a:solidFill>
          <a:ln/>
        </p:spPr>
      </p:sp>
      <p:sp>
        <p:nvSpPr>
          <p:cNvPr id="31" name="Text 24"/>
          <p:cNvSpPr/>
          <p:nvPr/>
        </p:nvSpPr>
        <p:spPr>
          <a:xfrm>
            <a:off x="6656832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note generation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656832" y="482803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transcribes and structures speech into standard dental SOAP notes with clinical coding.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PAGE-BY-PAGE · 3.5–3.7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Scheduling, patient portal, and admin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838" y="1991838"/>
            <a:ext cx="387157" cy="3871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 &amp; Scheduling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17296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/appointments · /book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77240" y="3666744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538728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collision prevention across doctors and chairs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77240" y="4288536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16052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tracking: Confirmed, In-Chair, Completed, Cancelled, No-Show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315968" y="169164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44568" y="192024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5" name="Image 1" descr="icons/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166" y="1991838"/>
            <a:ext cx="387157" cy="38715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60604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Dashboard &amp; AI Chatbot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44568" y="317296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44568" y="3666744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9" name="Text 15"/>
          <p:cNvSpPr/>
          <p:nvPr/>
        </p:nvSpPr>
        <p:spPr>
          <a:xfrm>
            <a:off x="4727448" y="3538728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KPI analytics — live patient and treatment counters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4544568" y="4288536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21" name="Text 17"/>
          <p:cNvSpPr/>
          <p:nvPr/>
        </p:nvSpPr>
        <p:spPr>
          <a:xfrm>
            <a:off x="4727448" y="416052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3.5s hero carousel of clinic facilities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4544568" y="4910328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23" name="Text 19"/>
          <p:cNvSpPr/>
          <p:nvPr/>
        </p:nvSpPr>
        <p:spPr>
          <a:xfrm>
            <a:off x="4727448" y="4782312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conversational AI for patient queries &amp; booking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8083296" y="1691640"/>
            <a:ext cx="3538728" cy="3931920"/>
          </a:xfrm>
          <a:prstGeom prst="roundRect">
            <a:avLst>
              <a:gd name="adj" fmla="val 3101"/>
            </a:avLst>
          </a:prstGeom>
          <a:solidFill>
            <a:srgbClr val="EFF4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11896" y="192024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2" descr="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494" y="1991838"/>
            <a:ext cx="387157" cy="38715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11896" y="260604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Management &amp; Access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311896" y="3172968"/>
            <a:ext cx="3081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7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/admin/doctors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311896" y="3666744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30" name="Text 25"/>
          <p:cNvSpPr/>
          <p:nvPr/>
        </p:nvSpPr>
        <p:spPr>
          <a:xfrm>
            <a:off x="8494776" y="3538728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panel for onboarding doctors</a:t>
            </a:r>
            <a:endParaRPr lang="en-US" sz="980" dirty="0"/>
          </a:p>
        </p:txBody>
      </p:sp>
      <p:sp>
        <p:nvSpPr>
          <p:cNvPr id="31" name="Shape 26"/>
          <p:cNvSpPr/>
          <p:nvPr/>
        </p:nvSpPr>
        <p:spPr>
          <a:xfrm>
            <a:off x="8311896" y="4288536"/>
            <a:ext cx="73152" cy="7315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32" name="Text 27"/>
          <p:cNvSpPr/>
          <p:nvPr/>
        </p:nvSpPr>
        <p:spPr>
          <a:xfrm>
            <a:off x="8494776" y="4160520"/>
            <a:ext cx="28986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clinic branches and security roles</a:t>
            </a:r>
            <a:endParaRPr lang="en-US" sz="980" dirty="0"/>
          </a:p>
        </p:txBody>
      </p:sp>
      <p:sp>
        <p:nvSpPr>
          <p:cNvPr id="33" name="Text 28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DOCTOR USAGE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workflow,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&amp; selection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3500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/directory, select the patient card to review alerts, allergies, and the active treatment plan.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85623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Modality tagging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3500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Braces, Whitening, or Cavity; choose the stage and wire/shade/material, then Save &amp; Update.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856232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856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87384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Odontogram charting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23500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/chart/:id to mark Caries, Restorations, or RCTs on the full 32-tooth chart.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38728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570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032504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Radiographs to inspect X-rays with zoom, contrast, and inversion filters.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325112" y="3374136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538728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35570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e-Prescribing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4032504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Prescriptions, select medication and dosage, print the official clinic slip.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101584" y="3374136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538728"/>
            <a:ext cx="384048" cy="38404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9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87384" y="35570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Reverting entries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4032504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↺ icon on a mistaken plan badge to clear it from the database instantly.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API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endpoints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routes powering the clinical CRUD layer between the React frontend and SQL Server.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0789920" cy="448056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5852160"/>
              </a:tblGrid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Endpoint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/api/patients/doctor/{id}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Fetches all patients assigned to the doctor.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/api/patients/{id}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Returns demographics, treatment plan, stage, shade.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Registers a new patient with sibling-aware duplicate checks.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/api/patients/{id}/treatment-plan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Updates or resets the active treatment plan.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/api/patients/{id}/clinical-logs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Inserts an audit log into ClinicalNotes.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/api/patients/{id}/chart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Retrieves the 32-tooth odontogram state.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/api/patients/teeth/update-bulk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Bulk updates tooth conditions, colors, and notes.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/api/patients/{id}/prescriptions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Retrieves medication history for the patient.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/api/patients/prescriptions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Creates an electronic prescription record.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/api/chatbot/ask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4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Sends a patient query to the Gemini AI dental bot.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828800"/>
            <a:ext cx="10789920" cy="4069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828800"/>
            <a:ext cx="1005840" cy="40690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1828800"/>
            <a:ext cx="3931920" cy="40690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828800"/>
            <a:ext cx="5852160" cy="40690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297680" cy="4297680"/>
          </a:xfrm>
          <a:prstGeom prst="ellipse">
            <a:avLst/>
          </a:prstGeom>
          <a:solidFill>
            <a:srgbClr val="1F4A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DentistApp production-ready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Clinically complete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32-tooth odontogram, radiographs, e-Rx, SOAP notes, and treatment costing in one workspace.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920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throughout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53712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handles intake extraction, ambient dictation, and a 24/7 patient chatbot.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16916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B3B5E"/>
          </a:solidFill>
          <a:ln w="12700">
            <a:solidFill>
              <a:srgbClr val="2E5C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920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clinics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30184" y="26517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Sibling-aware duplicate prevention, slot collision checks, and instant plan reverts.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(Vite, Tailwind)  →  ASP.NET Core 9.0 API (Dapper)  →  SQL Server  ↔  Google Gemini 1.5 Flash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12700">
            <a:solidFill>
              <a:srgbClr val="2E5C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version: Enterprise Release v2.5 (Fully Verified &amp; Synchronized)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2026-08-25T08:41:32Z</dcterms:created>
  <dcterms:modified xsi:type="dcterms:W3CDTF">2026-08-25T08:41:32Z</dcterms:modified>
</cp:coreProperties>
</file>