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02C39A">
              <a:alpha val="2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21488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DENTAL CLINICAL SCRIBE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0604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Zero-Load Auto-Scaling &amp;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On-Demand Failover Architecture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5262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DentistAPIClone / API_dentist  ·  Production Architecture Specification  ·  v1.0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5074920"/>
            <a:ext cx="20116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5212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Valentia AI Architecture Team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constraints are breaking the charting workflow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9584" cy="4206240"/>
          </a:xfrm>
          <a:prstGeom prst="roundRect">
            <a:avLst>
              <a:gd name="adj" fmla="val 2073"/>
            </a:avLst>
          </a:prstGeom>
          <a:solidFill>
            <a:srgbClr val="F4F7F8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116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834640"/>
            <a:ext cx="2889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free-tier limits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474720"/>
            <a:ext cx="28895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free tier caps at 20 requests/day. An active clinic hits the ceiling after 2–3 patients, throwing HTTP 429 errors mid-consultation.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52544" y="1691640"/>
            <a:ext cx="3529584" cy="4206240"/>
          </a:xfrm>
          <a:prstGeom prst="roundRect">
            <a:avLst>
              <a:gd name="adj" fmla="val 2073"/>
            </a:avLst>
          </a:prstGeom>
          <a:solidFill>
            <a:srgbClr val="F4F7F8"/>
          </a:solidFill>
          <a:ln/>
        </p:spPr>
      </p:sp>
      <p:sp>
        <p:nvSpPr>
          <p:cNvPr id="10" name="Shape 8"/>
          <p:cNvSpPr/>
          <p:nvPr/>
        </p:nvSpPr>
        <p:spPr>
          <a:xfrm>
            <a:off x="4672584" y="20116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72584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672584" y="2834640"/>
            <a:ext cx="2889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 resource drag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672584" y="3474720"/>
            <a:ext cx="28895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engines (Ollama, vLLM, Llama-CPP) running 24/7 hold 3–6 GB of RAM continuously, slowing SQL Server, IIS and other clinic services.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56448" y="1691640"/>
            <a:ext cx="3529584" cy="4206240"/>
          </a:xfrm>
          <a:prstGeom prst="roundRect">
            <a:avLst>
              <a:gd name="adj" fmla="val 2073"/>
            </a:avLst>
          </a:prstGeom>
          <a:solidFill>
            <a:srgbClr val="F4F7F8"/>
          </a:solidFill>
          <a:ln/>
        </p:spPr>
      </p:sp>
      <p:sp>
        <p:nvSpPr>
          <p:cNvPr id="15" name="Shape 13"/>
          <p:cNvSpPr/>
          <p:nvPr/>
        </p:nvSpPr>
        <p:spPr>
          <a:xfrm>
            <a:off x="8476488" y="201168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76488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476488" y="2834640"/>
            <a:ext cx="2889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requirement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476488" y="3474720"/>
            <a:ext cx="28895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Auto-init on boot, instant AI response during dictation, and full RAM release after 5 minutes idle — fast, reliable, and zero-cost.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Three-tier smart AI dispatcher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74236" y="1600200"/>
            <a:ext cx="3840480" cy="548640"/>
          </a:xfrm>
          <a:prstGeom prst="roundRect">
            <a:avLst>
              <a:gd name="adj" fmla="val 10000"/>
            </a:avLst>
          </a:prstGeom>
          <a:solidFill>
            <a:srgbClr val="F4F7F8"/>
          </a:solidFill>
          <a:ln w="12700">
            <a:solidFill>
              <a:srgbClr val="D8DEE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174236" y="16002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mic voice dictation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94476" y="2148840"/>
            <a:ext cx="0" cy="320040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717036" y="2468880"/>
            <a:ext cx="4754880" cy="54864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717036" y="24688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DentistAPI (.NET Core backend)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94476" y="3017520"/>
            <a:ext cx="0" cy="137160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51276" y="3154680"/>
            <a:ext cx="5486400" cy="0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51276" y="3154680"/>
            <a:ext cx="0" cy="137160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837676" y="3154680"/>
            <a:ext cx="0" cy="137160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36676" y="3429000"/>
            <a:ext cx="5029200" cy="2331720"/>
          </a:xfrm>
          <a:prstGeom prst="roundRect">
            <a:avLst>
              <a:gd name="adj" fmla="val 3137"/>
            </a:avLst>
          </a:prstGeom>
          <a:solidFill>
            <a:srgbClr val="F4F7F8"/>
          </a:solidFill>
          <a:ln/>
        </p:spPr>
      </p:sp>
      <p:sp>
        <p:nvSpPr>
          <p:cNvPr id="14" name="Shape 12"/>
          <p:cNvSpPr/>
          <p:nvPr/>
        </p:nvSpPr>
        <p:spPr>
          <a:xfrm>
            <a:off x="1110996" y="368503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385316" y="35935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 1: Cloud engine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10996" y="39319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free cloud API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10996" y="429768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Speed: 0.8s (fastest)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RAM: 0 MB (zero load)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Limit: 14,400 free calls/day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110996" y="5303520"/>
            <a:ext cx="4480560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110996" y="530352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DEFAULT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23076" y="3429000"/>
            <a:ext cx="5029200" cy="2331720"/>
          </a:xfrm>
          <a:prstGeom prst="roundRect">
            <a:avLst>
              <a:gd name="adj" fmla="val 3137"/>
            </a:avLst>
          </a:prstGeom>
          <a:solidFill>
            <a:srgbClr val="F4F7F8"/>
          </a:solidFill>
          <a:ln/>
        </p:spPr>
      </p:sp>
      <p:sp>
        <p:nvSpPr>
          <p:cNvPr id="21" name="Shape 19"/>
          <p:cNvSpPr/>
          <p:nvPr/>
        </p:nvSpPr>
        <p:spPr>
          <a:xfrm>
            <a:off x="6597396" y="368503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C97A1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71716" y="35935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 2: Local on-demand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597396" y="39319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+ Qwen 2.5 3B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597396" y="429768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Speed: 3.5s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RAM: 0 MB idle / ~2.2 GB active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mode: 5-minute auto-shutdown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597396" y="5303520"/>
            <a:ext cx="4480560" cy="310896"/>
          </a:xfrm>
          <a:prstGeom prst="roundRect">
            <a:avLst>
              <a:gd name="adj" fmla="val 50000"/>
            </a:avLst>
          </a:prstGeom>
          <a:solidFill>
            <a:srgbClr val="C97A1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597396" y="530352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/ QUOTA FAILOVER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GOVERNOR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5-minute on-demand auto-shutdown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Ollama's native keep_alive parameter governs when the local model loads and unloads.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542032" cy="3566160"/>
          </a:xfrm>
          <a:prstGeom prst="roundRect">
            <a:avLst>
              <a:gd name="adj" fmla="val 2878"/>
            </a:avLst>
          </a:prstGeom>
          <a:solidFill>
            <a:srgbClr val="F4F7F8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1945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834640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Idle state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429000"/>
            <a:ext cx="208483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requests active. The local LLM is not loaded. Server RAM usage: 0 MB.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108960" y="3749040"/>
            <a:ext cx="164592" cy="0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291840" y="1965960"/>
            <a:ext cx="2542032" cy="3566160"/>
          </a:xfrm>
          <a:prstGeom prst="roundRect">
            <a:avLst>
              <a:gd name="adj" fmla="val 2878"/>
            </a:avLst>
          </a:prstGeom>
          <a:solidFill>
            <a:srgbClr val="F4F7F8"/>
          </a:solidFill>
          <a:ln/>
        </p:spPr>
      </p:sp>
      <p:sp>
        <p:nvSpPr>
          <p:cNvPr id="12" name="Shape 10"/>
          <p:cNvSpPr/>
          <p:nvPr/>
        </p:nvSpPr>
        <p:spPr>
          <a:xfrm>
            <a:off x="3520440" y="21945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204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520440" y="2834640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On-demand activation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520440" y="3429000"/>
            <a:ext cx="208483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unavailable → .NET calls Ollama with keep_alive: "5m". Model loads (~2.2 GB) and returns a structured note in ~3s.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852160" y="3749040"/>
            <a:ext cx="164592" cy="0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035040" y="1965960"/>
            <a:ext cx="2542032" cy="3566160"/>
          </a:xfrm>
          <a:prstGeom prst="roundRect">
            <a:avLst>
              <a:gd name="adj" fmla="val 2878"/>
            </a:avLst>
          </a:prstGeom>
          <a:solidFill>
            <a:srgbClr val="F4F7F8"/>
          </a:solidFill>
          <a:ln/>
        </p:spPr>
      </p:sp>
      <p:sp>
        <p:nvSpPr>
          <p:cNvPr id="18" name="Shape 16"/>
          <p:cNvSpPr/>
          <p:nvPr/>
        </p:nvSpPr>
        <p:spPr>
          <a:xfrm>
            <a:off x="6263640" y="219456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636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2834640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Calls within 5 minutes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3429000"/>
            <a:ext cx="208483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dictation or corrections hit the already-loaded model — instantaneous, no reload delay. Each call resets the timer.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595360" y="3749040"/>
            <a:ext cx="164592" cy="0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778240" y="1965960"/>
            <a:ext cx="2542032" cy="3566160"/>
          </a:xfrm>
          <a:prstGeom prst="roundRect">
            <a:avLst>
              <a:gd name="adj" fmla="val 2878"/>
            </a:avLst>
          </a:prstGeom>
          <a:solidFill>
            <a:srgbClr val="F4F7F8"/>
          </a:solidFill>
          <a:ln/>
        </p:spPr>
      </p:sp>
      <p:sp>
        <p:nvSpPr>
          <p:cNvPr id="24" name="Shape 22"/>
          <p:cNvSpPr/>
          <p:nvPr/>
        </p:nvSpPr>
        <p:spPr>
          <a:xfrm>
            <a:off x="9006840" y="2194560"/>
            <a:ext cx="457200" cy="457200"/>
          </a:xfrm>
          <a:prstGeom prst="ellipse">
            <a:avLst/>
          </a:prstGeom>
          <a:solidFill>
            <a:srgbClr val="C97A1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0068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006840" y="2834640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Auto-sleep &amp; release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006840" y="3429000"/>
            <a:ext cx="208483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5 minutes of inactivity the model fully unloads; all RAM returns to the OS. Server is back to 100% idle.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PIPELINE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Zero-touch startup configuration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automatically on dotnet run or IIS pool recycle — no manual admin steps.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96596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environment configuration from appsettings.json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2423160"/>
            <a:ext cx="0" cy="228600"/>
          </a:xfrm>
          <a:prstGeom prst="line">
            <a:avLst/>
          </a:prstGeom>
          <a:noFill/>
          <a:ln w="12700">
            <a:solidFill>
              <a:srgbClr val="3A44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6517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65176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cloud endpoints — Groq / Gemini health check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7240" y="3108960"/>
            <a:ext cx="0" cy="228600"/>
          </a:xfrm>
          <a:prstGeom prst="line">
            <a:avLst/>
          </a:prstGeom>
          <a:noFill/>
          <a:ln w="12700">
            <a:solidFill>
              <a:srgbClr val="3A44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3375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33756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local host OS (Windows vs. Linux)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77240" y="3794760"/>
            <a:ext cx="0" cy="228600"/>
          </a:xfrm>
          <a:prstGeom prst="line">
            <a:avLst/>
          </a:prstGeom>
          <a:noFill/>
          <a:ln w="12700">
            <a:solidFill>
              <a:srgbClr val="3A44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0233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402336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Ollama daemon — mark ready, or auto-start "ollama serve" hidden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77240" y="4480560"/>
            <a:ext cx="0" cy="228600"/>
          </a:xfrm>
          <a:prstGeom prst="line">
            <a:avLst/>
          </a:prstGeom>
          <a:noFill/>
          <a:ln w="12700">
            <a:solidFill>
              <a:srgbClr val="3A447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7091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470916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local model qwen2.5:3b is cached; pull in background if not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77240" y="5166360"/>
            <a:ext cx="0" cy="228600"/>
          </a:xfrm>
          <a:prstGeom prst="line">
            <a:avLst/>
          </a:prstGeom>
          <a:noFill/>
          <a:ln w="12700">
            <a:solidFill>
              <a:srgbClr val="3A447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53949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48640" y="5394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539496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the dynamic fallback chain in dependency injection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CONFIGURATION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dual-engine setup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3291840"/>
        </p:xfrm>
        <a:graphic>
          <a:graphicData uri="http://schemas.openxmlformats.org/drawingml/2006/table">
            <a:tbl>
              <a:tblPr/>
              <a:tblGrid>
                <a:gridCol w="1554480"/>
                <a:gridCol w="3200400"/>
                <a:gridCol w="2103120"/>
                <a:gridCol w="1371600"/>
                <a:gridCol w="1463040"/>
                <a:gridCol w="1371600"/>
              </a:tblGrid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Engine tier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Provider &amp; model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Latency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Daily quota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Server RAM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</a:rPr>
                        <a:t>Tier 1</a:t>
                      </a:r>
                      <a:endParaRPr lang="en-US" sz="1150" dirty="0"/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</a:rPr>
                        <a:t>Cloud primary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</a:rPr>
                        <a:t>Groq Cloud</a:t>
                      </a:r>
                      <a:endParaRPr lang="en-US" sz="1150" dirty="0"/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</a:rPr>
                        <a:t>whisper-large-v3-turbo + llama-3.3-70b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</a:rPr>
                        <a:t>Primary production engine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</a:rPr>
                        <a:t>0.5–1.0s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</a:rPr>
                        <a:t>14,400/day (free)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</a:rPr>
                        <a:t>0 MB (runs on Groq LPUs)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</a:rPr>
                        <a:t>Tier 2</a:t>
                      </a:r>
                      <a:endParaRPr lang="en-US" sz="1150" dirty="0"/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</a:rPr>
                        <a:t>Cloud secondary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</a:rPr>
                        <a:t>Google Gemini</a:t>
                      </a:r>
                      <a:endParaRPr lang="en-US" sz="1150" dirty="0"/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</a:rPr>
                        <a:t>gemini-3.5-flash-lite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</a:rPr>
                        <a:t>Secondary cloud buffer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</a:rPr>
                        <a:t>2.0–4.0s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</a:rPr>
                        <a:t>20/day (free tier)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</a:rPr>
                        <a:t>0 MB (runs on Google Cloud)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</a:rPr>
                        <a:t>Tier 3</a:t>
                      </a:r>
                      <a:endParaRPr lang="en-US" sz="1150" dirty="0"/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</a:rPr>
                        <a:t>Local on-demand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</a:rPr>
                        <a:t>Ollama Local</a:t>
                      </a:r>
                      <a:endParaRPr lang="en-US" sz="1150" dirty="0"/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</a:rPr>
                        <a:t>qwen2.5:3b (keep_alive 5m)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</a:rPr>
                        <a:t>Offline / emergency failover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</a:rPr>
                        <a:t>3.0–5.0s (CPU)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</a:rPr>
                        <a:t>Unlimited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</a:rPr>
                        <a:t>0 MB idle / ~2.2 GB active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0749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Tier 1 + Tier 3 eliminate the 20-request/day wall while keeping idle server load at zero.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PRIMARY, IN DETAIL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Groq: the fastest free cloud alternative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Gemini's free tier caps at 20 requests/day. Groq removes that ceiling entirely.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542032" cy="3566160"/>
          </a:xfrm>
          <a:prstGeom prst="roundRect">
            <a:avLst>
              <a:gd name="adj" fmla="val 2878"/>
            </a:avLst>
          </a:prstGeom>
          <a:solidFill>
            <a:srgbClr val="F4F7F8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240280"/>
            <a:ext cx="457200" cy="1097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468880"/>
            <a:ext cx="2084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0.3s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474720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Transcribes 30s of audio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206240"/>
            <a:ext cx="20848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whisper-large-v3-turbo — Urdu + English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10128" y="1965960"/>
            <a:ext cx="2542032" cy="3566160"/>
          </a:xfrm>
          <a:prstGeom prst="roundRect">
            <a:avLst>
              <a:gd name="adj" fmla="val 2878"/>
            </a:avLst>
          </a:prstGeom>
          <a:solidFill>
            <a:srgbClr val="F4F7F8"/>
          </a:solidFill>
          <a:ln/>
        </p:spPr>
      </p:sp>
      <p:sp>
        <p:nvSpPr>
          <p:cNvPr id="11" name="Shape 9"/>
          <p:cNvSpPr/>
          <p:nvPr/>
        </p:nvSpPr>
        <p:spPr>
          <a:xfrm>
            <a:off x="3538728" y="2240280"/>
            <a:ext cx="457200" cy="10972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38728" y="2468880"/>
            <a:ext cx="2084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&lt;1s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3538728" y="3474720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full JSON note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538728" y="4206240"/>
            <a:ext cx="20848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llama-3.3-70b / qwen-2.5-32b + tooth updates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71616" y="1965960"/>
            <a:ext cx="2542032" cy="3566160"/>
          </a:xfrm>
          <a:prstGeom prst="roundRect">
            <a:avLst>
              <a:gd name="adj" fmla="val 2878"/>
            </a:avLst>
          </a:prstGeom>
          <a:solidFill>
            <a:srgbClr val="F4F7F8"/>
          </a:solidFill>
          <a:ln/>
        </p:spPr>
      </p:sp>
      <p:sp>
        <p:nvSpPr>
          <p:cNvPr id="16" name="Shape 14"/>
          <p:cNvSpPr/>
          <p:nvPr/>
        </p:nvSpPr>
        <p:spPr>
          <a:xfrm>
            <a:off x="6300216" y="2240280"/>
            <a:ext cx="457200" cy="10972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00216" y="2468880"/>
            <a:ext cx="2084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14,400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6300216" y="3474720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requests per day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300216" y="4206240"/>
            <a:ext cx="20848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20/day on Gemini free tier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833104" y="1965960"/>
            <a:ext cx="2542032" cy="3566160"/>
          </a:xfrm>
          <a:prstGeom prst="roundRect">
            <a:avLst>
              <a:gd name="adj" fmla="val 2878"/>
            </a:avLst>
          </a:prstGeom>
          <a:solidFill>
            <a:srgbClr val="F4F7F8"/>
          </a:solidFill>
          <a:ln/>
        </p:spPr>
      </p:sp>
      <p:sp>
        <p:nvSpPr>
          <p:cNvPr id="21" name="Shape 19"/>
          <p:cNvSpPr/>
          <p:nvPr/>
        </p:nvSpPr>
        <p:spPr>
          <a:xfrm>
            <a:off x="9061704" y="2240280"/>
            <a:ext cx="457200" cy="109728"/>
          </a:xfrm>
          <a:prstGeom prst="roundRect">
            <a:avLst>
              <a:gd name="adj" fmla="val 50000"/>
            </a:avLst>
          </a:prstGeom>
          <a:solidFill>
            <a:srgbClr val="C97A1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061704" y="2468880"/>
            <a:ext cx="2084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7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MB</a:t>
            </a:r>
            <a:endParaRPr lang="en-US" sz="4000" dirty="0"/>
          </a:p>
        </p:txBody>
      </p:sp>
      <p:sp>
        <p:nvSpPr>
          <p:cNvPr id="23" name="Text 21"/>
          <p:cNvSpPr txBox="1"/>
          <p:nvPr/>
        </p:nvSpPr>
        <p:spPr>
          <a:xfrm>
            <a:off x="9061704" y="3474720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RAM used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061704" y="4206240"/>
            <a:ext cx="20848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entirely on Groq's LPUs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&amp; resource comparison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420624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88920"/>
                <a:gridCol w="278892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Gemini only (before)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Local 24/7 (unoptimized)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Proposed on-demand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Server RAM (idle)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 MB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4,000–6,000 MB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6E4F"/>
                          </a:solidFill>
                        </a:rPr>
                        <a:t>0 MB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RAM after 5 min idle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N/A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Still held in memory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6E4F"/>
                          </a:solidFill>
                        </a:rPr>
                        <a:t>Released to OS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Daily request limit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20/day (fails)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Unlimited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6E4F"/>
                          </a:solidFill>
                        </a:rPr>
                        <a:t>14,400+ cloud + unlimited local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Avg. note latency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5.0–8.0s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4.0–7.0s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6E4F"/>
                          </a:solidFill>
                        </a:rPr>
                        <a:t>0.8–1.2s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Offline resilience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100%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6E4F"/>
                          </a:solidFill>
                        </a:rPr>
                        <a:t>100% (instant local wake)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Monthly hosting cost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$0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$0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6E4F"/>
                          </a:solidFill>
                        </a:rPr>
                        <a:t>$0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4114800" cy="4114800"/>
          </a:xfrm>
          <a:prstGeom prst="ellipse">
            <a:avLst/>
          </a:prstGeom>
          <a:solidFill>
            <a:srgbClr val="028090">
              <a:alpha val="2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 for the dental clinic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26306B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19456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212140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server slowdown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542032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6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local model sleeps at 0 MB RAM, so EHR, billing, and scheduling never lag.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92024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26306B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219456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949440" y="212140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rate-limit crashes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949440" y="2542032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6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14,400 free Groq calls/day plus unlimited local capacity end HTTP 429 errors for good.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61188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26306B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388620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371600" y="381304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clinical fluency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4233672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6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qwen2.5:3b + whisper-turbo format English and Roman Urdu dictation into structured SOAP notes.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361188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26306B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0" y="388620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949440" y="381304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Self-healing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949440" y="4233672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6C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internet drops, the API runs fully local and sleeps again 5 minutes after the doctor finishes.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2026-09-08T07:01:42Z</dcterms:created>
  <dcterms:modified xsi:type="dcterms:W3CDTF">2026-09-08T07:01:42Z</dcterms:modified>
</cp:coreProperties>
</file>