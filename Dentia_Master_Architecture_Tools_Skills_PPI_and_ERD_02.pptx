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14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858000" cy="6858000"/>
          </a:xfrm>
          <a:prstGeom prst="ellipse">
            <a:avLst/>
          </a:prstGeom>
          <a:ln w="15875">
            <a:solidFill>
              <a:srgbClr val="15877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-1463040"/>
            <a:ext cx="5486400" cy="5486400"/>
          </a:xfrm>
          <a:prstGeom prst="ellipse">
            <a:avLst/>
          </a:prstGeom>
          <a:ln w="12700">
            <a:solidFill>
              <a:srgbClr val="22C3A6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ln w="12700">
            <a:solidFill>
              <a:srgbClr val="15877A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DENTAL WORKSPACE  ·  FULL TECHNICAL SPECIFICATION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Dentia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A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Skills, PPI Architecture &amp; Entity Model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310128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reference on the frontend &amp; backend technology stack, clinical AI skills, the Patient-Provider Interface (PPI), protected health information safeguards, and the 17-table SQL Server database model.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4343400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0F4A47"/>
          </a:solidFill>
          <a:ln w="9525">
            <a:solidFill>
              <a:srgbClr val="1C6B65"/>
            </a:solidFill>
            <a:prstDash val="solid"/>
          </a:ln>
        </p:spPr>
      </p:sp>
      <p:pic>
        <p:nvPicPr>
          <p:cNvPr id="10" name="Image 0" descr="/home/claude/work/icons/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448056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50976" y="4343400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.NET 10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08960" y="4343400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0F4A47"/>
          </a:solidFill>
          <a:ln w="9525">
            <a:solidFill>
              <a:srgbClr val="1C6B65"/>
            </a:solidFill>
            <a:prstDash val="solid"/>
          </a:ln>
        </p:spPr>
      </p:sp>
      <p:pic>
        <p:nvPicPr>
          <p:cNvPr id="13" name="Image 1" descr="/home/claude/work/icons/scri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448056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02736" y="4343400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Clinical AI Skills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760720" y="4343400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0F4A47"/>
          </a:solidFill>
          <a:ln w="9525">
            <a:solidFill>
              <a:srgbClr val="1C6B65"/>
            </a:solidFill>
            <a:prstDash val="solid"/>
          </a:ln>
        </p:spPr>
      </p:sp>
      <p:pic>
        <p:nvPicPr>
          <p:cNvPr id="16" name="Image 2" descr="/home/claude/work/icons/sq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448056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496" y="4343400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Normalized SQL Tables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412480" y="4343400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0F4A47"/>
          </a:solidFill>
          <a:ln w="9525">
            <a:solidFill>
              <a:srgbClr val="1C6B65"/>
            </a:solidFill>
            <a:prstDash val="solid"/>
          </a:ln>
        </p:spPr>
      </p:sp>
      <p:pic>
        <p:nvPicPr>
          <p:cNvPr id="19" name="Image 3" descr="/home/claude/work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496" y="448056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06256" y="4343400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/ GDPR Ready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6263640"/>
            <a:ext cx="11274552" cy="10973"/>
          </a:xfrm>
          <a:prstGeom prst="rect">
            <a:avLst/>
          </a:prstGeom>
          <a:solidFill>
            <a:srgbClr val="1C4F4B"/>
          </a:solidFill>
          <a:ln/>
        </p:spPr>
      </p:sp>
      <p:sp>
        <p:nvSpPr>
          <p:cNvPr id="22" name="Text 16"/>
          <p:cNvSpPr/>
          <p:nvPr/>
        </p:nvSpPr>
        <p:spPr>
          <a:xfrm>
            <a:off x="457200" y="638251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Engineering &amp; Clinical Review Document   ·   Dentia Health Systems   ·   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 MATRIX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Technology Stack: Frontend &amp; Backend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framework, SDK, and runtime dependency powering the Dentia clinical workspace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74552" cy="12802"/>
          </a:xfrm>
          <a:prstGeom prst="rect">
            <a:avLst/>
          </a:prstGeom>
          <a:solidFill>
            <a:srgbClr val="DCE7E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15877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4592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TOOLS &amp; FRAMEWORKS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21992"/>
            <a:ext cx="310896" cy="310896"/>
          </a:xfrm>
          <a:prstGeom prst="ellipse">
            <a:avLst/>
          </a:prstGeom>
          <a:solidFill>
            <a:srgbClr val="15877A"/>
          </a:solidFill>
          <a:ln/>
        </p:spPr>
      </p:sp>
      <p:pic>
        <p:nvPicPr>
          <p:cNvPr id="9" name="Image 0" descr="/home/claude/work/icons/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815" y="2296607"/>
            <a:ext cx="161666" cy="16166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6112" y="2194560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19.2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reactive UI runtime &amp; concurrent mode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619756"/>
            <a:ext cx="310896" cy="310896"/>
          </a:xfrm>
          <a:prstGeom prst="ellipse">
            <a:avLst/>
          </a:prstGeom>
          <a:solidFill>
            <a:srgbClr val="15877A"/>
          </a:solidFill>
          <a:ln/>
        </p:spPr>
      </p:sp>
      <p:pic>
        <p:nvPicPr>
          <p:cNvPr id="12" name="Image 1" descr="/home/claude/work/icons/bundl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15" y="2694371"/>
            <a:ext cx="161666" cy="1616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96112" y="2592324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8.2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bundler with Rolldown optimizations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310896" cy="310896"/>
          </a:xfrm>
          <a:prstGeom prst="ellipse">
            <a:avLst/>
          </a:prstGeom>
          <a:solidFill>
            <a:srgbClr val="15877A"/>
          </a:solidFill>
          <a:ln/>
        </p:spPr>
      </p:sp>
      <p:pic>
        <p:nvPicPr>
          <p:cNvPr id="15" name="Image 2" descr="/home/claude/work/icons/c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15" y="3092135"/>
            <a:ext cx="161666" cy="16166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6112" y="2990088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v4.3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styling with native CSS @theme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57200" y="3415284"/>
            <a:ext cx="310896" cy="310896"/>
          </a:xfrm>
          <a:prstGeom prst="ellipse">
            <a:avLst/>
          </a:prstGeom>
          <a:solidFill>
            <a:srgbClr val="15877A"/>
          </a:solidFill>
          <a:ln/>
        </p:spPr>
      </p:sp>
      <p:pic>
        <p:nvPicPr>
          <p:cNvPr id="18" name="Image 3" descr="/home/claude/work/icons/cube3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815" y="3489899"/>
            <a:ext cx="161666" cy="16166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6112" y="3387852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&amp; R3F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3D engine (@react-three/fiber &amp; drei)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310896" cy="310896"/>
          </a:xfrm>
          <a:prstGeom prst="ellipse">
            <a:avLst/>
          </a:prstGeom>
          <a:solidFill>
            <a:srgbClr val="15877A"/>
          </a:solidFill>
          <a:ln/>
        </p:spPr>
      </p:sp>
      <p:pic>
        <p:nvPicPr>
          <p:cNvPr id="21" name="Image 4" descr="/home/claude/work/icons/mi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815" y="3887663"/>
            <a:ext cx="161666" cy="16166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96112" y="3785616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browser SpeechRecognition &amp; Synthesis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457200" y="4210812"/>
            <a:ext cx="310896" cy="310896"/>
          </a:xfrm>
          <a:prstGeom prst="ellipse">
            <a:avLst/>
          </a:prstGeom>
          <a:solidFill>
            <a:srgbClr val="15877A"/>
          </a:solidFill>
          <a:ln/>
        </p:spPr>
      </p:sp>
      <p:pic>
        <p:nvPicPr>
          <p:cNvPr id="24" name="Image 5" descr="/home/claude/work/icons/ge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815" y="4285427"/>
            <a:ext cx="161666" cy="16166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96112" y="4183380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REST API for hyper-local sectors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457200" y="4608576"/>
            <a:ext cx="310896" cy="310896"/>
          </a:xfrm>
          <a:prstGeom prst="ellipse">
            <a:avLst/>
          </a:prstGeom>
          <a:solidFill>
            <a:srgbClr val="15877A"/>
          </a:solidFill>
          <a:ln/>
        </p:spPr>
      </p:sp>
      <p:pic>
        <p:nvPicPr>
          <p:cNvPr id="27" name="Image 6" descr="/home/claude/work/icons/ma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815" y="4683191"/>
            <a:ext cx="161666" cy="16166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96112" y="4581144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REST API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 v5 places with fallback token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457200" y="5006340"/>
            <a:ext cx="310896" cy="310896"/>
          </a:xfrm>
          <a:prstGeom prst="ellipse">
            <a:avLst/>
          </a:prstGeom>
          <a:solidFill>
            <a:srgbClr val="15877A"/>
          </a:solidFill>
          <a:ln/>
        </p:spPr>
      </p:sp>
      <p:pic>
        <p:nvPicPr>
          <p:cNvPr id="30" name="Image 7" descr="/home/claude/work/icons/pd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1815" y="5080955"/>
            <a:ext cx="161666" cy="16166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96112" y="4978908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&amp; html2canvas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 client-side SOAP report PDF export</a:t>
            </a:r>
            <a:endParaRPr lang="en-US" sz="1150" dirty="0"/>
          </a:p>
        </p:txBody>
      </p:sp>
      <p:sp>
        <p:nvSpPr>
          <p:cNvPr id="32" name="Shape 22"/>
          <p:cNvSpPr/>
          <p:nvPr/>
        </p:nvSpPr>
        <p:spPr>
          <a:xfrm>
            <a:off x="457200" y="5404104"/>
            <a:ext cx="310896" cy="310896"/>
          </a:xfrm>
          <a:prstGeom prst="ellipse">
            <a:avLst/>
          </a:prstGeom>
          <a:solidFill>
            <a:srgbClr val="15877A"/>
          </a:solidFill>
          <a:ln/>
        </p:spPr>
      </p:sp>
      <p:pic>
        <p:nvPicPr>
          <p:cNvPr id="33" name="Image 8" descr="/home/claude/work/icons/char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815" y="5478719"/>
            <a:ext cx="161666" cy="161666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896112" y="5376672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3.10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clinical stats &amp; revenue charts</a:t>
            </a:r>
            <a:endParaRPr lang="en-US" sz="1150" dirty="0"/>
          </a:p>
        </p:txBody>
      </p:sp>
      <p:sp>
        <p:nvSpPr>
          <p:cNvPr id="35" name="Shape 24"/>
          <p:cNvSpPr/>
          <p:nvPr/>
        </p:nvSpPr>
        <p:spPr>
          <a:xfrm>
            <a:off x="457200" y="5801868"/>
            <a:ext cx="310896" cy="310896"/>
          </a:xfrm>
          <a:prstGeom prst="ellipse">
            <a:avLst/>
          </a:prstGeom>
          <a:solidFill>
            <a:srgbClr val="15877A"/>
          </a:solidFill>
          <a:ln/>
        </p:spPr>
      </p:sp>
      <p:pic>
        <p:nvPicPr>
          <p:cNvPr id="36" name="Image 9" descr="/home/claude/work/icons/icon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815" y="5876483"/>
            <a:ext cx="161666" cy="161666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896112" y="5774436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clinical, tooth &amp; UI icons</a:t>
            </a:r>
            <a:endParaRPr lang="en-US" sz="1150" dirty="0"/>
          </a:p>
        </p:txBody>
      </p:sp>
      <p:sp>
        <p:nvSpPr>
          <p:cNvPr id="38" name="Shape 26"/>
          <p:cNvSpPr/>
          <p:nvPr/>
        </p:nvSpPr>
        <p:spPr>
          <a:xfrm>
            <a:off x="457200" y="6199632"/>
            <a:ext cx="310896" cy="310896"/>
          </a:xfrm>
          <a:prstGeom prst="ellipse">
            <a:avLst/>
          </a:prstGeom>
          <a:solidFill>
            <a:srgbClr val="15877A"/>
          </a:solidFill>
          <a:ln/>
        </p:spPr>
      </p:sp>
      <p:pic>
        <p:nvPicPr>
          <p:cNvPr id="39" name="Image 10" descr="/home/claude/work/icons/lin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815" y="6274247"/>
            <a:ext cx="161666" cy="161666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896112" y="6172200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Oxlint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Rust-based ultra-fast linter for code health</a:t>
            </a:r>
            <a:endParaRPr lang="en-US" sz="1150" dirty="0"/>
          </a:p>
        </p:txBody>
      </p:sp>
      <p:sp>
        <p:nvSpPr>
          <p:cNvPr id="41" name="Shape 28"/>
          <p:cNvSpPr/>
          <p:nvPr/>
        </p:nvSpPr>
        <p:spPr>
          <a:xfrm>
            <a:off x="6080760" y="1645920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0B3B39"/>
          </a:solidFill>
          <a:ln/>
        </p:spPr>
      </p:sp>
      <p:sp>
        <p:nvSpPr>
          <p:cNvPr id="42" name="Text 29"/>
          <p:cNvSpPr/>
          <p:nvPr/>
        </p:nvSpPr>
        <p:spPr>
          <a:xfrm>
            <a:off x="6217920" y="164592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TOOLS &amp; INFRASTRUCTURE</a:t>
            </a:r>
            <a:endParaRPr lang="en-US" sz="1300" dirty="0"/>
          </a:p>
        </p:txBody>
      </p:sp>
      <p:sp>
        <p:nvSpPr>
          <p:cNvPr id="43" name="Shape 30"/>
          <p:cNvSpPr/>
          <p:nvPr/>
        </p:nvSpPr>
        <p:spPr>
          <a:xfrm>
            <a:off x="6080760" y="2221992"/>
            <a:ext cx="310896" cy="310896"/>
          </a:xfrm>
          <a:prstGeom prst="ellipse">
            <a:avLst/>
          </a:prstGeom>
          <a:solidFill>
            <a:srgbClr val="0B3B39"/>
          </a:solidFill>
          <a:ln/>
        </p:spPr>
      </p:sp>
      <p:pic>
        <p:nvPicPr>
          <p:cNvPr id="44" name="Image 11" descr="/home/claude/work/icons/serv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5375" y="2296607"/>
            <a:ext cx="161666" cy="161666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6519672" y="2194560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․NET 10.0 Web API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modern C# REST application</a:t>
            </a:r>
            <a:endParaRPr lang="en-US" sz="1150" dirty="0"/>
          </a:p>
        </p:txBody>
      </p:sp>
      <p:sp>
        <p:nvSpPr>
          <p:cNvPr id="46" name="Shape 32"/>
          <p:cNvSpPr/>
          <p:nvPr/>
        </p:nvSpPr>
        <p:spPr>
          <a:xfrm>
            <a:off x="6080760" y="2619756"/>
            <a:ext cx="310896" cy="310896"/>
          </a:xfrm>
          <a:prstGeom prst="ellipse">
            <a:avLst/>
          </a:prstGeom>
          <a:solidFill>
            <a:srgbClr val="0B3B39"/>
          </a:solidFill>
          <a:ln/>
        </p:spPr>
      </p:sp>
      <p:pic>
        <p:nvPicPr>
          <p:cNvPr id="47" name="Image 12" descr="/home/claude/work/icons/dappe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55375" y="2694371"/>
            <a:ext cx="161666" cy="161666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6519672" y="2592324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 2.1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Micro-ORM for sub-millisecond SQL queries</a:t>
            </a:r>
            <a:endParaRPr lang="en-US" sz="1150" dirty="0"/>
          </a:p>
        </p:txBody>
      </p:sp>
      <p:sp>
        <p:nvSpPr>
          <p:cNvPr id="49" name="Shape 34"/>
          <p:cNvSpPr/>
          <p:nvPr/>
        </p:nvSpPr>
        <p:spPr>
          <a:xfrm>
            <a:off x="6080760" y="3017520"/>
            <a:ext cx="310896" cy="310896"/>
          </a:xfrm>
          <a:prstGeom prst="ellipse">
            <a:avLst/>
          </a:prstGeom>
          <a:solidFill>
            <a:srgbClr val="0B3B39"/>
          </a:solidFill>
          <a:ln/>
        </p:spPr>
      </p:sp>
      <p:pic>
        <p:nvPicPr>
          <p:cNvPr id="50" name="Image 13" descr="/home/claude/work/icons/sq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55375" y="3092135"/>
            <a:ext cx="161666" cy="161666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6519672" y="2990088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SqlClient 7.0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optimized SQL Server database connection</a:t>
            </a:r>
            <a:endParaRPr lang="en-US" sz="1150" dirty="0"/>
          </a:p>
        </p:txBody>
      </p:sp>
      <p:sp>
        <p:nvSpPr>
          <p:cNvPr id="52" name="Shape 36"/>
          <p:cNvSpPr/>
          <p:nvPr/>
        </p:nvSpPr>
        <p:spPr>
          <a:xfrm>
            <a:off x="6080760" y="3415284"/>
            <a:ext cx="310896" cy="310896"/>
          </a:xfrm>
          <a:prstGeom prst="ellipse">
            <a:avLst/>
          </a:prstGeom>
          <a:solidFill>
            <a:srgbClr val="0B3B39"/>
          </a:solidFill>
          <a:ln/>
        </p:spPr>
      </p:sp>
      <p:pic>
        <p:nvPicPr>
          <p:cNvPr id="53" name="Image 14" descr="/home/claude/work/icons/lock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55375" y="3489899"/>
            <a:ext cx="161666" cy="161666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6519672" y="3387852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BCrypt.Net-Next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Salted password hashing (work factor 11)</a:t>
            </a:r>
            <a:endParaRPr lang="en-US" sz="1150" dirty="0"/>
          </a:p>
        </p:txBody>
      </p:sp>
      <p:sp>
        <p:nvSpPr>
          <p:cNvPr id="55" name="Shape 38"/>
          <p:cNvSpPr/>
          <p:nvPr/>
        </p:nvSpPr>
        <p:spPr>
          <a:xfrm>
            <a:off x="6080760" y="3813048"/>
            <a:ext cx="310896" cy="310896"/>
          </a:xfrm>
          <a:prstGeom prst="ellipse">
            <a:avLst/>
          </a:prstGeom>
          <a:solidFill>
            <a:srgbClr val="0B3B39"/>
          </a:solidFill>
          <a:ln/>
        </p:spPr>
      </p:sp>
      <p:pic>
        <p:nvPicPr>
          <p:cNvPr id="56" name="Image 15" descr="/home/claude/work/icons/swagger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55375" y="3887663"/>
            <a:ext cx="161666" cy="161666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6519672" y="3785616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/ Swagger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API documentation &amp; schema explorer</a:t>
            </a:r>
            <a:endParaRPr lang="en-US" sz="1150" dirty="0"/>
          </a:p>
        </p:txBody>
      </p:sp>
      <p:sp>
        <p:nvSpPr>
          <p:cNvPr id="58" name="Shape 40"/>
          <p:cNvSpPr/>
          <p:nvPr/>
        </p:nvSpPr>
        <p:spPr>
          <a:xfrm>
            <a:off x="6080760" y="4210812"/>
            <a:ext cx="310896" cy="310896"/>
          </a:xfrm>
          <a:prstGeom prst="ellipse">
            <a:avLst/>
          </a:prstGeom>
          <a:solidFill>
            <a:srgbClr val="0B3B39"/>
          </a:solidFill>
          <a:ln/>
        </p:spPr>
      </p:sp>
      <p:pic>
        <p:nvPicPr>
          <p:cNvPr id="59" name="Image 16" descr="/home/claude/work/icons/ai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55375" y="4285427"/>
            <a:ext cx="161666" cy="161666"/>
          </a:xfrm>
          <a:prstGeom prst="rect">
            <a:avLst/>
          </a:prstGeom>
        </p:spPr>
      </p:pic>
      <p:sp>
        <p:nvSpPr>
          <p:cNvPr id="60" name="Text 41"/>
          <p:cNvSpPr/>
          <p:nvPr/>
        </p:nvSpPr>
        <p:spPr>
          <a:xfrm>
            <a:off x="6519672" y="4183380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AI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Google.Cloud.AIPlatform.V1 (Gemini 1.5 Scribe)</a:t>
            </a:r>
            <a:endParaRPr lang="en-US" sz="1150" dirty="0"/>
          </a:p>
        </p:txBody>
      </p:sp>
      <p:sp>
        <p:nvSpPr>
          <p:cNvPr id="61" name="Shape 42"/>
          <p:cNvSpPr/>
          <p:nvPr/>
        </p:nvSpPr>
        <p:spPr>
          <a:xfrm>
            <a:off x="6080760" y="4608576"/>
            <a:ext cx="310896" cy="310896"/>
          </a:xfrm>
          <a:prstGeom prst="ellipse">
            <a:avLst/>
          </a:prstGeom>
          <a:solidFill>
            <a:srgbClr val="0B3B39"/>
          </a:solidFill>
          <a:ln/>
        </p:spPr>
      </p:sp>
      <p:pic>
        <p:nvPicPr>
          <p:cNvPr id="62" name="Image 17" descr="/home/claude/work/icons/groq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55375" y="4683191"/>
            <a:ext cx="161666" cy="161666"/>
          </a:xfrm>
          <a:prstGeom prst="rect">
            <a:avLst/>
          </a:prstGeom>
        </p:spPr>
      </p:pic>
      <p:sp>
        <p:nvSpPr>
          <p:cNvPr id="63" name="Text 43"/>
          <p:cNvSpPr/>
          <p:nvPr/>
        </p:nvSpPr>
        <p:spPr>
          <a:xfrm>
            <a:off x="6519672" y="4581144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LPU SDK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Llama-3-70b / Mixtral inference</a:t>
            </a:r>
            <a:endParaRPr lang="en-US" sz="1150" dirty="0"/>
          </a:p>
        </p:txBody>
      </p:sp>
      <p:sp>
        <p:nvSpPr>
          <p:cNvPr id="64" name="Shape 44"/>
          <p:cNvSpPr/>
          <p:nvPr/>
        </p:nvSpPr>
        <p:spPr>
          <a:xfrm>
            <a:off x="6080760" y="5006340"/>
            <a:ext cx="310896" cy="310896"/>
          </a:xfrm>
          <a:prstGeom prst="ellipse">
            <a:avLst/>
          </a:prstGeom>
          <a:solidFill>
            <a:srgbClr val="0B3B39"/>
          </a:solidFill>
          <a:ln/>
        </p:spPr>
      </p:sp>
      <p:pic>
        <p:nvPicPr>
          <p:cNvPr id="65" name="Image 18" descr="/home/claude/work/icons/offlin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55375" y="5080955"/>
            <a:ext cx="161666" cy="161666"/>
          </a:xfrm>
          <a:prstGeom prst="rect">
            <a:avLst/>
          </a:prstGeom>
        </p:spPr>
      </p:pic>
      <p:sp>
        <p:nvSpPr>
          <p:cNvPr id="66" name="Text 45"/>
          <p:cNvSpPr/>
          <p:nvPr/>
        </p:nvSpPr>
        <p:spPr>
          <a:xfrm>
            <a:off x="6519672" y="4978908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Local LLM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Ollama failover for hospital LANs</a:t>
            </a:r>
            <a:endParaRPr lang="en-US" sz="1150" dirty="0"/>
          </a:p>
        </p:txBody>
      </p:sp>
      <p:sp>
        <p:nvSpPr>
          <p:cNvPr id="67" name="Shape 46"/>
          <p:cNvSpPr/>
          <p:nvPr/>
        </p:nvSpPr>
        <p:spPr>
          <a:xfrm>
            <a:off x="6080760" y="5404104"/>
            <a:ext cx="310896" cy="310896"/>
          </a:xfrm>
          <a:prstGeom prst="ellipse">
            <a:avLst/>
          </a:prstGeom>
          <a:solidFill>
            <a:srgbClr val="0B3B39"/>
          </a:solidFill>
          <a:ln/>
        </p:spPr>
      </p:sp>
      <p:pic>
        <p:nvPicPr>
          <p:cNvPr id="68" name="Image 19" descr="/home/claude/work/icons/sql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55375" y="5478719"/>
            <a:ext cx="161666" cy="161666"/>
          </a:xfrm>
          <a:prstGeom prst="rect">
            <a:avLst/>
          </a:prstGeom>
        </p:spPr>
      </p:pic>
      <p:sp>
        <p:nvSpPr>
          <p:cNvPr id="69" name="Text 47"/>
          <p:cNvSpPr/>
          <p:nvPr/>
        </p:nvSpPr>
        <p:spPr>
          <a:xfrm>
            <a:off x="6519672" y="5376672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Enterprise with dentist.* schema</a:t>
            </a:r>
            <a:endParaRPr lang="en-US" sz="1150" dirty="0"/>
          </a:p>
        </p:txBody>
      </p:sp>
      <p:sp>
        <p:nvSpPr>
          <p:cNvPr id="70" name="Shape 48"/>
          <p:cNvSpPr/>
          <p:nvPr/>
        </p:nvSpPr>
        <p:spPr>
          <a:xfrm>
            <a:off x="6080760" y="5801868"/>
            <a:ext cx="310896" cy="310896"/>
          </a:xfrm>
          <a:prstGeom prst="ellipse">
            <a:avLst/>
          </a:prstGeom>
          <a:solidFill>
            <a:srgbClr val="0B3B39"/>
          </a:solidFill>
          <a:ln/>
        </p:spPr>
      </p:sp>
      <p:pic>
        <p:nvPicPr>
          <p:cNvPr id="71" name="Image 20" descr="/home/claude/work/icons/stream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55375" y="5876483"/>
            <a:ext cx="161666" cy="161666"/>
          </a:xfrm>
          <a:prstGeom prst="rect">
            <a:avLst/>
          </a:prstGeom>
        </p:spPr>
      </p:pic>
      <p:sp>
        <p:nvSpPr>
          <p:cNvPr id="72" name="Text 49"/>
          <p:cNvSpPr/>
          <p:nvPr/>
        </p:nvSpPr>
        <p:spPr>
          <a:xfrm>
            <a:off x="6519672" y="5774436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Streaming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audio file chunk ingestion pipeline</a:t>
            </a:r>
            <a:endParaRPr lang="en-US" sz="1150" dirty="0"/>
          </a:p>
        </p:txBody>
      </p:sp>
      <p:sp>
        <p:nvSpPr>
          <p:cNvPr id="73" name="Shape 50"/>
          <p:cNvSpPr/>
          <p:nvPr/>
        </p:nvSpPr>
        <p:spPr>
          <a:xfrm>
            <a:off x="6080760" y="6199632"/>
            <a:ext cx="310896" cy="310896"/>
          </a:xfrm>
          <a:prstGeom prst="ellipse">
            <a:avLst/>
          </a:prstGeom>
          <a:solidFill>
            <a:srgbClr val="0B3B39"/>
          </a:solidFill>
          <a:ln/>
        </p:spPr>
      </p:sp>
      <p:pic>
        <p:nvPicPr>
          <p:cNvPr id="74" name="Image 21" descr="/home/claude/work/icons/crypto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55375" y="6274247"/>
            <a:ext cx="161666" cy="161666"/>
          </a:xfrm>
          <a:prstGeom prst="rect">
            <a:avLst/>
          </a:prstGeom>
        </p:spPr>
      </p:pic>
      <p:sp>
        <p:nvSpPr>
          <p:cNvPr id="75" name="Text 51"/>
          <p:cNvSpPr/>
          <p:nvPr/>
        </p:nvSpPr>
        <p:spPr>
          <a:xfrm>
            <a:off x="6519672" y="6172200"/>
            <a:ext cx="493776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Providers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System.Security.Cryptography SHA-256 hashes</a:t>
            </a:r>
            <a:endParaRPr lang="en-US" sz="1150" dirty="0"/>
          </a:p>
        </p:txBody>
      </p:sp>
      <p:sp>
        <p:nvSpPr>
          <p:cNvPr id="76" name="Text 52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Master Architecture Reference</a:t>
            </a:r>
            <a:endParaRPr lang="en-US" sz="900" dirty="0"/>
          </a:p>
        </p:txBody>
      </p:sp>
      <p:sp>
        <p:nvSpPr>
          <p:cNvPr id="77" name="Text 53"/>
          <p:cNvSpPr/>
          <p:nvPr/>
        </p:nvSpPr>
        <p:spPr>
          <a:xfrm>
            <a:off x="7802575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HEALTH SYSTEMS 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SKILLS INVENTORY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AI &amp; System Skills Catalog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built-in capabilities that power the ambient clinical workflow, end to 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74552" cy="12802"/>
          </a:xfrm>
          <a:prstGeom prst="rect">
            <a:avLst/>
          </a:prstGeom>
          <a:solidFill>
            <a:srgbClr val="DCE7E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362407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76200" dist="25400" dir="5400000">
              <a:srgbClr val="6B858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856232"/>
            <a:ext cx="402336" cy="402336"/>
          </a:xfrm>
          <a:prstGeom prst="ellipse">
            <a:avLst/>
          </a:prstGeom>
          <a:solidFill>
            <a:srgbClr val="15877A"/>
          </a:solidFill>
          <a:ln/>
        </p:spPr>
      </p:sp>
      <p:pic>
        <p:nvPicPr>
          <p:cNvPr id="8" name="Image 0" descr="/home/claude/work/icons/scri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353" y="1952793"/>
            <a:ext cx="209215" cy="2092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837944"/>
            <a:ext cx="2801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5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5568" y="2020824"/>
            <a:ext cx="2801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SOAP Extraction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" y="2441448"/>
            <a:ext cx="32948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unstructured operatory speech into 8-section dental SOAP notes — Chief Complaint, HPI, Dental History, Objective, Assessment, Treatment, Prescriptions, Prognosis.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4282440" y="1691640"/>
            <a:ext cx="362407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76200" dist="25400" dir="5400000">
              <a:srgbClr val="6B858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47032" y="1856232"/>
            <a:ext cx="402336" cy="402336"/>
          </a:xfrm>
          <a:prstGeom prst="ellipse">
            <a:avLst/>
          </a:prstGeom>
          <a:solidFill>
            <a:srgbClr val="0B3B39"/>
          </a:solidFill>
          <a:ln/>
        </p:spPr>
      </p:sp>
      <p:pic>
        <p:nvPicPr>
          <p:cNvPr id="14" name="Image 1" descr="/home/claude/work/icons/vo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593" y="1952793"/>
            <a:ext cx="209215" cy="20921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40808" y="1837944"/>
            <a:ext cx="2801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B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940808" y="2020824"/>
            <a:ext cx="2801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Audio Dictation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447032" y="2441448"/>
            <a:ext cx="32948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ambient consultation listening with live transcript generation, plus audible confirmation via aiVoice.speakDoctorSuccess and error guards.</a:t>
            </a:r>
            <a:endParaRPr lang="en-US" sz="960" dirty="0"/>
          </a:p>
        </p:txBody>
      </p:sp>
      <p:sp>
        <p:nvSpPr>
          <p:cNvPr id="18" name="Shape 14"/>
          <p:cNvSpPr/>
          <p:nvPr/>
        </p:nvSpPr>
        <p:spPr>
          <a:xfrm>
            <a:off x="8107680" y="1691640"/>
            <a:ext cx="362407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76200" dist="25400" dir="5400000">
              <a:srgbClr val="6B858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72272" y="1856232"/>
            <a:ext cx="402336" cy="402336"/>
          </a:xfrm>
          <a:prstGeom prst="ellipse">
            <a:avLst/>
          </a:prstGeom>
          <a:solidFill>
            <a:srgbClr val="5B4B9A"/>
          </a:solidFill>
          <a:ln/>
        </p:spPr>
      </p:sp>
      <p:pic>
        <p:nvPicPr>
          <p:cNvPr id="20" name="Image 2" descr="/home/claude/work/icons/odonto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833" y="1952793"/>
            <a:ext cx="209215" cy="20921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766048" y="1837944"/>
            <a:ext cx="2801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3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766048" y="2020824"/>
            <a:ext cx="2801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Odontogram Mapping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272272" y="2441448"/>
            <a:ext cx="32948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clinical findings (Caries, Composite, Amalgam, Crown, Root Canal, Extraction, Implant) into dynamic WebGL shaders on 32 tooth meshes.</a:t>
            </a:r>
            <a:endParaRPr lang="en-US" sz="960" dirty="0"/>
          </a:p>
        </p:txBody>
      </p:sp>
      <p:sp>
        <p:nvSpPr>
          <p:cNvPr id="24" name="Shape 19"/>
          <p:cNvSpPr/>
          <p:nvPr/>
        </p:nvSpPr>
        <p:spPr>
          <a:xfrm>
            <a:off x="457200" y="3374136"/>
            <a:ext cx="362407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76200" dist="25400" dir="5400000">
              <a:srgbClr val="6B858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21792" y="3538728"/>
            <a:ext cx="402336" cy="402336"/>
          </a:xfrm>
          <a:prstGeom prst="ellipse">
            <a:avLst/>
          </a:prstGeom>
          <a:solidFill>
            <a:srgbClr val="3E5C58"/>
          </a:solidFill>
          <a:ln/>
        </p:spPr>
      </p:sp>
      <p:pic>
        <p:nvPicPr>
          <p:cNvPr id="26" name="Image 3" descr="/home/claude/work/icons/ge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53" y="3635289"/>
            <a:ext cx="209215" cy="20921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15568" y="3520440"/>
            <a:ext cx="2801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4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15568" y="3703320"/>
            <a:ext cx="2801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Geocoding Autocomplete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21792" y="4123944"/>
            <a:ext cx="32948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Auto-resolves CDA sectors (F-7, G-9, Gulberg) and NZ suburbs; auto-populates Address, City, and Postcode with animated sync confirmation.</a:t>
            </a:r>
            <a:endParaRPr lang="en-US" sz="960" dirty="0"/>
          </a:p>
        </p:txBody>
      </p:sp>
      <p:sp>
        <p:nvSpPr>
          <p:cNvPr id="30" name="Shape 24"/>
          <p:cNvSpPr/>
          <p:nvPr/>
        </p:nvSpPr>
        <p:spPr>
          <a:xfrm>
            <a:off x="4282440" y="3374136"/>
            <a:ext cx="362407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76200" dist="25400" dir="5400000">
              <a:srgbClr val="6B8580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447032" y="3538728"/>
            <a:ext cx="402336" cy="402336"/>
          </a:xfrm>
          <a:prstGeom prst="ellipse">
            <a:avLst/>
          </a:prstGeom>
          <a:solidFill>
            <a:srgbClr val="C9862F"/>
          </a:solidFill>
          <a:ln/>
        </p:spPr>
      </p:sp>
      <p:pic>
        <p:nvPicPr>
          <p:cNvPr id="32" name="Image 4" descr="/home/claude/work/icons/sm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593" y="3635289"/>
            <a:ext cx="209215" cy="20921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940808" y="3520440"/>
            <a:ext cx="2801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5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4940808" y="3703320"/>
            <a:ext cx="2801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Dentition Arch Adaptation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4447032" y="4123944"/>
            <a:ext cx="32948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switches dental chart by patient age: Adult (1-32 Universal / 11-48 FDI), Pediatric (A-T Primary), or Mixed Dentition (6-12 years).</a:t>
            </a:r>
            <a:endParaRPr lang="en-US" sz="960" dirty="0"/>
          </a:p>
        </p:txBody>
      </p:sp>
      <p:sp>
        <p:nvSpPr>
          <p:cNvPr id="36" name="Shape 29"/>
          <p:cNvSpPr/>
          <p:nvPr/>
        </p:nvSpPr>
        <p:spPr>
          <a:xfrm>
            <a:off x="8107680" y="3374136"/>
            <a:ext cx="362407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76200" dist="25400" dir="5400000">
              <a:srgbClr val="6B8580">
                <a:alpha val="1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272272" y="3538728"/>
            <a:ext cx="402336" cy="402336"/>
          </a:xfrm>
          <a:prstGeom prst="ellipse">
            <a:avLst/>
          </a:prstGeom>
          <a:solidFill>
            <a:srgbClr val="E14F3D"/>
          </a:solidFill>
          <a:ln/>
        </p:spPr>
      </p:sp>
      <p:pic>
        <p:nvPicPr>
          <p:cNvPr id="38" name="Image 5" descr="/home/claude/work/icons/allerg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833" y="3635289"/>
            <a:ext cx="209215" cy="209215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766048" y="3520440"/>
            <a:ext cx="2801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1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6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8766048" y="3703320"/>
            <a:ext cx="2801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Contraindication &amp; Allergy Safety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8272272" y="4123944"/>
            <a:ext cx="32948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prescribed drugs against allergy history and generates automatic severity alerts requiring mandatory doctor sign-off.</a:t>
            </a:r>
            <a:endParaRPr lang="en-US" sz="960" dirty="0"/>
          </a:p>
        </p:txBody>
      </p:sp>
      <p:sp>
        <p:nvSpPr>
          <p:cNvPr id="42" name="Shape 34"/>
          <p:cNvSpPr/>
          <p:nvPr/>
        </p:nvSpPr>
        <p:spPr>
          <a:xfrm>
            <a:off x="457200" y="5056632"/>
            <a:ext cx="362407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76200" dist="25400" dir="5400000">
              <a:srgbClr val="6B8580">
                <a:alpha val="18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21792" y="5221224"/>
            <a:ext cx="402336" cy="402336"/>
          </a:xfrm>
          <a:prstGeom prst="ellipse">
            <a:avLst/>
          </a:prstGeom>
          <a:solidFill>
            <a:srgbClr val="15877A"/>
          </a:solidFill>
          <a:ln/>
        </p:spPr>
      </p:sp>
      <p:pic>
        <p:nvPicPr>
          <p:cNvPr id="44" name="Image 6" descr="/home/claude/work/icons/auditlo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353" y="5317785"/>
            <a:ext cx="209215" cy="209215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115568" y="5202936"/>
            <a:ext cx="2801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5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7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1115568" y="5385816"/>
            <a:ext cx="2801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Non-Repudiation Audit</a:t>
            </a:r>
            <a:endParaRPr lang="en-US" sz="1300" dirty="0"/>
          </a:p>
        </p:txBody>
      </p:sp>
      <p:sp>
        <p:nvSpPr>
          <p:cNvPr id="47" name="Text 38"/>
          <p:cNvSpPr/>
          <p:nvPr/>
        </p:nvSpPr>
        <p:spPr>
          <a:xfrm>
            <a:off x="621792" y="5806440"/>
            <a:ext cx="32948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SHA-256 integrity hashes for every prompt input and LLM output to ensure legal HIPAA non-repudiation and prevent tampering.</a:t>
            </a:r>
            <a:endParaRPr lang="en-US" sz="960" dirty="0"/>
          </a:p>
        </p:txBody>
      </p:sp>
      <p:sp>
        <p:nvSpPr>
          <p:cNvPr id="48" name="Shape 39"/>
          <p:cNvSpPr/>
          <p:nvPr/>
        </p:nvSpPr>
        <p:spPr>
          <a:xfrm>
            <a:off x="4282440" y="5056632"/>
            <a:ext cx="362407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76200" dist="25400" dir="5400000">
              <a:srgbClr val="6B8580">
                <a:alpha val="18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4447032" y="5221224"/>
            <a:ext cx="402336" cy="402336"/>
          </a:xfrm>
          <a:prstGeom prst="ellipse">
            <a:avLst/>
          </a:prstGeom>
          <a:solidFill>
            <a:srgbClr val="0B3B39"/>
          </a:solidFill>
          <a:ln/>
        </p:spPr>
      </p:sp>
      <p:pic>
        <p:nvPicPr>
          <p:cNvPr id="50" name="Image 7" descr="/home/claude/work/icons/failov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3593" y="5317785"/>
            <a:ext cx="209215" cy="209215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4940808" y="5202936"/>
            <a:ext cx="2801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B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8</a:t>
            </a:r>
            <a:endParaRPr lang="en-US" sz="900" dirty="0"/>
          </a:p>
        </p:txBody>
      </p:sp>
      <p:sp>
        <p:nvSpPr>
          <p:cNvPr id="52" name="Text 42"/>
          <p:cNvSpPr/>
          <p:nvPr/>
        </p:nvSpPr>
        <p:spPr>
          <a:xfrm>
            <a:off x="4940808" y="5385816"/>
            <a:ext cx="2801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Multi-Tier Offline Failover</a:t>
            </a:r>
            <a:endParaRPr lang="en-US" sz="1300" dirty="0"/>
          </a:p>
        </p:txBody>
      </p:sp>
      <p:sp>
        <p:nvSpPr>
          <p:cNvPr id="53" name="Text 43"/>
          <p:cNvSpPr/>
          <p:nvPr/>
        </p:nvSpPr>
        <p:spPr>
          <a:xfrm>
            <a:off x="4447032" y="5806440"/>
            <a:ext cx="32948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3-tier routing — Vertex AI Gemini 1.5 Flash, then Groq LPU Llama-3-70B, then an on-demand local LLM for fully offline hospital LANs.</a:t>
            </a:r>
            <a:endParaRPr lang="en-US" sz="960" dirty="0"/>
          </a:p>
        </p:txBody>
      </p:sp>
      <p:sp>
        <p:nvSpPr>
          <p:cNvPr id="54" name="Shape 44"/>
          <p:cNvSpPr/>
          <p:nvPr/>
        </p:nvSpPr>
        <p:spPr>
          <a:xfrm>
            <a:off x="8107680" y="5056632"/>
            <a:ext cx="362407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76200" dist="25400" dir="5400000">
              <a:srgbClr val="6B8580">
                <a:alpha val="18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8272272" y="5221224"/>
            <a:ext cx="402336" cy="402336"/>
          </a:xfrm>
          <a:prstGeom prst="ellipse">
            <a:avLst/>
          </a:prstGeom>
          <a:solidFill>
            <a:srgbClr val="5B4B9A"/>
          </a:solidFill>
          <a:ln/>
        </p:spPr>
      </p:sp>
      <p:pic>
        <p:nvPicPr>
          <p:cNvPr id="56" name="Image 8" descr="/home/claude/work/icons/repor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8833" y="5317785"/>
            <a:ext cx="209215" cy="209215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8766048" y="5202936"/>
            <a:ext cx="2801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9</a:t>
            </a:r>
            <a:endParaRPr lang="en-US" sz="900" dirty="0"/>
          </a:p>
        </p:txBody>
      </p:sp>
      <p:sp>
        <p:nvSpPr>
          <p:cNvPr id="58" name="Text 47"/>
          <p:cNvSpPr/>
          <p:nvPr/>
        </p:nvSpPr>
        <p:spPr>
          <a:xfrm>
            <a:off x="8766048" y="5385816"/>
            <a:ext cx="2801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Signed PDF Reporting</a:t>
            </a:r>
            <a:endParaRPr lang="en-US" sz="1300" dirty="0"/>
          </a:p>
        </p:txBody>
      </p:sp>
      <p:sp>
        <p:nvSpPr>
          <p:cNvPr id="59" name="Text 48"/>
          <p:cNvSpPr/>
          <p:nvPr/>
        </p:nvSpPr>
        <p:spPr>
          <a:xfrm>
            <a:off x="8272272" y="5806440"/>
            <a:ext cx="329488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patient history, jaw diagrams, condition summaries, and clinic branding into a printable multi-page PDF via jsPDF &amp; html2canvas.</a:t>
            </a:r>
            <a:endParaRPr lang="en-US" sz="960" dirty="0"/>
          </a:p>
        </p:txBody>
      </p:sp>
      <p:sp>
        <p:nvSpPr>
          <p:cNvPr id="60" name="Text 49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Master Architecture Reference</a:t>
            </a:r>
            <a:endParaRPr lang="en-US" sz="900" dirty="0"/>
          </a:p>
        </p:txBody>
      </p:sp>
      <p:sp>
        <p:nvSpPr>
          <p:cNvPr id="61" name="Text 50"/>
          <p:cNvSpPr/>
          <p:nvPr/>
        </p:nvSpPr>
        <p:spPr>
          <a:xfrm>
            <a:off x="7802575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HEALTH SYSTEMS 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ARCHITECTURE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Data Flow: Patient-Provider Interface (PPI)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operatory consultation · ambient voice scribing · 3D odontogram sync · dual geocoding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74552" cy="12802"/>
          </a:xfrm>
          <a:prstGeom prst="rect">
            <a:avLst/>
          </a:prstGeom>
          <a:solidFill>
            <a:srgbClr val="DCE7E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37360"/>
            <a:ext cx="265404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1587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2654046" cy="457200"/>
          </a:xfrm>
          <a:prstGeom prst="roundRect">
            <a:avLst>
              <a:gd name="adj" fmla="val 16000"/>
            </a:avLst>
          </a:prstGeom>
          <a:solidFill>
            <a:srgbClr val="15877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993392"/>
            <a:ext cx="2654046" cy="201168"/>
          </a:xfrm>
          <a:prstGeom prst="rect">
            <a:avLst/>
          </a:prstGeom>
          <a:solidFill>
            <a:srgbClr val="15877A"/>
          </a:solidFill>
          <a:ln/>
        </p:spPr>
      </p:sp>
      <p:pic>
        <p:nvPicPr>
          <p:cNvPr id="9" name="Image 0" descr="/home/claude/work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288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737360"/>
            <a:ext cx="21054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Intake &amp; Registration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03504" y="2322576"/>
            <a:ext cx="2361438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demographics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geocoding: OSM + Mapbox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Dentition arch classification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3129534" y="2638044"/>
            <a:ext cx="182880" cy="164592"/>
          </a:xfrm>
          <a:prstGeom prst="rightArrow">
            <a:avLst/>
          </a:prstGeom>
          <a:solidFill>
            <a:srgbClr val="22C3A6"/>
          </a:solidFill>
          <a:ln/>
        </p:spPr>
      </p:sp>
      <p:sp>
        <p:nvSpPr>
          <p:cNvPr id="13" name="Shape 10"/>
          <p:cNvSpPr/>
          <p:nvPr/>
        </p:nvSpPr>
        <p:spPr>
          <a:xfrm>
            <a:off x="3330702" y="1737360"/>
            <a:ext cx="265404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0B3B3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30702" y="1737360"/>
            <a:ext cx="2654046" cy="457200"/>
          </a:xfrm>
          <a:prstGeom prst="roundRect">
            <a:avLst>
              <a:gd name="adj" fmla="val 16000"/>
            </a:avLst>
          </a:prstGeom>
          <a:solidFill>
            <a:srgbClr val="0B3B39"/>
          </a:solidFill>
          <a:ln/>
        </p:spPr>
      </p:sp>
      <p:sp>
        <p:nvSpPr>
          <p:cNvPr id="15" name="Shape 12"/>
          <p:cNvSpPr/>
          <p:nvPr/>
        </p:nvSpPr>
        <p:spPr>
          <a:xfrm>
            <a:off x="3330702" y="1993392"/>
            <a:ext cx="2654046" cy="201168"/>
          </a:xfrm>
          <a:prstGeom prst="rect">
            <a:avLst/>
          </a:prstGeom>
          <a:solidFill>
            <a:srgbClr val="0B3B39"/>
          </a:solidFill>
          <a:ln/>
        </p:spPr>
      </p:sp>
      <p:pic>
        <p:nvPicPr>
          <p:cNvPr id="16" name="Image 1" descr="/home/claude/work/icons/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574" y="18288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87902" y="1737360"/>
            <a:ext cx="21054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Ambient Voice Consult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3477006" y="2322576"/>
            <a:ext cx="2361438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 mic audio capture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recognition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audio checksum</a:t>
            </a:r>
            <a:endParaRPr lang="en-US" sz="960" dirty="0"/>
          </a:p>
        </p:txBody>
      </p:sp>
      <p:sp>
        <p:nvSpPr>
          <p:cNvPr id="19" name="Shape 15"/>
          <p:cNvSpPr/>
          <p:nvPr/>
        </p:nvSpPr>
        <p:spPr>
          <a:xfrm>
            <a:off x="6003036" y="2638044"/>
            <a:ext cx="182880" cy="164592"/>
          </a:xfrm>
          <a:prstGeom prst="rightArrow">
            <a:avLst/>
          </a:prstGeom>
          <a:solidFill>
            <a:srgbClr val="22C3A6"/>
          </a:solidFill>
          <a:ln/>
        </p:spPr>
      </p:sp>
      <p:sp>
        <p:nvSpPr>
          <p:cNvPr id="20" name="Shape 16"/>
          <p:cNvSpPr/>
          <p:nvPr/>
        </p:nvSpPr>
        <p:spPr>
          <a:xfrm>
            <a:off x="6204204" y="1737360"/>
            <a:ext cx="265404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5B4B9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04204" y="1737360"/>
            <a:ext cx="2654046" cy="457200"/>
          </a:xfrm>
          <a:prstGeom prst="roundRect">
            <a:avLst>
              <a:gd name="adj" fmla="val 16000"/>
            </a:avLst>
          </a:prstGeom>
          <a:solidFill>
            <a:srgbClr val="5B4B9A"/>
          </a:solidFill>
          <a:ln/>
        </p:spPr>
      </p:sp>
      <p:sp>
        <p:nvSpPr>
          <p:cNvPr id="22" name="Shape 18"/>
          <p:cNvSpPr/>
          <p:nvPr/>
        </p:nvSpPr>
        <p:spPr>
          <a:xfrm>
            <a:off x="6204204" y="1993392"/>
            <a:ext cx="2654046" cy="201168"/>
          </a:xfrm>
          <a:prstGeom prst="rect">
            <a:avLst/>
          </a:prstGeom>
          <a:solidFill>
            <a:srgbClr val="5B4B9A"/>
          </a:solidFill>
          <a:ln/>
        </p:spPr>
      </p:sp>
      <p:pic>
        <p:nvPicPr>
          <p:cNvPr id="23" name="Image 2" descr="/home/claude/work/icons/a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182880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61404" y="1737360"/>
            <a:ext cx="21054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Multi-Tier AI Scribe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350508" y="2322576"/>
            <a:ext cx="2361438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Gemini 1.5 / Groq LPU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8-section SOAP synthesis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 / Universal tooth mapping</a:t>
            </a:r>
            <a:endParaRPr lang="en-US" sz="960" dirty="0"/>
          </a:p>
        </p:txBody>
      </p:sp>
      <p:sp>
        <p:nvSpPr>
          <p:cNvPr id="26" name="Shape 21"/>
          <p:cNvSpPr/>
          <p:nvPr/>
        </p:nvSpPr>
        <p:spPr>
          <a:xfrm>
            <a:off x="8876538" y="2638044"/>
            <a:ext cx="182880" cy="164592"/>
          </a:xfrm>
          <a:prstGeom prst="rightArrow">
            <a:avLst/>
          </a:prstGeom>
          <a:solidFill>
            <a:srgbClr val="22C3A6"/>
          </a:solidFill>
          <a:ln/>
        </p:spPr>
      </p:sp>
      <p:sp>
        <p:nvSpPr>
          <p:cNvPr id="27" name="Shape 22"/>
          <p:cNvSpPr/>
          <p:nvPr/>
        </p:nvSpPr>
        <p:spPr>
          <a:xfrm>
            <a:off x="9077706" y="1737360"/>
            <a:ext cx="265404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9050">
            <a:solidFill>
              <a:srgbClr val="C9862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077706" y="1737360"/>
            <a:ext cx="2654046" cy="457200"/>
          </a:xfrm>
          <a:prstGeom prst="roundRect">
            <a:avLst>
              <a:gd name="adj" fmla="val 16000"/>
            </a:avLst>
          </a:prstGeom>
          <a:solidFill>
            <a:srgbClr val="C9862F"/>
          </a:solidFill>
          <a:ln/>
        </p:spPr>
      </p:sp>
      <p:sp>
        <p:nvSpPr>
          <p:cNvPr id="29" name="Shape 24"/>
          <p:cNvSpPr/>
          <p:nvPr/>
        </p:nvSpPr>
        <p:spPr>
          <a:xfrm>
            <a:off x="9077706" y="1993392"/>
            <a:ext cx="2654046" cy="201168"/>
          </a:xfrm>
          <a:prstGeom prst="rect">
            <a:avLst/>
          </a:prstGeom>
          <a:solidFill>
            <a:srgbClr val="C9862F"/>
          </a:solidFill>
          <a:ln/>
        </p:spPr>
      </p:sp>
      <p:pic>
        <p:nvPicPr>
          <p:cNvPr id="30" name="Image 3" descr="/home/claude/work/icons/odonto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6578" y="182880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534906" y="1737360"/>
            <a:ext cx="21054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3D Odontogram Sync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9224010" y="2322576"/>
            <a:ext cx="2361438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+ React Three Fiber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condition shaders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OrbitControls raycast</a:t>
            </a:r>
            <a:endParaRPr lang="en-US" sz="960" dirty="0"/>
          </a:p>
        </p:txBody>
      </p:sp>
      <p:sp>
        <p:nvSpPr>
          <p:cNvPr id="33" name="Shape 27"/>
          <p:cNvSpPr/>
          <p:nvPr/>
        </p:nvSpPr>
        <p:spPr>
          <a:xfrm>
            <a:off x="1784223" y="3703320"/>
            <a:ext cx="914" cy="246888"/>
          </a:xfrm>
          <a:prstGeom prst="line">
            <a:avLst/>
          </a:prstGeom>
          <a:noFill/>
          <a:ln w="19050">
            <a:solidFill>
              <a:srgbClr val="22C3A6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784223" y="3950208"/>
            <a:ext cx="1118265" cy="914"/>
          </a:xfrm>
          <a:prstGeom prst="line">
            <a:avLst/>
          </a:prstGeom>
          <a:noFill/>
          <a:ln w="19050">
            <a:solidFill>
              <a:srgbClr val="22C3A6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2902488" y="3950208"/>
            <a:ext cx="914" cy="256032"/>
          </a:xfrm>
          <a:prstGeom prst="line">
            <a:avLst/>
          </a:prstGeom>
          <a:noFill/>
          <a:ln w="19050">
            <a:solidFill>
              <a:srgbClr val="22C3A6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1416223" y="4206240"/>
            <a:ext cx="29725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3E5C58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416223" y="4206240"/>
            <a:ext cx="2972532" cy="457200"/>
          </a:xfrm>
          <a:prstGeom prst="roundRect">
            <a:avLst>
              <a:gd name="adj" fmla="val 16000"/>
            </a:avLst>
          </a:prstGeom>
          <a:solidFill>
            <a:srgbClr val="3E5C58"/>
          </a:solidFill>
          <a:ln/>
        </p:spPr>
      </p:sp>
      <p:sp>
        <p:nvSpPr>
          <p:cNvPr id="38" name="Shape 32"/>
          <p:cNvSpPr/>
          <p:nvPr/>
        </p:nvSpPr>
        <p:spPr>
          <a:xfrm>
            <a:off x="1416223" y="4462272"/>
            <a:ext cx="2972532" cy="201168"/>
          </a:xfrm>
          <a:prstGeom prst="rect">
            <a:avLst/>
          </a:prstGeom>
          <a:solidFill>
            <a:srgbClr val="3E5C58"/>
          </a:solidFill>
          <a:ln/>
        </p:spPr>
      </p:sp>
      <p:pic>
        <p:nvPicPr>
          <p:cNvPr id="39" name="Image 4" descr="/home/claude/work/icons/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5095" y="4297680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873423" y="4206240"/>
            <a:ext cx="24238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Patient Protected Info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1562527" y="4791456"/>
            <a:ext cx="2679924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+ AES-256 TDE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non-repudiation logs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&amp; de-identification</a:t>
            </a:r>
            <a:endParaRPr lang="en-US" sz="960" dirty="0"/>
          </a:p>
        </p:txBody>
      </p:sp>
      <p:sp>
        <p:nvSpPr>
          <p:cNvPr id="42" name="Shape 35"/>
          <p:cNvSpPr/>
          <p:nvPr/>
        </p:nvSpPr>
        <p:spPr>
          <a:xfrm>
            <a:off x="7531227" y="3703320"/>
            <a:ext cx="914" cy="246888"/>
          </a:xfrm>
          <a:prstGeom prst="line">
            <a:avLst/>
          </a:prstGeom>
          <a:noFill/>
          <a:ln w="19050">
            <a:solidFill>
              <a:srgbClr val="22C3A6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094476" y="3950208"/>
            <a:ext cx="1436751" cy="914"/>
          </a:xfrm>
          <a:prstGeom prst="line">
            <a:avLst/>
          </a:prstGeom>
          <a:noFill/>
          <a:ln w="19050">
            <a:solidFill>
              <a:srgbClr val="22C3A6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6094476" y="3950208"/>
            <a:ext cx="914" cy="256032"/>
          </a:xfrm>
          <a:prstGeom prst="line">
            <a:avLst/>
          </a:prstGeom>
          <a:noFill/>
          <a:ln w="19050">
            <a:solidFill>
              <a:srgbClr val="22C3A6"/>
            </a:solidFill>
            <a:prstDash val="solid"/>
            <a:tailEnd type="triangle"/>
          </a:ln>
        </p:spPr>
      </p:sp>
      <p:sp>
        <p:nvSpPr>
          <p:cNvPr id="45" name="Shape 38"/>
          <p:cNvSpPr/>
          <p:nvPr/>
        </p:nvSpPr>
        <p:spPr>
          <a:xfrm>
            <a:off x="4608210" y="4206240"/>
            <a:ext cx="29725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14F3D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4608210" y="4206240"/>
            <a:ext cx="2972532" cy="457200"/>
          </a:xfrm>
          <a:prstGeom prst="roundRect">
            <a:avLst>
              <a:gd name="adj" fmla="val 16000"/>
            </a:avLst>
          </a:prstGeom>
          <a:solidFill>
            <a:srgbClr val="E14F3D"/>
          </a:solidFill>
          <a:ln/>
        </p:spPr>
      </p:sp>
      <p:sp>
        <p:nvSpPr>
          <p:cNvPr id="47" name="Shape 40"/>
          <p:cNvSpPr/>
          <p:nvPr/>
        </p:nvSpPr>
        <p:spPr>
          <a:xfrm>
            <a:off x="4608210" y="4462272"/>
            <a:ext cx="2972532" cy="201168"/>
          </a:xfrm>
          <a:prstGeom prst="rect">
            <a:avLst/>
          </a:prstGeom>
          <a:solidFill>
            <a:srgbClr val="E14F3D"/>
          </a:solidFill>
          <a:ln/>
        </p:spPr>
      </p:sp>
      <p:pic>
        <p:nvPicPr>
          <p:cNvPr id="48" name="Image 5" descr="/home/claude/work/icons/allerg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082" y="4297680"/>
            <a:ext cx="274320" cy="27432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5065410" y="4206240"/>
            <a:ext cx="24238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Clinical Safety &amp; Warnings</a:t>
            </a:r>
            <a:endParaRPr lang="en-US" sz="1150" dirty="0"/>
          </a:p>
        </p:txBody>
      </p:sp>
      <p:sp>
        <p:nvSpPr>
          <p:cNvPr id="50" name="Text 42"/>
          <p:cNvSpPr/>
          <p:nvPr/>
        </p:nvSpPr>
        <p:spPr>
          <a:xfrm>
            <a:off x="4754514" y="4791456"/>
            <a:ext cx="2679924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contraindication engine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vs. prescription check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doctor resolution</a:t>
            </a:r>
            <a:endParaRPr lang="en-US" sz="960" dirty="0"/>
          </a:p>
        </p:txBody>
      </p:sp>
      <p:sp>
        <p:nvSpPr>
          <p:cNvPr id="51" name="Shape 43"/>
          <p:cNvSpPr/>
          <p:nvPr/>
        </p:nvSpPr>
        <p:spPr>
          <a:xfrm>
            <a:off x="10404729" y="3703320"/>
            <a:ext cx="914" cy="246888"/>
          </a:xfrm>
          <a:prstGeom prst="line">
            <a:avLst/>
          </a:prstGeom>
          <a:noFill/>
          <a:ln w="19050">
            <a:solidFill>
              <a:srgbClr val="22C3A6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9286464" y="3950208"/>
            <a:ext cx="1118265" cy="914"/>
          </a:xfrm>
          <a:prstGeom prst="line">
            <a:avLst/>
          </a:prstGeom>
          <a:noFill/>
          <a:ln w="19050">
            <a:solidFill>
              <a:srgbClr val="22C3A6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9286464" y="3950208"/>
            <a:ext cx="914" cy="256032"/>
          </a:xfrm>
          <a:prstGeom prst="line">
            <a:avLst/>
          </a:prstGeom>
          <a:noFill/>
          <a:ln w="19050">
            <a:solidFill>
              <a:srgbClr val="22C3A6"/>
            </a:solidFill>
            <a:prstDash val="solid"/>
            <a:tailEnd type="triangle"/>
          </a:ln>
        </p:spPr>
      </p:sp>
      <p:sp>
        <p:nvSpPr>
          <p:cNvPr id="54" name="Shape 46"/>
          <p:cNvSpPr/>
          <p:nvPr/>
        </p:nvSpPr>
        <p:spPr>
          <a:xfrm>
            <a:off x="7800198" y="4206240"/>
            <a:ext cx="29725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15877A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7800198" y="4206240"/>
            <a:ext cx="2972532" cy="457200"/>
          </a:xfrm>
          <a:prstGeom prst="roundRect">
            <a:avLst>
              <a:gd name="adj" fmla="val 16000"/>
            </a:avLst>
          </a:prstGeom>
          <a:solidFill>
            <a:srgbClr val="15877A"/>
          </a:solidFill>
          <a:ln/>
        </p:spPr>
      </p:sp>
      <p:sp>
        <p:nvSpPr>
          <p:cNvPr id="56" name="Shape 48"/>
          <p:cNvSpPr/>
          <p:nvPr/>
        </p:nvSpPr>
        <p:spPr>
          <a:xfrm>
            <a:off x="7800198" y="4462272"/>
            <a:ext cx="2972532" cy="201168"/>
          </a:xfrm>
          <a:prstGeom prst="rect">
            <a:avLst/>
          </a:prstGeom>
          <a:solidFill>
            <a:srgbClr val="15877A"/>
          </a:solidFill>
          <a:ln/>
        </p:spPr>
      </p:sp>
      <p:pic>
        <p:nvPicPr>
          <p:cNvPr id="57" name="Image 6" descr="/home/claude/work/icons/repo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9070" y="4297680"/>
            <a:ext cx="274320" cy="274320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8257398" y="4206240"/>
            <a:ext cx="24238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Confirmation &amp; Export</a:t>
            </a:r>
            <a:endParaRPr lang="en-US" sz="1150" dirty="0"/>
          </a:p>
        </p:txBody>
      </p:sp>
      <p:sp>
        <p:nvSpPr>
          <p:cNvPr id="59" name="Text 50"/>
          <p:cNvSpPr/>
          <p:nvPr/>
        </p:nvSpPr>
        <p:spPr>
          <a:xfrm>
            <a:off x="7946502" y="4791456"/>
            <a:ext cx="2679924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synthesis voice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/ html2canvas report</a:t>
            </a:r>
            <a:endParaRPr lang="en-US" sz="96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 SQL Server persistence</a:t>
            </a:r>
            <a:endParaRPr lang="en-US" sz="960" dirty="0"/>
          </a:p>
        </p:txBody>
      </p:sp>
      <p:sp>
        <p:nvSpPr>
          <p:cNvPr id="60" name="Text 5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Master Architecture Reference</a:t>
            </a:r>
            <a:endParaRPr lang="en-US" sz="900" dirty="0"/>
          </a:p>
        </p:txBody>
      </p:sp>
      <p:sp>
        <p:nvSpPr>
          <p:cNvPr id="61" name="Text 52"/>
          <p:cNvSpPr/>
          <p:nvPr/>
        </p:nvSpPr>
        <p:spPr>
          <a:xfrm>
            <a:off x="7802575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HEALTH SYSTEMS 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PATIENT-PROVIDER INTERFACE (PPI)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PPI Works: Live Operatory Workflow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four-phase speech-to-chart pipeline, from intake to a synchronized 3D record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74552" cy="12802"/>
          </a:xfrm>
          <a:prstGeom prst="rect">
            <a:avLst/>
          </a:prstGeom>
          <a:solidFill>
            <a:srgbClr val="DCE7E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37360"/>
            <a:ext cx="2654046" cy="4480560"/>
          </a:xfrm>
          <a:prstGeom prst="roundRect">
            <a:avLst>
              <a:gd name="adj" fmla="val 2756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2654046" cy="960120"/>
          </a:xfrm>
          <a:prstGeom prst="roundRect">
            <a:avLst>
              <a:gd name="adj" fmla="val 7619"/>
            </a:avLst>
          </a:prstGeom>
          <a:solidFill>
            <a:srgbClr val="15877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377440"/>
            <a:ext cx="2654046" cy="320040"/>
          </a:xfrm>
          <a:prstGeom prst="rect">
            <a:avLst/>
          </a:prstGeom>
          <a:solidFill>
            <a:srgbClr val="15877A"/>
          </a:solidFill>
          <a:ln/>
        </p:spPr>
      </p:sp>
      <p:sp>
        <p:nvSpPr>
          <p:cNvPr id="9" name="Shape 7"/>
          <p:cNvSpPr/>
          <p:nvPr/>
        </p:nvSpPr>
        <p:spPr>
          <a:xfrm>
            <a:off x="1528191" y="1883664"/>
            <a:ext cx="512064" cy="512064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10" name="Image 0" descr="/home/claude/work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919" y="199339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450592"/>
            <a:ext cx="265404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3504" y="2816352"/>
            <a:ext cx="23614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Zero-Friction Patient Intake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3520440"/>
            <a:ext cx="228828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opens NewPatientPage with smart country toggle (PK / NZ)</a:t>
            </a:r>
            <a:endParaRPr lang="en-US" sz="960" dirty="0"/>
          </a:p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Dual-engine geocoding auto-completes street, district, postcode</a:t>
            </a:r>
            <a:endParaRPr lang="en-US" sz="960" dirty="0"/>
          </a:p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auto-calculates from DOB, adapting dentition arch to Adult, Pediatric, or Mixed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3129534" y="3867912"/>
            <a:ext cx="182880" cy="219456"/>
          </a:xfrm>
          <a:prstGeom prst="chevron">
            <a:avLst/>
          </a:prstGeom>
          <a:solidFill>
            <a:srgbClr val="22C3A6"/>
          </a:solidFill>
          <a:ln/>
        </p:spPr>
      </p:sp>
      <p:sp>
        <p:nvSpPr>
          <p:cNvPr id="15" name="Shape 12"/>
          <p:cNvSpPr/>
          <p:nvPr/>
        </p:nvSpPr>
        <p:spPr>
          <a:xfrm>
            <a:off x="3330702" y="1737360"/>
            <a:ext cx="2654046" cy="4480560"/>
          </a:xfrm>
          <a:prstGeom prst="roundRect">
            <a:avLst>
              <a:gd name="adj" fmla="val 2756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30702" y="1737360"/>
            <a:ext cx="2654046" cy="960120"/>
          </a:xfrm>
          <a:prstGeom prst="roundRect">
            <a:avLst>
              <a:gd name="adj" fmla="val 7619"/>
            </a:avLst>
          </a:prstGeom>
          <a:solidFill>
            <a:srgbClr val="0B3B39"/>
          </a:solidFill>
          <a:ln/>
        </p:spPr>
      </p:sp>
      <p:sp>
        <p:nvSpPr>
          <p:cNvPr id="17" name="Shape 14"/>
          <p:cNvSpPr/>
          <p:nvPr/>
        </p:nvSpPr>
        <p:spPr>
          <a:xfrm>
            <a:off x="3330702" y="2377440"/>
            <a:ext cx="2654046" cy="320040"/>
          </a:xfrm>
          <a:prstGeom prst="rect">
            <a:avLst/>
          </a:prstGeom>
          <a:solidFill>
            <a:srgbClr val="0B3B39"/>
          </a:solidFill>
          <a:ln/>
        </p:spPr>
      </p:sp>
      <p:sp>
        <p:nvSpPr>
          <p:cNvPr id="18" name="Shape 15"/>
          <p:cNvSpPr/>
          <p:nvPr/>
        </p:nvSpPr>
        <p:spPr>
          <a:xfrm>
            <a:off x="4401693" y="1883664"/>
            <a:ext cx="512064" cy="512064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19" name="Image 1" descr="/home/claude/work/icons/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421" y="1993392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30702" y="2450592"/>
            <a:ext cx="265404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477006" y="2816352"/>
            <a:ext cx="23614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 Voice Scribing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513582" y="3520440"/>
            <a:ext cx="228828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 microphone continuously streams the consultation</a:t>
            </a:r>
            <a:endParaRPr lang="en-US" sz="960" dirty="0"/>
          </a:p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ingested as chunked streams to the .NET 10 API with a SHA-256 checksum</a:t>
            </a:r>
            <a:endParaRPr lang="en-US" sz="960" dirty="0"/>
          </a:p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and backend SpeechToTextService produce raw &amp; cleaned transcripts</a:t>
            </a:r>
            <a:endParaRPr lang="en-US" sz="960" dirty="0"/>
          </a:p>
        </p:txBody>
      </p:sp>
      <p:sp>
        <p:nvSpPr>
          <p:cNvPr id="23" name="Shape 19"/>
          <p:cNvSpPr/>
          <p:nvPr/>
        </p:nvSpPr>
        <p:spPr>
          <a:xfrm>
            <a:off x="6003036" y="3867912"/>
            <a:ext cx="182880" cy="219456"/>
          </a:xfrm>
          <a:prstGeom prst="chevron">
            <a:avLst/>
          </a:prstGeom>
          <a:solidFill>
            <a:srgbClr val="22C3A6"/>
          </a:solidFill>
          <a:ln/>
        </p:spPr>
      </p:sp>
      <p:sp>
        <p:nvSpPr>
          <p:cNvPr id="24" name="Shape 20"/>
          <p:cNvSpPr/>
          <p:nvPr/>
        </p:nvSpPr>
        <p:spPr>
          <a:xfrm>
            <a:off x="6204204" y="1737360"/>
            <a:ext cx="2654046" cy="4480560"/>
          </a:xfrm>
          <a:prstGeom prst="roundRect">
            <a:avLst>
              <a:gd name="adj" fmla="val 2756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204204" y="1737360"/>
            <a:ext cx="2654046" cy="960120"/>
          </a:xfrm>
          <a:prstGeom prst="roundRect">
            <a:avLst>
              <a:gd name="adj" fmla="val 7619"/>
            </a:avLst>
          </a:prstGeom>
          <a:solidFill>
            <a:srgbClr val="5B4B9A"/>
          </a:solidFill>
          <a:ln/>
        </p:spPr>
      </p:sp>
      <p:sp>
        <p:nvSpPr>
          <p:cNvPr id="26" name="Shape 22"/>
          <p:cNvSpPr/>
          <p:nvPr/>
        </p:nvSpPr>
        <p:spPr>
          <a:xfrm>
            <a:off x="6204204" y="2377440"/>
            <a:ext cx="2654046" cy="320040"/>
          </a:xfrm>
          <a:prstGeom prst="rect">
            <a:avLst/>
          </a:prstGeom>
          <a:solidFill>
            <a:srgbClr val="5B4B9A"/>
          </a:solidFill>
          <a:ln/>
        </p:spPr>
      </p:sp>
      <p:sp>
        <p:nvSpPr>
          <p:cNvPr id="27" name="Shape 23"/>
          <p:cNvSpPr/>
          <p:nvPr/>
        </p:nvSpPr>
        <p:spPr>
          <a:xfrm>
            <a:off x="7275195" y="1883664"/>
            <a:ext cx="512064" cy="512064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28" name="Image 2" descr="/home/claude/work/icons/a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923" y="1993392"/>
            <a:ext cx="292608" cy="29260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204204" y="2450592"/>
            <a:ext cx="265404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350508" y="2816352"/>
            <a:ext cx="23614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Multi-Tier AI SOAP Synthesis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387084" y="3520440"/>
            <a:ext cx="228828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routed to Gemini 1.5 Flash or Groq LPU with dental-specific prompts</a:t>
            </a:r>
            <a:endParaRPr lang="en-US" sz="960" dirty="0"/>
          </a:p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extracts an 8-section clinical SOAP record with diagnosis &amp; plan</a:t>
            </a:r>
            <a:endParaRPr lang="en-US" sz="960" dirty="0"/>
          </a:p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and dosages mapped into [DentalNotePrescriptions]</a:t>
            </a:r>
            <a:endParaRPr lang="en-US" sz="960" dirty="0"/>
          </a:p>
        </p:txBody>
      </p:sp>
      <p:sp>
        <p:nvSpPr>
          <p:cNvPr id="32" name="Shape 27"/>
          <p:cNvSpPr/>
          <p:nvPr/>
        </p:nvSpPr>
        <p:spPr>
          <a:xfrm>
            <a:off x="8876538" y="3867912"/>
            <a:ext cx="182880" cy="219456"/>
          </a:xfrm>
          <a:prstGeom prst="chevron">
            <a:avLst/>
          </a:prstGeom>
          <a:solidFill>
            <a:srgbClr val="22C3A6"/>
          </a:solidFill>
          <a:ln/>
        </p:spPr>
      </p:sp>
      <p:sp>
        <p:nvSpPr>
          <p:cNvPr id="33" name="Shape 28"/>
          <p:cNvSpPr/>
          <p:nvPr/>
        </p:nvSpPr>
        <p:spPr>
          <a:xfrm>
            <a:off x="9077706" y="1737360"/>
            <a:ext cx="2654046" cy="4480560"/>
          </a:xfrm>
          <a:prstGeom prst="roundRect">
            <a:avLst>
              <a:gd name="adj" fmla="val 2756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9077706" y="1737360"/>
            <a:ext cx="2654046" cy="960120"/>
          </a:xfrm>
          <a:prstGeom prst="roundRect">
            <a:avLst>
              <a:gd name="adj" fmla="val 7619"/>
            </a:avLst>
          </a:prstGeom>
          <a:solidFill>
            <a:srgbClr val="C9862F"/>
          </a:solidFill>
          <a:ln/>
        </p:spPr>
      </p:sp>
      <p:sp>
        <p:nvSpPr>
          <p:cNvPr id="35" name="Shape 30"/>
          <p:cNvSpPr/>
          <p:nvPr/>
        </p:nvSpPr>
        <p:spPr>
          <a:xfrm>
            <a:off x="9077706" y="2377440"/>
            <a:ext cx="2654046" cy="320040"/>
          </a:xfrm>
          <a:prstGeom prst="rect">
            <a:avLst/>
          </a:prstGeom>
          <a:solidFill>
            <a:srgbClr val="C9862F"/>
          </a:solidFill>
          <a:ln/>
        </p:spPr>
      </p:sp>
      <p:sp>
        <p:nvSpPr>
          <p:cNvPr id="36" name="Shape 31"/>
          <p:cNvSpPr/>
          <p:nvPr/>
        </p:nvSpPr>
        <p:spPr>
          <a:xfrm>
            <a:off x="10148697" y="1883664"/>
            <a:ext cx="512064" cy="512064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37" name="Image 3" descr="/home/claude/work/icons/odonto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8425" y="1993392"/>
            <a:ext cx="292608" cy="29260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077706" y="2450592"/>
            <a:ext cx="265404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9224010" y="2816352"/>
            <a:ext cx="23614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Odontogram Synchronization</a:t>
            </a: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9260586" y="3520440"/>
            <a:ext cx="228828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findings (e.g. Tooth #14 MOD Caries) immediately update [TeethState]</a:t>
            </a:r>
            <a:endParaRPr lang="en-US" sz="960" dirty="0"/>
          </a:p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WebGL canvas re-renders tooth materials with color-coded shaders</a:t>
            </a:r>
            <a:endParaRPr lang="en-US" sz="960" dirty="0"/>
          </a:p>
          <a:p>
            <a:pPr marL="127000" indent="-127000">
              <a:lnSpc>
                <a:spcPct val="122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assistant confirms: “Doctor, treatment notes and chart synced.”</a:t>
            </a:r>
            <a:endParaRPr lang="en-US" sz="960" dirty="0"/>
          </a:p>
        </p:txBody>
      </p:sp>
      <p:sp>
        <p:nvSpPr>
          <p:cNvPr id="41" name="Text 3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Master Architecture Reference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7802575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HEALTH SYSTEMS 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Protected Information: PII / HIPAA / GDPR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 of technical and procedural safeguards protecting every patient record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74552" cy="12802"/>
          </a:xfrm>
          <a:prstGeom prst="rect">
            <a:avLst/>
          </a:prstGeom>
          <a:solidFill>
            <a:srgbClr val="DCE7E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552754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892808"/>
            <a:ext cx="457200" cy="457200"/>
          </a:xfrm>
          <a:prstGeom prst="ellipse">
            <a:avLst/>
          </a:prstGeom>
          <a:solidFill>
            <a:srgbClr val="15877A"/>
          </a:solidFill>
          <a:ln/>
        </p:spPr>
      </p:sp>
      <p:pic>
        <p:nvPicPr>
          <p:cNvPr id="8" name="Image 0" descr="/home/claude/work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00253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874520"/>
            <a:ext cx="45217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In-Transit &amp; At-Rest Encryption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520" y="2478024"/>
            <a:ext cx="49789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2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TLS 1.3 transport security across all frontend-to-backend REST endpoints</a:t>
            </a:r>
            <a:endParaRPr lang="en-US" sz="102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2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Transparent Data Encryption (TDE) on SQL Server physical data pages</a:t>
            </a:r>
            <a:endParaRPr lang="en-US" sz="102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2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X-ray blobs and voice recordings stored with signed, expiring URI tokens</a:t>
            </a:r>
            <a:endParaRPr lang="en-US" sz="102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2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passwords salted and hashed using BCrypt.Net-Next (work factor 11)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6204204" y="1691640"/>
            <a:ext cx="552754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5372" y="1892808"/>
            <a:ext cx="457200" cy="457200"/>
          </a:xfrm>
          <a:prstGeom prst="ellipse">
            <a:avLst/>
          </a:prstGeom>
          <a:solidFill>
            <a:srgbClr val="0B3B39"/>
          </a:solidFill>
          <a:ln/>
        </p:spPr>
      </p:sp>
      <p:pic>
        <p:nvPicPr>
          <p:cNvPr id="13" name="Image 1" descr="/home/claude/work/icons/audit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200253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27164" y="1874520"/>
            <a:ext cx="45217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Cryptographic Non-Repudiation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478524" y="2478024"/>
            <a:ext cx="49789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2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interaction computes and logs InputHash and OutputHash in [AIAuditLogs]</a:t>
            </a:r>
            <a:endParaRPr lang="en-US" sz="102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2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clinical records generated by AI were not tampered with after the visit</a:t>
            </a:r>
            <a:endParaRPr lang="en-US" sz="102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2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maps every change to DoctorID, NoteId, ModelName, and Timestamp</a:t>
            </a:r>
            <a:endParaRPr lang="en-US" sz="1020" dirty="0"/>
          </a:p>
        </p:txBody>
      </p:sp>
      <p:sp>
        <p:nvSpPr>
          <p:cNvPr id="16" name="Shape 12"/>
          <p:cNvSpPr/>
          <p:nvPr/>
        </p:nvSpPr>
        <p:spPr>
          <a:xfrm>
            <a:off x="457200" y="3995928"/>
            <a:ext cx="552754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" y="4197096"/>
            <a:ext cx="457200" cy="457200"/>
          </a:xfrm>
          <a:prstGeom prst="ellipse">
            <a:avLst/>
          </a:prstGeom>
          <a:solidFill>
            <a:srgbClr val="E14F3D"/>
          </a:solidFill>
          <a:ln/>
        </p:spPr>
      </p:sp>
      <p:pic>
        <p:nvPicPr>
          <p:cNvPr id="18" name="Image 2" descr="/home/claude/work/icons/allerg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30682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4178808"/>
            <a:ext cx="45217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Contraindication Safety Interceptor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31520" y="4782312"/>
            <a:ext cx="49789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2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rule engine cross-references prescribed medications with allergy history</a:t>
            </a:r>
            <a:endParaRPr lang="en-US" sz="102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2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Discrepancies (e.g. Amoxicillin for a Penicillin-allergic patient) trigger [AIWarnings]</a:t>
            </a:r>
            <a:endParaRPr lang="en-US" sz="102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2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finalized sign-off until the doctor reviews and resolves the flag</a:t>
            </a:r>
            <a:endParaRPr lang="en-US" sz="1020" dirty="0"/>
          </a:p>
        </p:txBody>
      </p:sp>
      <p:sp>
        <p:nvSpPr>
          <p:cNvPr id="21" name="Shape 16"/>
          <p:cNvSpPr/>
          <p:nvPr/>
        </p:nvSpPr>
        <p:spPr>
          <a:xfrm>
            <a:off x="6204204" y="3995928"/>
            <a:ext cx="552754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5372" y="4197096"/>
            <a:ext cx="457200" cy="457200"/>
          </a:xfrm>
          <a:prstGeom prst="ellipse">
            <a:avLst/>
          </a:prstGeom>
          <a:solidFill>
            <a:srgbClr val="C9862F"/>
          </a:solidFill>
          <a:ln/>
        </p:spPr>
      </p:sp>
      <p:pic>
        <p:nvPicPr>
          <p:cNvPr id="23" name="Image 3" descr="/home/claude/work/icons/off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4306824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27164" y="4178808"/>
            <a:ext cx="45217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PII Masking &amp; Air-Gapped Failover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478524" y="4782312"/>
            <a:ext cx="497890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2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de-identification scrubs patient names, phones, and addresses pre-cloud</a:t>
            </a:r>
            <a:endParaRPr lang="en-US" sz="102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2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Local LLM Service runs Ollama locally for 100% offline security</a:t>
            </a:r>
            <a:endParaRPr lang="en-US" sz="1020" dirty="0"/>
          </a:p>
          <a:p>
            <a:pPr marL="152400" indent="-152400">
              <a:lnSpc>
                <a:spcPct val="122000"/>
              </a:lnSpc>
              <a:buSzPct val="100000"/>
              <a:buChar char="•"/>
            </a:pPr>
            <a:r>
              <a:rPr lang="en-US" sz="102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patient protected health data is ever retained for public AI model training</a:t>
            </a:r>
            <a:endParaRPr lang="en-US" sz="1020" dirty="0"/>
          </a:p>
        </p:txBody>
      </p:sp>
      <p:sp>
        <p:nvSpPr>
          <p:cNvPr id="26" name="Text 20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Master Architecture Reference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802575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HEALTH SYSTEMS 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2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ENTITY MODEL (ERD)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Entity-Relationship Model — 17 Normalized SQL Tables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515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2022  ·  dentist.* schema  ·  Dapper micro-ORM  ·  PK / FK relationships mapped by cluster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106070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OPS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53996" y="106070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IDENTITY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42232" y="106070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CHART &amp; CARE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030468" y="106070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SCRIBE INTAKE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918704" y="106070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&amp; GOVERNANCE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06940" y="1060704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PLAN DETAIL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29827" y="2807208"/>
            <a:ext cx="914" cy="137160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oval"/>
            <a:tailEnd type="oval"/>
          </a:ln>
        </p:spPr>
      </p:sp>
      <p:sp>
        <p:nvSpPr>
          <p:cNvPr id="12" name="Shape 10"/>
          <p:cNvSpPr/>
          <p:nvPr/>
        </p:nvSpPr>
        <p:spPr>
          <a:xfrm>
            <a:off x="2121408" y="1773936"/>
            <a:ext cx="82205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oval"/>
          </a:ln>
        </p:spPr>
      </p:sp>
      <p:sp>
        <p:nvSpPr>
          <p:cNvPr id="13" name="Shape 11"/>
          <p:cNvSpPr/>
          <p:nvPr/>
        </p:nvSpPr>
        <p:spPr>
          <a:xfrm>
            <a:off x="2203613" y="1773936"/>
            <a:ext cx="914" cy="2743200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21408" y="4517136"/>
            <a:ext cx="82205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92454" y="1353312"/>
            <a:ext cx="914" cy="128016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oval"/>
          </a:ln>
        </p:spPr>
      </p:sp>
      <p:sp>
        <p:nvSpPr>
          <p:cNvPr id="16" name="Shape 14"/>
          <p:cNvSpPr/>
          <p:nvPr/>
        </p:nvSpPr>
        <p:spPr>
          <a:xfrm>
            <a:off x="892454" y="1353312"/>
            <a:ext cx="5065090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57545" y="1353312"/>
            <a:ext cx="914" cy="42062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57545" y="1773936"/>
            <a:ext cx="72923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594714" y="1353312"/>
            <a:ext cx="914" cy="128016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oval"/>
          </a:ln>
        </p:spPr>
      </p:sp>
      <p:sp>
        <p:nvSpPr>
          <p:cNvPr id="20" name="Shape 18"/>
          <p:cNvSpPr/>
          <p:nvPr/>
        </p:nvSpPr>
        <p:spPr>
          <a:xfrm>
            <a:off x="1594714" y="1353312"/>
            <a:ext cx="2474595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69309" y="1353312"/>
            <a:ext cx="914" cy="398678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309" y="5340096"/>
            <a:ext cx="72923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187702" y="1773936"/>
            <a:ext cx="66294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oval"/>
          </a:ln>
        </p:spPr>
      </p:sp>
      <p:sp>
        <p:nvSpPr>
          <p:cNvPr id="24" name="Shape 22"/>
          <p:cNvSpPr/>
          <p:nvPr/>
        </p:nvSpPr>
        <p:spPr>
          <a:xfrm>
            <a:off x="2187702" y="1773936"/>
            <a:ext cx="914" cy="2926080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21408" y="4700016"/>
            <a:ext cx="66294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triangle"/>
          </a:ln>
        </p:spPr>
      </p:sp>
      <p:sp>
        <p:nvSpPr>
          <p:cNvPr id="26" name="Shape 24"/>
          <p:cNvSpPr/>
          <p:nvPr/>
        </p:nvSpPr>
        <p:spPr>
          <a:xfrm>
            <a:off x="3518063" y="3447288"/>
            <a:ext cx="914" cy="137160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oval"/>
            <a:tailEnd type="oval"/>
          </a:ln>
        </p:spPr>
      </p:sp>
      <p:sp>
        <p:nvSpPr>
          <p:cNvPr id="27" name="Shape 25"/>
          <p:cNvSpPr/>
          <p:nvPr/>
        </p:nvSpPr>
        <p:spPr>
          <a:xfrm>
            <a:off x="4009644" y="1773936"/>
            <a:ext cx="66294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oval"/>
          </a:ln>
        </p:spPr>
      </p:sp>
      <p:sp>
        <p:nvSpPr>
          <p:cNvPr id="28" name="Shape 26"/>
          <p:cNvSpPr/>
          <p:nvPr/>
        </p:nvSpPr>
        <p:spPr>
          <a:xfrm>
            <a:off x="4075938" y="1773936"/>
            <a:ext cx="914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75938" y="1773936"/>
            <a:ext cx="66294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009644" y="1956816"/>
            <a:ext cx="66294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oval"/>
          </a:ln>
        </p:spPr>
      </p:sp>
      <p:sp>
        <p:nvSpPr>
          <p:cNvPr id="31" name="Shape 29"/>
          <p:cNvSpPr/>
          <p:nvPr/>
        </p:nvSpPr>
        <p:spPr>
          <a:xfrm>
            <a:off x="4075938" y="1956816"/>
            <a:ext cx="914" cy="1005840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75938" y="2962656"/>
            <a:ext cx="66294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009644" y="2139696"/>
            <a:ext cx="66294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oval"/>
          </a:ln>
        </p:spPr>
      </p:sp>
      <p:sp>
        <p:nvSpPr>
          <p:cNvPr id="34" name="Shape 32"/>
          <p:cNvSpPr/>
          <p:nvPr/>
        </p:nvSpPr>
        <p:spPr>
          <a:xfrm>
            <a:off x="4075938" y="2139696"/>
            <a:ext cx="914" cy="2011680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75938" y="4151376"/>
            <a:ext cx="66294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009644" y="2322576"/>
            <a:ext cx="66294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oval"/>
          </a:ln>
        </p:spPr>
      </p:sp>
      <p:sp>
        <p:nvSpPr>
          <p:cNvPr id="37" name="Shape 35"/>
          <p:cNvSpPr/>
          <p:nvPr/>
        </p:nvSpPr>
        <p:spPr>
          <a:xfrm>
            <a:off x="4075938" y="2322576"/>
            <a:ext cx="914" cy="3200400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75938" y="5522976"/>
            <a:ext cx="66294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780690" y="1353312"/>
            <a:ext cx="914" cy="128016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oval"/>
          </a:ln>
        </p:spPr>
      </p:sp>
      <p:sp>
        <p:nvSpPr>
          <p:cNvPr id="40" name="Shape 38"/>
          <p:cNvSpPr/>
          <p:nvPr/>
        </p:nvSpPr>
        <p:spPr>
          <a:xfrm>
            <a:off x="2780690" y="1353312"/>
            <a:ext cx="3176854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57545" y="1353312"/>
            <a:ext cx="914" cy="60350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57545" y="1956816"/>
            <a:ext cx="72923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294535" y="2532888"/>
            <a:ext cx="914" cy="137160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oval"/>
            <a:tailEnd type="oval"/>
          </a:ln>
        </p:spPr>
      </p:sp>
      <p:sp>
        <p:nvSpPr>
          <p:cNvPr id="44" name="Shape 42"/>
          <p:cNvSpPr/>
          <p:nvPr/>
        </p:nvSpPr>
        <p:spPr>
          <a:xfrm>
            <a:off x="7786116" y="1773936"/>
            <a:ext cx="82205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oval"/>
          </a:ln>
        </p:spPr>
      </p:sp>
      <p:sp>
        <p:nvSpPr>
          <p:cNvPr id="45" name="Shape 43"/>
          <p:cNvSpPr/>
          <p:nvPr/>
        </p:nvSpPr>
        <p:spPr>
          <a:xfrm>
            <a:off x="7868321" y="1773936"/>
            <a:ext cx="914" cy="2240280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86116" y="4014216"/>
            <a:ext cx="82205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786116" y="1956816"/>
            <a:ext cx="66294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oval"/>
          </a:ln>
        </p:spPr>
      </p:sp>
      <p:sp>
        <p:nvSpPr>
          <p:cNvPr id="48" name="Shape 46"/>
          <p:cNvSpPr/>
          <p:nvPr/>
        </p:nvSpPr>
        <p:spPr>
          <a:xfrm>
            <a:off x="7852410" y="1773936"/>
            <a:ext cx="914" cy="182880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52410" y="1773936"/>
            <a:ext cx="66294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182771" y="2898648"/>
            <a:ext cx="914" cy="137160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oval"/>
            <a:tailEnd type="oval"/>
          </a:ln>
        </p:spPr>
      </p:sp>
      <p:sp>
        <p:nvSpPr>
          <p:cNvPr id="51" name="Shape 49"/>
          <p:cNvSpPr/>
          <p:nvPr/>
        </p:nvSpPr>
        <p:spPr>
          <a:xfrm>
            <a:off x="9674352" y="1773936"/>
            <a:ext cx="82205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oval"/>
          </a:ln>
        </p:spPr>
      </p:sp>
      <p:sp>
        <p:nvSpPr>
          <p:cNvPr id="52" name="Shape 50"/>
          <p:cNvSpPr/>
          <p:nvPr/>
        </p:nvSpPr>
        <p:spPr>
          <a:xfrm>
            <a:off x="9756557" y="1773936"/>
            <a:ext cx="914" cy="2606040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74352" y="4379976"/>
            <a:ext cx="82205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9674352" y="1956816"/>
            <a:ext cx="66294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oval"/>
          </a:ln>
        </p:spPr>
      </p:sp>
      <p:sp>
        <p:nvSpPr>
          <p:cNvPr id="55" name="Shape 53"/>
          <p:cNvSpPr/>
          <p:nvPr/>
        </p:nvSpPr>
        <p:spPr>
          <a:xfrm>
            <a:off x="9740646" y="1773936"/>
            <a:ext cx="914" cy="182880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740646" y="1773936"/>
            <a:ext cx="66294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9674352" y="2139696"/>
            <a:ext cx="66294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headEnd type="oval"/>
          </a:ln>
        </p:spPr>
      </p:sp>
      <p:sp>
        <p:nvSpPr>
          <p:cNvPr id="58" name="Shape 56"/>
          <p:cNvSpPr/>
          <p:nvPr/>
        </p:nvSpPr>
        <p:spPr>
          <a:xfrm>
            <a:off x="9740646" y="2139696"/>
            <a:ext cx="914" cy="822960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40646" y="2962656"/>
            <a:ext cx="66294" cy="914"/>
          </a:xfrm>
          <a:prstGeom prst="line">
            <a:avLst/>
          </a:prstGeom>
          <a:noFill/>
          <a:ln w="12700">
            <a:solidFill>
              <a:srgbClr val="3F6E68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365760" y="1481328"/>
            <a:ext cx="1755648" cy="1325880"/>
          </a:xfrm>
          <a:prstGeom prst="roundRect">
            <a:avLst>
              <a:gd name="adj" fmla="val 3103"/>
            </a:avLst>
          </a:prstGeom>
          <a:solidFill>
            <a:srgbClr val="0E2E2C"/>
          </a:solidFill>
          <a:ln w="15875">
            <a:solidFill>
              <a:srgbClr val="4A6B6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5760" y="1481328"/>
            <a:ext cx="1755648" cy="237744"/>
          </a:xfrm>
          <a:prstGeom prst="roundRect">
            <a:avLst>
              <a:gd name="adj" fmla="val 17308"/>
            </a:avLst>
          </a:prstGeom>
          <a:solidFill>
            <a:srgbClr val="4A6B67"/>
          </a:solidFill>
          <a:ln/>
        </p:spPr>
      </p:sp>
      <p:sp>
        <p:nvSpPr>
          <p:cNvPr id="62" name="Shape 60"/>
          <p:cNvSpPr/>
          <p:nvPr/>
        </p:nvSpPr>
        <p:spPr>
          <a:xfrm>
            <a:off x="365760" y="1600200"/>
            <a:ext cx="1755648" cy="118872"/>
          </a:xfrm>
          <a:prstGeom prst="rect">
            <a:avLst/>
          </a:prstGeom>
          <a:solidFill>
            <a:srgbClr val="4A6B67"/>
          </a:solidFill>
          <a:ln/>
        </p:spPr>
      </p:sp>
      <p:sp>
        <p:nvSpPr>
          <p:cNvPr id="63" name="Text 61"/>
          <p:cNvSpPr/>
          <p:nvPr/>
        </p:nvSpPr>
        <p:spPr>
          <a:xfrm>
            <a:off x="429768" y="148132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48056" y="1773936"/>
            <a:ext cx="1591056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DoctorID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FullName, Email (UQ)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PasswordHash (BCrypt)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Specialization, Role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('PK'/'NZ')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365760" y="2944368"/>
            <a:ext cx="1755648" cy="1143000"/>
          </a:xfrm>
          <a:prstGeom prst="roundRect">
            <a:avLst>
              <a:gd name="adj" fmla="val 3600"/>
            </a:avLst>
          </a:prstGeom>
          <a:solidFill>
            <a:srgbClr val="0E2E2C"/>
          </a:solidFill>
          <a:ln w="15875">
            <a:solidFill>
              <a:srgbClr val="4A6B6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65760" y="2944368"/>
            <a:ext cx="1755648" cy="237744"/>
          </a:xfrm>
          <a:prstGeom prst="roundRect">
            <a:avLst>
              <a:gd name="adj" fmla="val 17308"/>
            </a:avLst>
          </a:prstGeom>
          <a:solidFill>
            <a:srgbClr val="4A6B67"/>
          </a:solidFill>
          <a:ln/>
        </p:spPr>
      </p:sp>
      <p:sp>
        <p:nvSpPr>
          <p:cNvPr id="67" name="Shape 65"/>
          <p:cNvSpPr/>
          <p:nvPr/>
        </p:nvSpPr>
        <p:spPr>
          <a:xfrm>
            <a:off x="365760" y="3063240"/>
            <a:ext cx="1755648" cy="118872"/>
          </a:xfrm>
          <a:prstGeom prst="rect">
            <a:avLst/>
          </a:prstGeom>
          <a:solidFill>
            <a:srgbClr val="4A6B67"/>
          </a:solidFill>
          <a:ln/>
        </p:spPr>
      </p:sp>
      <p:sp>
        <p:nvSpPr>
          <p:cNvPr id="68" name="Text 66"/>
          <p:cNvSpPr/>
          <p:nvPr/>
        </p:nvSpPr>
        <p:spPr>
          <a:xfrm>
            <a:off x="429768" y="294436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48056" y="3236976"/>
            <a:ext cx="159105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AppointmentID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DoctorID → Doctors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FullName, Phone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PreferredDate, Status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365760" y="4224528"/>
            <a:ext cx="1755648" cy="1143000"/>
          </a:xfrm>
          <a:prstGeom prst="roundRect">
            <a:avLst>
              <a:gd name="adj" fmla="val 3600"/>
            </a:avLst>
          </a:prstGeom>
          <a:solidFill>
            <a:srgbClr val="0E2E2C"/>
          </a:solidFill>
          <a:ln w="15875">
            <a:solidFill>
              <a:srgbClr val="4A6B6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65760" y="4224528"/>
            <a:ext cx="1755648" cy="237744"/>
          </a:xfrm>
          <a:prstGeom prst="roundRect">
            <a:avLst>
              <a:gd name="adj" fmla="val 17308"/>
            </a:avLst>
          </a:prstGeom>
          <a:solidFill>
            <a:srgbClr val="4A6B67"/>
          </a:solidFill>
          <a:ln/>
        </p:spPr>
      </p:sp>
      <p:sp>
        <p:nvSpPr>
          <p:cNvPr id="72" name="Shape 70"/>
          <p:cNvSpPr/>
          <p:nvPr/>
        </p:nvSpPr>
        <p:spPr>
          <a:xfrm>
            <a:off x="365760" y="4343400"/>
            <a:ext cx="1755648" cy="118872"/>
          </a:xfrm>
          <a:prstGeom prst="rect">
            <a:avLst/>
          </a:prstGeom>
          <a:solidFill>
            <a:srgbClr val="4A6B67"/>
          </a:solidFill>
          <a:ln/>
        </p:spPr>
      </p:sp>
      <p:sp>
        <p:nvSpPr>
          <p:cNvPr id="73" name="Text 71"/>
          <p:cNvSpPr/>
          <p:nvPr/>
        </p:nvSpPr>
        <p:spPr>
          <a:xfrm>
            <a:off x="429768" y="422452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ClinicalLogs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48056" y="4517136"/>
            <a:ext cx="159105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LogID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PatientID → Patients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DoctorID → Doctors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Message, LogType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2253996" y="1481328"/>
            <a:ext cx="1755648" cy="1965960"/>
          </a:xfrm>
          <a:prstGeom prst="roundRect">
            <a:avLst>
              <a:gd name="adj" fmla="val 2344"/>
            </a:avLst>
          </a:prstGeom>
          <a:solidFill>
            <a:srgbClr val="0E2E2C"/>
          </a:solidFill>
          <a:ln w="15875">
            <a:solidFill>
              <a:srgbClr val="1C6B6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253996" y="1481328"/>
            <a:ext cx="1755648" cy="237744"/>
          </a:xfrm>
          <a:prstGeom prst="roundRect">
            <a:avLst>
              <a:gd name="adj" fmla="val 17308"/>
            </a:avLst>
          </a:prstGeom>
          <a:solidFill>
            <a:srgbClr val="1C6B65"/>
          </a:solidFill>
          <a:ln/>
        </p:spPr>
      </p:sp>
      <p:sp>
        <p:nvSpPr>
          <p:cNvPr id="77" name="Shape 75"/>
          <p:cNvSpPr/>
          <p:nvPr/>
        </p:nvSpPr>
        <p:spPr>
          <a:xfrm>
            <a:off x="2253996" y="1600200"/>
            <a:ext cx="1755648" cy="118872"/>
          </a:xfrm>
          <a:prstGeom prst="rect">
            <a:avLst/>
          </a:prstGeom>
          <a:solidFill>
            <a:srgbClr val="1C6B65"/>
          </a:solidFill>
          <a:ln/>
        </p:spPr>
      </p:sp>
      <p:sp>
        <p:nvSpPr>
          <p:cNvPr id="78" name="Text 76"/>
          <p:cNvSpPr/>
          <p:nvPr/>
        </p:nvSpPr>
        <p:spPr>
          <a:xfrm>
            <a:off x="2318004" y="148132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2336292" y="1773936"/>
            <a:ext cx="1591056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PatientID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FirstName, LastName, DOB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Gender, Phone, Address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City, Postcode, Region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DentitionType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GuardianName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2253996" y="3584448"/>
            <a:ext cx="1755648" cy="1143000"/>
          </a:xfrm>
          <a:prstGeom prst="roundRect">
            <a:avLst>
              <a:gd name="adj" fmla="val 3600"/>
            </a:avLst>
          </a:prstGeom>
          <a:solidFill>
            <a:srgbClr val="0E2E2C"/>
          </a:solidFill>
          <a:ln w="15875">
            <a:solidFill>
              <a:srgbClr val="1C6B6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253996" y="3584448"/>
            <a:ext cx="1755648" cy="237744"/>
          </a:xfrm>
          <a:prstGeom prst="roundRect">
            <a:avLst>
              <a:gd name="adj" fmla="val 17308"/>
            </a:avLst>
          </a:prstGeom>
          <a:solidFill>
            <a:srgbClr val="1C6B65"/>
          </a:solidFill>
          <a:ln/>
        </p:spPr>
      </p:sp>
      <p:sp>
        <p:nvSpPr>
          <p:cNvPr id="82" name="Shape 80"/>
          <p:cNvSpPr/>
          <p:nvPr/>
        </p:nvSpPr>
        <p:spPr>
          <a:xfrm>
            <a:off x="2253996" y="3703320"/>
            <a:ext cx="1755648" cy="118872"/>
          </a:xfrm>
          <a:prstGeom prst="rect">
            <a:avLst/>
          </a:prstGeom>
          <a:solidFill>
            <a:srgbClr val="1C6B65"/>
          </a:solidFill>
          <a:ln/>
        </p:spPr>
      </p:sp>
      <p:sp>
        <p:nvSpPr>
          <p:cNvPr id="83" name="Text 81"/>
          <p:cNvSpPr/>
          <p:nvPr/>
        </p:nvSpPr>
        <p:spPr>
          <a:xfrm>
            <a:off x="2318004" y="358444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ChatHistory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2336292" y="3877056"/>
            <a:ext cx="1591056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ChatID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PatientID → Patients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Transcript (Query)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ParsedAction (AI Action)</a:t>
            </a:r>
            <a:endParaRPr lang="en-US" sz="780" dirty="0"/>
          </a:p>
        </p:txBody>
      </p:sp>
      <p:sp>
        <p:nvSpPr>
          <p:cNvPr id="85" name="Shape 83"/>
          <p:cNvSpPr/>
          <p:nvPr/>
        </p:nvSpPr>
        <p:spPr>
          <a:xfrm>
            <a:off x="4142232" y="1481328"/>
            <a:ext cx="1755648" cy="1051560"/>
          </a:xfrm>
          <a:prstGeom prst="roundRect">
            <a:avLst>
              <a:gd name="adj" fmla="val 3913"/>
            </a:avLst>
          </a:prstGeom>
          <a:solidFill>
            <a:srgbClr val="0E2E2C"/>
          </a:solidFill>
          <a:ln w="15875">
            <a:solidFill>
              <a:srgbClr val="2E9C8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42232" y="1481328"/>
            <a:ext cx="1755648" cy="237744"/>
          </a:xfrm>
          <a:prstGeom prst="roundRect">
            <a:avLst>
              <a:gd name="adj" fmla="val 17308"/>
            </a:avLst>
          </a:prstGeom>
          <a:solidFill>
            <a:srgbClr val="2E9C8C"/>
          </a:solidFill>
          <a:ln/>
        </p:spPr>
      </p:sp>
      <p:sp>
        <p:nvSpPr>
          <p:cNvPr id="87" name="Shape 85"/>
          <p:cNvSpPr/>
          <p:nvPr/>
        </p:nvSpPr>
        <p:spPr>
          <a:xfrm>
            <a:off x="4142232" y="1600200"/>
            <a:ext cx="1755648" cy="118872"/>
          </a:xfrm>
          <a:prstGeom prst="rect">
            <a:avLst/>
          </a:prstGeom>
          <a:solidFill>
            <a:srgbClr val="2E9C8C"/>
          </a:solidFill>
          <a:ln/>
        </p:spPr>
      </p:sp>
      <p:sp>
        <p:nvSpPr>
          <p:cNvPr id="88" name="Text 86"/>
          <p:cNvSpPr/>
          <p:nvPr/>
        </p:nvSpPr>
        <p:spPr>
          <a:xfrm>
            <a:off x="4206240" y="148132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TeethState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4224528" y="1773936"/>
            <a:ext cx="159105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TeethStateID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PatientID → Patients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ToothNumber, Condition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4142232" y="2670048"/>
            <a:ext cx="1755648" cy="1051560"/>
          </a:xfrm>
          <a:prstGeom prst="roundRect">
            <a:avLst>
              <a:gd name="adj" fmla="val 3913"/>
            </a:avLst>
          </a:prstGeom>
          <a:solidFill>
            <a:srgbClr val="0E2E2C"/>
          </a:solidFill>
          <a:ln w="15875">
            <a:solidFill>
              <a:srgbClr val="2E9C8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42232" y="2670048"/>
            <a:ext cx="1755648" cy="237744"/>
          </a:xfrm>
          <a:prstGeom prst="roundRect">
            <a:avLst>
              <a:gd name="adj" fmla="val 17308"/>
            </a:avLst>
          </a:prstGeom>
          <a:solidFill>
            <a:srgbClr val="2E9C8C"/>
          </a:solidFill>
          <a:ln/>
        </p:spPr>
      </p:sp>
      <p:sp>
        <p:nvSpPr>
          <p:cNvPr id="92" name="Shape 90"/>
          <p:cNvSpPr/>
          <p:nvPr/>
        </p:nvSpPr>
        <p:spPr>
          <a:xfrm>
            <a:off x="4142232" y="2788920"/>
            <a:ext cx="1755648" cy="118872"/>
          </a:xfrm>
          <a:prstGeom prst="rect">
            <a:avLst/>
          </a:prstGeom>
          <a:solidFill>
            <a:srgbClr val="2E9C8C"/>
          </a:solidFill>
          <a:ln/>
        </p:spPr>
      </p:sp>
      <p:sp>
        <p:nvSpPr>
          <p:cNvPr id="93" name="Text 91"/>
          <p:cNvSpPr/>
          <p:nvPr/>
        </p:nvSpPr>
        <p:spPr>
          <a:xfrm>
            <a:off x="4206240" y="267004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Radiographs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224528" y="2962656"/>
            <a:ext cx="159105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RadiographID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PatientID → Patients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ImageType, ImageUri</a:t>
            </a:r>
            <a:endParaRPr lang="en-US" sz="780" dirty="0"/>
          </a:p>
        </p:txBody>
      </p:sp>
      <p:sp>
        <p:nvSpPr>
          <p:cNvPr id="95" name="Shape 93"/>
          <p:cNvSpPr/>
          <p:nvPr/>
        </p:nvSpPr>
        <p:spPr>
          <a:xfrm>
            <a:off x="4142232" y="3858768"/>
            <a:ext cx="1755648" cy="1051560"/>
          </a:xfrm>
          <a:prstGeom prst="roundRect">
            <a:avLst>
              <a:gd name="adj" fmla="val 3913"/>
            </a:avLst>
          </a:prstGeom>
          <a:solidFill>
            <a:srgbClr val="0E2E2C"/>
          </a:solidFill>
          <a:ln w="15875">
            <a:solidFill>
              <a:srgbClr val="2E9C8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142232" y="3858768"/>
            <a:ext cx="1755648" cy="237744"/>
          </a:xfrm>
          <a:prstGeom prst="roundRect">
            <a:avLst>
              <a:gd name="adj" fmla="val 17308"/>
            </a:avLst>
          </a:prstGeom>
          <a:solidFill>
            <a:srgbClr val="2E9C8C"/>
          </a:solidFill>
          <a:ln/>
        </p:spPr>
      </p:sp>
      <p:sp>
        <p:nvSpPr>
          <p:cNvPr id="97" name="Shape 95"/>
          <p:cNvSpPr/>
          <p:nvPr/>
        </p:nvSpPr>
        <p:spPr>
          <a:xfrm>
            <a:off x="4142232" y="3977640"/>
            <a:ext cx="1755648" cy="118872"/>
          </a:xfrm>
          <a:prstGeom prst="rect">
            <a:avLst/>
          </a:prstGeom>
          <a:solidFill>
            <a:srgbClr val="2E9C8C"/>
          </a:solidFill>
          <a:ln/>
        </p:spPr>
      </p:sp>
      <p:sp>
        <p:nvSpPr>
          <p:cNvPr id="98" name="Text 96"/>
          <p:cNvSpPr/>
          <p:nvPr/>
        </p:nvSpPr>
        <p:spPr>
          <a:xfrm>
            <a:off x="4206240" y="385876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TreatmentHistory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4224528" y="4151376"/>
            <a:ext cx="159105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HistoryID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PatientID → Patients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ProcedureName, Cost</a:t>
            </a:r>
            <a:endParaRPr lang="en-US" sz="780" dirty="0"/>
          </a:p>
        </p:txBody>
      </p:sp>
      <p:sp>
        <p:nvSpPr>
          <p:cNvPr id="100" name="Shape 98"/>
          <p:cNvSpPr/>
          <p:nvPr/>
        </p:nvSpPr>
        <p:spPr>
          <a:xfrm>
            <a:off x="4142232" y="5047488"/>
            <a:ext cx="1755648" cy="1051560"/>
          </a:xfrm>
          <a:prstGeom prst="roundRect">
            <a:avLst>
              <a:gd name="adj" fmla="val 3913"/>
            </a:avLst>
          </a:prstGeom>
          <a:solidFill>
            <a:srgbClr val="0E2E2C"/>
          </a:solidFill>
          <a:ln w="15875">
            <a:solidFill>
              <a:srgbClr val="D4A03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142232" y="5047488"/>
            <a:ext cx="1755648" cy="237744"/>
          </a:xfrm>
          <a:prstGeom prst="roundRect">
            <a:avLst>
              <a:gd name="adj" fmla="val 17308"/>
            </a:avLst>
          </a:prstGeom>
          <a:solidFill>
            <a:srgbClr val="D4A03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142232" y="5166360"/>
            <a:ext cx="1755648" cy="118872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103" name="Text 101"/>
          <p:cNvSpPr/>
          <p:nvPr/>
        </p:nvSpPr>
        <p:spPr>
          <a:xfrm>
            <a:off x="4206240" y="504748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4224528" y="5340096"/>
            <a:ext cx="159105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PrescriptionID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PatientID → Patients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DoctorID → Doctors</a:t>
            </a:r>
            <a:endParaRPr lang="en-US" sz="780" dirty="0"/>
          </a:p>
        </p:txBody>
      </p:sp>
      <p:sp>
        <p:nvSpPr>
          <p:cNvPr id="105" name="Shape 103"/>
          <p:cNvSpPr/>
          <p:nvPr/>
        </p:nvSpPr>
        <p:spPr>
          <a:xfrm>
            <a:off x="6030468" y="1481328"/>
            <a:ext cx="1755648" cy="1051560"/>
          </a:xfrm>
          <a:prstGeom prst="roundRect">
            <a:avLst>
              <a:gd name="adj" fmla="val 3913"/>
            </a:avLst>
          </a:prstGeom>
          <a:solidFill>
            <a:srgbClr val="0E2E2C"/>
          </a:solidFill>
          <a:ln w="15875">
            <a:solidFill>
              <a:srgbClr val="7A68C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030468" y="1481328"/>
            <a:ext cx="1755648" cy="237744"/>
          </a:xfrm>
          <a:prstGeom prst="roundRect">
            <a:avLst>
              <a:gd name="adj" fmla="val 17308"/>
            </a:avLst>
          </a:prstGeom>
          <a:solidFill>
            <a:srgbClr val="7A68C2"/>
          </a:solidFill>
          <a:ln/>
        </p:spPr>
      </p:sp>
      <p:sp>
        <p:nvSpPr>
          <p:cNvPr id="107" name="Shape 105"/>
          <p:cNvSpPr/>
          <p:nvPr/>
        </p:nvSpPr>
        <p:spPr>
          <a:xfrm>
            <a:off x="6030468" y="1600200"/>
            <a:ext cx="1755648" cy="118872"/>
          </a:xfrm>
          <a:prstGeom prst="rect">
            <a:avLst/>
          </a:prstGeom>
          <a:solidFill>
            <a:srgbClr val="7A68C2"/>
          </a:solidFill>
          <a:ln/>
        </p:spPr>
      </p:sp>
      <p:sp>
        <p:nvSpPr>
          <p:cNvPr id="108" name="Text 106"/>
          <p:cNvSpPr/>
          <p:nvPr/>
        </p:nvSpPr>
        <p:spPr>
          <a:xfrm>
            <a:off x="6094476" y="148132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DentalNoteSessions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112764" y="1773936"/>
            <a:ext cx="159105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SessionId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PatientId → Patients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DoctorId → Doctors</a:t>
            </a:r>
            <a:endParaRPr lang="en-US" sz="780" dirty="0"/>
          </a:p>
        </p:txBody>
      </p:sp>
      <p:sp>
        <p:nvSpPr>
          <p:cNvPr id="110" name="Shape 108"/>
          <p:cNvSpPr/>
          <p:nvPr/>
        </p:nvSpPr>
        <p:spPr>
          <a:xfrm>
            <a:off x="6030468" y="2670048"/>
            <a:ext cx="1755648" cy="914400"/>
          </a:xfrm>
          <a:prstGeom prst="roundRect">
            <a:avLst>
              <a:gd name="adj" fmla="val 4500"/>
            </a:avLst>
          </a:prstGeom>
          <a:solidFill>
            <a:srgbClr val="0E2E2C"/>
          </a:solidFill>
          <a:ln w="15875">
            <a:solidFill>
              <a:srgbClr val="7A68C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030468" y="2670048"/>
            <a:ext cx="1755648" cy="237744"/>
          </a:xfrm>
          <a:prstGeom prst="roundRect">
            <a:avLst>
              <a:gd name="adj" fmla="val 17308"/>
            </a:avLst>
          </a:prstGeom>
          <a:solidFill>
            <a:srgbClr val="7A68C2"/>
          </a:solidFill>
          <a:ln/>
        </p:spPr>
      </p:sp>
      <p:sp>
        <p:nvSpPr>
          <p:cNvPr id="112" name="Shape 110"/>
          <p:cNvSpPr/>
          <p:nvPr/>
        </p:nvSpPr>
        <p:spPr>
          <a:xfrm>
            <a:off x="6030468" y="2788920"/>
            <a:ext cx="1755648" cy="118872"/>
          </a:xfrm>
          <a:prstGeom prst="rect">
            <a:avLst/>
          </a:prstGeom>
          <a:solidFill>
            <a:srgbClr val="7A68C2"/>
          </a:solidFill>
          <a:ln/>
        </p:spPr>
      </p:sp>
      <p:sp>
        <p:nvSpPr>
          <p:cNvPr id="113" name="Text 111"/>
          <p:cNvSpPr/>
          <p:nvPr/>
        </p:nvSpPr>
        <p:spPr>
          <a:xfrm>
            <a:off x="6094476" y="267004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AudioRecordings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6112764" y="2962656"/>
            <a:ext cx="15910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AudioId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SessionId → Sessions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StorageUri, Sha256Hash</a:t>
            </a:r>
            <a:endParaRPr lang="en-US" sz="780" dirty="0"/>
          </a:p>
        </p:txBody>
      </p:sp>
      <p:sp>
        <p:nvSpPr>
          <p:cNvPr id="115" name="Shape 113"/>
          <p:cNvSpPr/>
          <p:nvPr/>
        </p:nvSpPr>
        <p:spPr>
          <a:xfrm>
            <a:off x="6030468" y="3721608"/>
            <a:ext cx="1755648" cy="914400"/>
          </a:xfrm>
          <a:prstGeom prst="roundRect">
            <a:avLst>
              <a:gd name="adj" fmla="val 4500"/>
            </a:avLst>
          </a:prstGeom>
          <a:solidFill>
            <a:srgbClr val="0E2E2C"/>
          </a:solidFill>
          <a:ln w="15875">
            <a:solidFill>
              <a:srgbClr val="7A68C2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030468" y="3721608"/>
            <a:ext cx="1755648" cy="237744"/>
          </a:xfrm>
          <a:prstGeom prst="roundRect">
            <a:avLst>
              <a:gd name="adj" fmla="val 17308"/>
            </a:avLst>
          </a:prstGeom>
          <a:solidFill>
            <a:srgbClr val="7A68C2"/>
          </a:solidFill>
          <a:ln/>
        </p:spPr>
      </p:sp>
      <p:sp>
        <p:nvSpPr>
          <p:cNvPr id="117" name="Shape 115"/>
          <p:cNvSpPr/>
          <p:nvPr/>
        </p:nvSpPr>
        <p:spPr>
          <a:xfrm>
            <a:off x="6030468" y="3840480"/>
            <a:ext cx="1755648" cy="118872"/>
          </a:xfrm>
          <a:prstGeom prst="rect">
            <a:avLst/>
          </a:prstGeom>
          <a:solidFill>
            <a:srgbClr val="7A68C2"/>
          </a:solidFill>
          <a:ln/>
        </p:spPr>
      </p:sp>
      <p:sp>
        <p:nvSpPr>
          <p:cNvPr id="118" name="Text 116"/>
          <p:cNvSpPr/>
          <p:nvPr/>
        </p:nvSpPr>
        <p:spPr>
          <a:xfrm>
            <a:off x="6094476" y="372160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6112764" y="4014216"/>
            <a:ext cx="15910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TranscriptId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SessionId → Sessions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RawText, CleanedText</a:t>
            </a:r>
            <a:endParaRPr lang="en-US" sz="780" dirty="0"/>
          </a:p>
        </p:txBody>
      </p:sp>
      <p:sp>
        <p:nvSpPr>
          <p:cNvPr id="120" name="Shape 118"/>
          <p:cNvSpPr/>
          <p:nvPr/>
        </p:nvSpPr>
        <p:spPr>
          <a:xfrm>
            <a:off x="7918704" y="1481328"/>
            <a:ext cx="1755648" cy="1417320"/>
          </a:xfrm>
          <a:prstGeom prst="roundRect">
            <a:avLst>
              <a:gd name="adj" fmla="val 2903"/>
            </a:avLst>
          </a:prstGeom>
          <a:solidFill>
            <a:srgbClr val="0E2E2C"/>
          </a:solidFill>
          <a:ln w="15875">
            <a:solidFill>
              <a:srgbClr val="7A68C2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918704" y="1481328"/>
            <a:ext cx="1755648" cy="237744"/>
          </a:xfrm>
          <a:prstGeom prst="roundRect">
            <a:avLst>
              <a:gd name="adj" fmla="val 17308"/>
            </a:avLst>
          </a:prstGeom>
          <a:solidFill>
            <a:srgbClr val="7A68C2"/>
          </a:solidFill>
          <a:ln/>
        </p:spPr>
      </p:sp>
      <p:sp>
        <p:nvSpPr>
          <p:cNvPr id="122" name="Shape 120"/>
          <p:cNvSpPr/>
          <p:nvPr/>
        </p:nvSpPr>
        <p:spPr>
          <a:xfrm>
            <a:off x="7918704" y="1600200"/>
            <a:ext cx="1755648" cy="118872"/>
          </a:xfrm>
          <a:prstGeom prst="rect">
            <a:avLst/>
          </a:prstGeom>
          <a:solidFill>
            <a:srgbClr val="7A68C2"/>
          </a:solidFill>
          <a:ln/>
        </p:spPr>
      </p:sp>
      <p:sp>
        <p:nvSpPr>
          <p:cNvPr id="123" name="Text 121"/>
          <p:cNvSpPr/>
          <p:nvPr/>
        </p:nvSpPr>
        <p:spPr>
          <a:xfrm>
            <a:off x="7982712" y="148132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DentalNotes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8001000" y="1773936"/>
            <a:ext cx="1591056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NoteId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SessionId → Sessions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ChiefComplaint, HPI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Assessment, Plan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Prognosis (8-Sec SOAP)</a:t>
            </a:r>
            <a:endParaRPr lang="en-US" sz="780" dirty="0"/>
          </a:p>
        </p:txBody>
      </p:sp>
      <p:sp>
        <p:nvSpPr>
          <p:cNvPr id="125" name="Shape 123"/>
          <p:cNvSpPr/>
          <p:nvPr/>
        </p:nvSpPr>
        <p:spPr>
          <a:xfrm>
            <a:off x="7918704" y="3035808"/>
            <a:ext cx="1755648" cy="914400"/>
          </a:xfrm>
          <a:prstGeom prst="roundRect">
            <a:avLst>
              <a:gd name="adj" fmla="val 4500"/>
            </a:avLst>
          </a:prstGeom>
          <a:solidFill>
            <a:srgbClr val="0E2E2C"/>
          </a:solidFill>
          <a:ln w="15875">
            <a:solidFill>
              <a:srgbClr val="E0654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918704" y="3035808"/>
            <a:ext cx="1755648" cy="237744"/>
          </a:xfrm>
          <a:prstGeom prst="roundRect">
            <a:avLst>
              <a:gd name="adj" fmla="val 17308"/>
            </a:avLst>
          </a:prstGeom>
          <a:solidFill>
            <a:srgbClr val="E0654F"/>
          </a:solidFill>
          <a:ln/>
        </p:spPr>
      </p:sp>
      <p:sp>
        <p:nvSpPr>
          <p:cNvPr id="127" name="Shape 125"/>
          <p:cNvSpPr/>
          <p:nvPr/>
        </p:nvSpPr>
        <p:spPr>
          <a:xfrm>
            <a:off x="7918704" y="3154680"/>
            <a:ext cx="1755648" cy="118872"/>
          </a:xfrm>
          <a:prstGeom prst="rect">
            <a:avLst/>
          </a:prstGeom>
          <a:solidFill>
            <a:srgbClr val="E0654F"/>
          </a:solidFill>
          <a:ln/>
        </p:spPr>
      </p:sp>
      <p:sp>
        <p:nvSpPr>
          <p:cNvPr id="128" name="Text 126"/>
          <p:cNvSpPr/>
          <p:nvPr/>
        </p:nvSpPr>
        <p:spPr>
          <a:xfrm>
            <a:off x="7982712" y="303580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AIAuditLogs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8001000" y="3328416"/>
            <a:ext cx="15910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AuditId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NoteId → DentalNotes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InputHash, OutputHash</a:t>
            </a:r>
            <a:endParaRPr lang="en-US" sz="780" dirty="0"/>
          </a:p>
        </p:txBody>
      </p:sp>
      <p:sp>
        <p:nvSpPr>
          <p:cNvPr id="130" name="Shape 128"/>
          <p:cNvSpPr/>
          <p:nvPr/>
        </p:nvSpPr>
        <p:spPr>
          <a:xfrm>
            <a:off x="7918704" y="4087368"/>
            <a:ext cx="1755648" cy="914400"/>
          </a:xfrm>
          <a:prstGeom prst="roundRect">
            <a:avLst>
              <a:gd name="adj" fmla="val 4500"/>
            </a:avLst>
          </a:prstGeom>
          <a:solidFill>
            <a:srgbClr val="0E2E2C"/>
          </a:solidFill>
          <a:ln w="15875">
            <a:solidFill>
              <a:srgbClr val="E0654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918704" y="4087368"/>
            <a:ext cx="1755648" cy="237744"/>
          </a:xfrm>
          <a:prstGeom prst="roundRect">
            <a:avLst>
              <a:gd name="adj" fmla="val 17308"/>
            </a:avLst>
          </a:prstGeom>
          <a:solidFill>
            <a:srgbClr val="E0654F"/>
          </a:solidFill>
          <a:ln/>
        </p:spPr>
      </p:sp>
      <p:sp>
        <p:nvSpPr>
          <p:cNvPr id="132" name="Shape 130"/>
          <p:cNvSpPr/>
          <p:nvPr/>
        </p:nvSpPr>
        <p:spPr>
          <a:xfrm>
            <a:off x="7918704" y="4206240"/>
            <a:ext cx="1755648" cy="118872"/>
          </a:xfrm>
          <a:prstGeom prst="rect">
            <a:avLst/>
          </a:prstGeom>
          <a:solidFill>
            <a:srgbClr val="E0654F"/>
          </a:solidFill>
          <a:ln/>
        </p:spPr>
      </p:sp>
      <p:sp>
        <p:nvSpPr>
          <p:cNvPr id="133" name="Text 131"/>
          <p:cNvSpPr/>
          <p:nvPr/>
        </p:nvSpPr>
        <p:spPr>
          <a:xfrm>
            <a:off x="7982712" y="408736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AIWarnings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8001000" y="4379976"/>
            <a:ext cx="15910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WarningId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NoteId → DentalNotes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Severity, Resolved</a:t>
            </a:r>
            <a:endParaRPr lang="en-US" sz="780" dirty="0"/>
          </a:p>
        </p:txBody>
      </p:sp>
      <p:sp>
        <p:nvSpPr>
          <p:cNvPr id="135" name="Shape 133"/>
          <p:cNvSpPr/>
          <p:nvPr/>
        </p:nvSpPr>
        <p:spPr>
          <a:xfrm>
            <a:off x="9806940" y="1481328"/>
            <a:ext cx="1755648" cy="1051560"/>
          </a:xfrm>
          <a:prstGeom prst="roundRect">
            <a:avLst>
              <a:gd name="adj" fmla="val 3913"/>
            </a:avLst>
          </a:prstGeom>
          <a:solidFill>
            <a:srgbClr val="0E2E2C"/>
          </a:solidFill>
          <a:ln w="15875">
            <a:solidFill>
              <a:srgbClr val="D4A03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806940" y="1481328"/>
            <a:ext cx="1755648" cy="237744"/>
          </a:xfrm>
          <a:prstGeom prst="roundRect">
            <a:avLst>
              <a:gd name="adj" fmla="val 17308"/>
            </a:avLst>
          </a:prstGeom>
          <a:solidFill>
            <a:srgbClr val="D4A03A"/>
          </a:solidFill>
          <a:ln/>
        </p:spPr>
      </p:sp>
      <p:sp>
        <p:nvSpPr>
          <p:cNvPr id="137" name="Shape 135"/>
          <p:cNvSpPr/>
          <p:nvPr/>
        </p:nvSpPr>
        <p:spPr>
          <a:xfrm>
            <a:off x="9806940" y="1600200"/>
            <a:ext cx="1755648" cy="118872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138" name="Text 136"/>
          <p:cNvSpPr/>
          <p:nvPr/>
        </p:nvSpPr>
        <p:spPr>
          <a:xfrm>
            <a:off x="9870948" y="148132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DentalNotePrescriptions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9889236" y="1773936"/>
            <a:ext cx="159105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PrescriptionId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NoteId → DentalNotes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MedicationName, Dose</a:t>
            </a:r>
            <a:endParaRPr lang="en-US" sz="780" dirty="0"/>
          </a:p>
        </p:txBody>
      </p:sp>
      <p:sp>
        <p:nvSpPr>
          <p:cNvPr id="140" name="Shape 138"/>
          <p:cNvSpPr/>
          <p:nvPr/>
        </p:nvSpPr>
        <p:spPr>
          <a:xfrm>
            <a:off x="9806940" y="2670048"/>
            <a:ext cx="1755648" cy="1051560"/>
          </a:xfrm>
          <a:prstGeom prst="roundRect">
            <a:avLst>
              <a:gd name="adj" fmla="val 3913"/>
            </a:avLst>
          </a:prstGeom>
          <a:solidFill>
            <a:srgbClr val="0E2E2C"/>
          </a:solidFill>
          <a:ln w="15875">
            <a:solidFill>
              <a:srgbClr val="D4A03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806940" y="2670048"/>
            <a:ext cx="1755648" cy="237744"/>
          </a:xfrm>
          <a:prstGeom prst="roundRect">
            <a:avLst>
              <a:gd name="adj" fmla="val 17308"/>
            </a:avLst>
          </a:prstGeom>
          <a:solidFill>
            <a:srgbClr val="D4A03A"/>
          </a:solidFill>
          <a:ln/>
        </p:spPr>
      </p:sp>
      <p:sp>
        <p:nvSpPr>
          <p:cNvPr id="142" name="Shape 140"/>
          <p:cNvSpPr/>
          <p:nvPr/>
        </p:nvSpPr>
        <p:spPr>
          <a:xfrm>
            <a:off x="9806940" y="2788920"/>
            <a:ext cx="1755648" cy="118872"/>
          </a:xfrm>
          <a:prstGeom prst="rect">
            <a:avLst/>
          </a:prstGeom>
          <a:solidFill>
            <a:srgbClr val="D4A03A"/>
          </a:solidFill>
          <a:ln/>
        </p:spPr>
      </p:sp>
      <p:sp>
        <p:nvSpPr>
          <p:cNvPr id="143" name="Text 141"/>
          <p:cNvSpPr/>
          <p:nvPr/>
        </p:nvSpPr>
        <p:spPr>
          <a:xfrm>
            <a:off x="9870948" y="267004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DentalNoteTreatmentPlans</a:t>
            </a:r>
            <a:endParaRPr lang="en-US" sz="900" dirty="0"/>
          </a:p>
        </p:txBody>
      </p:sp>
      <p:sp>
        <p:nvSpPr>
          <p:cNvPr id="144" name="Text 142"/>
          <p:cNvSpPr/>
          <p:nvPr/>
        </p:nvSpPr>
        <p:spPr>
          <a:xfrm>
            <a:off x="9889236" y="2962656"/>
            <a:ext cx="1591056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PlanId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NoteId → DentalNotes</a:t>
            </a:r>
            <a:endParaRPr lang="en-US" sz="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8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Stage, Procedure, Cost</a:t>
            </a:r>
            <a:endParaRPr lang="en-US" sz="780" dirty="0"/>
          </a:p>
        </p:txBody>
      </p:sp>
      <p:sp>
        <p:nvSpPr>
          <p:cNvPr id="145" name="Shape 143"/>
          <p:cNvSpPr/>
          <p:nvPr/>
        </p:nvSpPr>
        <p:spPr>
          <a:xfrm>
            <a:off x="9806940" y="3858768"/>
            <a:ext cx="1755648" cy="1417320"/>
          </a:xfrm>
          <a:prstGeom prst="roundRect">
            <a:avLst>
              <a:gd name="adj" fmla="val 2903"/>
            </a:avLst>
          </a:prstGeom>
          <a:solidFill>
            <a:srgbClr val="0E2E2C"/>
          </a:solidFill>
          <a:ln w="12700">
            <a:solidFill>
              <a:srgbClr val="2C4B47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916668" y="3950208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147" name="Text 145"/>
          <p:cNvSpPr/>
          <p:nvPr/>
        </p:nvSpPr>
        <p:spPr>
          <a:xfrm>
            <a:off x="9916668" y="4187952"/>
            <a:ext cx="15361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 Primary Key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 Foreign Key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 References</a:t>
            </a:r>
            <a:endParaRPr lang="en-US" sz="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C7DA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●—▶   One-to-Many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Master Architecture Reference</a:t>
            </a:r>
            <a:endParaRPr lang="en-US" sz="900" dirty="0"/>
          </a:p>
        </p:txBody>
      </p:sp>
      <p:sp>
        <p:nvSpPr>
          <p:cNvPr id="149" name="Text 147"/>
          <p:cNvSpPr/>
          <p:nvPr/>
        </p:nvSpPr>
        <p:spPr>
          <a:xfrm>
            <a:off x="7802575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HEALTH SYSTEMS 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 · 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Model Breakdown: Core Patients &amp; 3D Odontogram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field-level detail for the patient master record, scheduling, and clinical charting tables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74552" cy="12802"/>
          </a:xfrm>
          <a:prstGeom prst="rect">
            <a:avLst/>
          </a:prstGeom>
          <a:solidFill>
            <a:srgbClr val="DCE7E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3611880" cy="448056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3611880" cy="420624"/>
          </a:xfrm>
          <a:prstGeom prst="roundRect">
            <a:avLst>
              <a:gd name="adj" fmla="val 15217"/>
            </a:avLst>
          </a:prstGeom>
          <a:solidFill>
            <a:srgbClr val="15877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920240"/>
            <a:ext cx="3611880" cy="192024"/>
          </a:xfrm>
          <a:prstGeom prst="rect">
            <a:avLst/>
          </a:prstGeom>
          <a:solidFill>
            <a:srgbClr val="15877A"/>
          </a:solidFill>
          <a:ln/>
        </p:spPr>
      </p:sp>
      <p:pic>
        <p:nvPicPr>
          <p:cNvPr id="9" name="Image 0" descr="/home/claude/work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78308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691640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[dentist].[Patients] — Master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21792" y="2240280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&amp; Clinical Record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21792" y="2459736"/>
            <a:ext cx="328269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PatientID (INT, IDENTITY)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FirstName, LastName (NVARCHAR 50)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 (DATE) → drives age &amp; dentition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Gender, Phone, Address, City,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Postcode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HealthcareRegion: 'PK' | 'NZ'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DentitionType: Permanent | Pediatric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Mixed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GuardianName, GuardianRelationship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ProfileImageDataUrl (Base64 avatar)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4288536" y="1691640"/>
            <a:ext cx="3611880" cy="448056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88536" y="1691640"/>
            <a:ext cx="3611880" cy="420624"/>
          </a:xfrm>
          <a:prstGeom prst="roundRect">
            <a:avLst>
              <a:gd name="adj" fmla="val 15217"/>
            </a:avLst>
          </a:prstGeom>
          <a:solidFill>
            <a:srgbClr val="0B3B39"/>
          </a:solidFill>
          <a:ln/>
        </p:spPr>
      </p:sp>
      <p:sp>
        <p:nvSpPr>
          <p:cNvPr id="15" name="Shape 12"/>
          <p:cNvSpPr/>
          <p:nvPr/>
        </p:nvSpPr>
        <p:spPr>
          <a:xfrm>
            <a:off x="4288536" y="1920240"/>
            <a:ext cx="3611880" cy="192024"/>
          </a:xfrm>
          <a:prstGeom prst="rect">
            <a:avLst/>
          </a:prstGeom>
          <a:solidFill>
            <a:srgbClr val="0B3B39"/>
          </a:solidFill>
          <a:ln/>
        </p:spPr>
      </p:sp>
      <p:pic>
        <p:nvPicPr>
          <p:cNvPr id="16" name="Image 1" descr="/home/claude/work/icons/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783080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45736" y="1691640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[dentist].[Doctors] &amp; [Appointments]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453128" y="2240280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— Clinician Master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453128" y="2459736"/>
            <a:ext cx="328269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DoctorID (INT, IDENTITY)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FullName, Email (UNIQUE)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PasswordHash (BCrypt)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Specialization, Role, Region</a:t>
            </a:r>
            <a:endParaRPr lang="en-US" sz="860" dirty="0"/>
          </a:p>
        </p:txBody>
      </p:sp>
      <p:sp>
        <p:nvSpPr>
          <p:cNvPr id="20" name="Text 16"/>
          <p:cNvSpPr/>
          <p:nvPr/>
        </p:nvSpPr>
        <p:spPr>
          <a:xfrm>
            <a:off x="4453128" y="3319272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— Clinic Scheduling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453128" y="3538728"/>
            <a:ext cx="328269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AppointmentID (INT, IDENTITY)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DoctorID → Doctors.DoctorID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FullName, Phone, PreferredDate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Status, Reason</a:t>
            </a:r>
            <a:endParaRPr lang="en-US" sz="860" dirty="0"/>
          </a:p>
        </p:txBody>
      </p:sp>
      <p:sp>
        <p:nvSpPr>
          <p:cNvPr id="22" name="Shape 18"/>
          <p:cNvSpPr/>
          <p:nvPr/>
        </p:nvSpPr>
        <p:spPr>
          <a:xfrm>
            <a:off x="8119872" y="1691640"/>
            <a:ext cx="3611880" cy="448056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119872" y="1691640"/>
            <a:ext cx="3611880" cy="420624"/>
          </a:xfrm>
          <a:prstGeom prst="roundRect">
            <a:avLst>
              <a:gd name="adj" fmla="val 15217"/>
            </a:avLst>
          </a:prstGeom>
          <a:solidFill>
            <a:srgbClr val="5B4B9A"/>
          </a:solidFill>
          <a:ln/>
        </p:spPr>
      </p:sp>
      <p:sp>
        <p:nvSpPr>
          <p:cNvPr id="24" name="Shape 20"/>
          <p:cNvSpPr/>
          <p:nvPr/>
        </p:nvSpPr>
        <p:spPr>
          <a:xfrm>
            <a:off x="8119872" y="1920240"/>
            <a:ext cx="3611880" cy="192024"/>
          </a:xfrm>
          <a:prstGeom prst="rect">
            <a:avLst/>
          </a:prstGeom>
          <a:solidFill>
            <a:srgbClr val="5B4B9A"/>
          </a:solidFill>
          <a:ln/>
        </p:spPr>
      </p:sp>
      <p:pic>
        <p:nvPicPr>
          <p:cNvPr id="25" name="Image 2" descr="/home/claude/work/icons/odonto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1783080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577072" y="1691640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[dentist].[TeethState] &amp; [Radiographs]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284464" y="2240280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TeethState — 3D Odontogram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8284464" y="2459736"/>
            <a:ext cx="328269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TeethStateID (INT, IDENTITY)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PatientID → Patients.PatientID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ToothNumber (1-32 / 11-48 FDI)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Condition, Surface, ColorHex</a:t>
            </a:r>
            <a:endParaRPr lang="en-US" sz="860" dirty="0"/>
          </a:p>
        </p:txBody>
      </p:sp>
      <p:sp>
        <p:nvSpPr>
          <p:cNvPr id="29" name="Text 24"/>
          <p:cNvSpPr/>
          <p:nvPr/>
        </p:nvSpPr>
        <p:spPr>
          <a:xfrm>
            <a:off x="8284464" y="3319272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Radiographs — Digital Imaging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8284464" y="3538728"/>
            <a:ext cx="328269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RadiographID (INT)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PatientID, ToothNumber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ImageType ('Bitewing'/'CBCT')</a:t>
            </a:r>
            <a:endParaRPr lang="en-US" sz="86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ImageUri, AIAnalysisSummary</a:t>
            </a:r>
            <a:endParaRPr lang="en-US" sz="860" dirty="0"/>
          </a:p>
        </p:txBody>
      </p:sp>
      <p:sp>
        <p:nvSpPr>
          <p:cNvPr id="31" name="Text 26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Master Architecture Reference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7802575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HEALTH SYSTEMS 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 · 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Model Breakdown: Ambient Voice, AI Scribing &amp; Plans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field-level detail for the AI scribe pipeline, governance, and treatment/prescription tables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74552" cy="12802"/>
          </a:xfrm>
          <a:prstGeom prst="rect">
            <a:avLst/>
          </a:prstGeom>
          <a:solidFill>
            <a:srgbClr val="DCE7E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3611880" cy="448056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3611880" cy="420624"/>
          </a:xfrm>
          <a:prstGeom prst="roundRect">
            <a:avLst>
              <a:gd name="adj" fmla="val 15217"/>
            </a:avLst>
          </a:prstGeom>
          <a:solidFill>
            <a:srgbClr val="15877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920240"/>
            <a:ext cx="3611880" cy="192024"/>
          </a:xfrm>
          <a:prstGeom prst="rect">
            <a:avLst/>
          </a:prstGeom>
          <a:solidFill>
            <a:srgbClr val="15877A"/>
          </a:solidFill>
          <a:ln/>
        </p:spPr>
      </p:sp>
      <p:pic>
        <p:nvPicPr>
          <p:cNvPr id="9" name="Image 0" descr="/home/claude/work/icons/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78308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691640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[Sessions], [Audio] &amp; [Transcripts]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" y="2221992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DentalNoteSessions — Lifecycle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21792" y="2432304"/>
            <a:ext cx="3282696" cy="5532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SessionId (BIGINT, IDENTITY)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PatientId, DoctorId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Status, StartedAt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621792" y="3081528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AudioRecordings — Raw Ingest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21792" y="3291840"/>
            <a:ext cx="32826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AudioId (BIGINT)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StorageUri, Sha256Hash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621792" y="3767328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— Speech-to-Text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1792" y="3977640"/>
            <a:ext cx="32826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TranscriptId (BIGINT)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RawText, CleanedText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4288536" y="1691640"/>
            <a:ext cx="3611880" cy="448056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88536" y="1691640"/>
            <a:ext cx="3611880" cy="420624"/>
          </a:xfrm>
          <a:prstGeom prst="roundRect">
            <a:avLst>
              <a:gd name="adj" fmla="val 15217"/>
            </a:avLst>
          </a:prstGeom>
          <a:solidFill>
            <a:srgbClr val="5B4B9A"/>
          </a:solidFill>
          <a:ln/>
        </p:spPr>
      </p:sp>
      <p:sp>
        <p:nvSpPr>
          <p:cNvPr id="19" name="Shape 16"/>
          <p:cNvSpPr/>
          <p:nvPr/>
        </p:nvSpPr>
        <p:spPr>
          <a:xfrm>
            <a:off x="4288536" y="1920240"/>
            <a:ext cx="3611880" cy="192024"/>
          </a:xfrm>
          <a:prstGeom prst="rect">
            <a:avLst/>
          </a:prstGeom>
          <a:solidFill>
            <a:srgbClr val="5B4B9A"/>
          </a:solidFill>
          <a:ln/>
        </p:spPr>
      </p:sp>
      <p:pic>
        <p:nvPicPr>
          <p:cNvPr id="20" name="Image 1" descr="/home/claude/work/icons/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1783080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745736" y="1691640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[DentalNotes] &amp; [AI Governance]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453128" y="2221992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DentalNotes — 8-Section SOAP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453128" y="2432304"/>
            <a:ext cx="3282696" cy="891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NoteId (BIGINT, IDENTITY)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ChiefComplaint, HPI,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DentalHistory, Objective,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Assessment, TreatmentPlan,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Prognosis</a:t>
            </a:r>
            <a:endParaRPr lang="en-US" sz="830" dirty="0"/>
          </a:p>
        </p:txBody>
      </p:sp>
      <p:sp>
        <p:nvSpPr>
          <p:cNvPr id="24" name="Text 20"/>
          <p:cNvSpPr/>
          <p:nvPr/>
        </p:nvSpPr>
        <p:spPr>
          <a:xfrm>
            <a:off x="4453128" y="3429000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AIAuditLogs — Non-Repudiation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453128" y="3639312"/>
            <a:ext cx="32826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AuditId (BIGINT)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InputHash, OutputHash, ModelName</a:t>
            </a:r>
            <a:endParaRPr lang="en-US" sz="830" dirty="0"/>
          </a:p>
        </p:txBody>
      </p:sp>
      <p:sp>
        <p:nvSpPr>
          <p:cNvPr id="26" name="Text 22"/>
          <p:cNvSpPr/>
          <p:nvPr/>
        </p:nvSpPr>
        <p:spPr>
          <a:xfrm>
            <a:off x="4453128" y="4114800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AIWarnings — Safety Flags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453128" y="4325112"/>
            <a:ext cx="32826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WarningId (BIGINT)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FieldName, Severity, Resolved</a:t>
            </a:r>
            <a:endParaRPr lang="en-US" sz="830" dirty="0"/>
          </a:p>
        </p:txBody>
      </p:sp>
      <p:sp>
        <p:nvSpPr>
          <p:cNvPr id="28" name="Shape 24"/>
          <p:cNvSpPr/>
          <p:nvPr/>
        </p:nvSpPr>
        <p:spPr>
          <a:xfrm>
            <a:off x="8119872" y="1691640"/>
            <a:ext cx="3611880" cy="448056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119872" y="1691640"/>
            <a:ext cx="3611880" cy="420624"/>
          </a:xfrm>
          <a:prstGeom prst="roundRect">
            <a:avLst>
              <a:gd name="adj" fmla="val 15217"/>
            </a:avLst>
          </a:prstGeom>
          <a:solidFill>
            <a:srgbClr val="C9862F"/>
          </a:solidFill>
          <a:ln/>
        </p:spPr>
      </p:sp>
      <p:sp>
        <p:nvSpPr>
          <p:cNvPr id="30" name="Shape 26"/>
          <p:cNvSpPr/>
          <p:nvPr/>
        </p:nvSpPr>
        <p:spPr>
          <a:xfrm>
            <a:off x="8119872" y="1920240"/>
            <a:ext cx="3611880" cy="192024"/>
          </a:xfrm>
          <a:prstGeom prst="rect">
            <a:avLst/>
          </a:prstGeom>
          <a:solidFill>
            <a:srgbClr val="C9862F"/>
          </a:solidFill>
          <a:ln/>
        </p:spPr>
      </p:sp>
      <p:pic>
        <p:nvPicPr>
          <p:cNvPr id="31" name="Image 2" descr="/home/claude/work/icons/repo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1783080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577072" y="1691640"/>
            <a:ext cx="3063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[Prescriptions] &amp; [TreatmentPlans]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8284464" y="2221992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DentalNotePrescriptions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8284464" y="2432304"/>
            <a:ext cx="3282696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PrescriptionId (BIGINT)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NoteId → DentalNotes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MedicationName, Strength,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Dose, Frequency, Instructions</a:t>
            </a:r>
            <a:endParaRPr lang="en-US" sz="830" dirty="0"/>
          </a:p>
        </p:txBody>
      </p:sp>
      <p:sp>
        <p:nvSpPr>
          <p:cNvPr id="35" name="Text 30"/>
          <p:cNvSpPr/>
          <p:nvPr/>
        </p:nvSpPr>
        <p:spPr>
          <a:xfrm>
            <a:off x="8284464" y="3255264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DentalNoteTreatmentPlans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8284464" y="3465576"/>
            <a:ext cx="3282696" cy="5532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PlanId (BIGINT)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NoteId, Stage, Procedure,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EstCost</a:t>
            </a:r>
            <a:endParaRPr lang="en-US" sz="830" dirty="0"/>
          </a:p>
        </p:txBody>
      </p:sp>
      <p:sp>
        <p:nvSpPr>
          <p:cNvPr id="37" name="Text 32"/>
          <p:cNvSpPr/>
          <p:nvPr/>
        </p:nvSpPr>
        <p:spPr>
          <a:xfrm>
            <a:off x="8284464" y="4114800"/>
            <a:ext cx="3282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— Pharmacy Chart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8284464" y="4325112"/>
            <a:ext cx="328269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PrescriptionID (INT)</a:t>
            </a:r>
            <a:endParaRPr lang="en-US" sz="8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30" dirty="0">
                <a:solidFill>
                  <a:srgbClr val="5C71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PatientID, DoctorID</a:t>
            </a:r>
            <a:endParaRPr lang="en-US" sz="830" dirty="0"/>
          </a:p>
        </p:txBody>
      </p:sp>
      <p:sp>
        <p:nvSpPr>
          <p:cNvPr id="39" name="Text 3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Master Architecture Reference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7802575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HEALTH SYSTEMS 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GRAPHICS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Dental Odontogram: Three.js, R3F &amp; Shader Engine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WebGL scene, numbering systems, and condition shaders work together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74552" cy="12802"/>
          </a:xfrm>
          <a:prstGeom prst="rect">
            <a:avLst/>
          </a:prstGeom>
          <a:solidFill>
            <a:srgbClr val="DCE7E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1127455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2084832"/>
            <a:ext cx="585216" cy="585216"/>
          </a:xfrm>
          <a:prstGeom prst="ellipse">
            <a:avLst/>
          </a:prstGeom>
          <a:solidFill>
            <a:srgbClr val="15877A"/>
          </a:solidFill>
          <a:ln/>
        </p:spPr>
      </p:sp>
      <p:pic>
        <p:nvPicPr>
          <p:cNvPr id="8" name="Image 0" descr="/home/claude/work/icons/or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396" y="2225284"/>
            <a:ext cx="304312" cy="304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8745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WebGL Scene &amp; Camera Architecture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892040" y="1892808"/>
            <a:ext cx="12802" cy="969264"/>
          </a:xfrm>
          <a:prstGeom prst="rect">
            <a:avLst/>
          </a:prstGeom>
          <a:solidFill>
            <a:srgbClr val="DCE7E5"/>
          </a:solidFill>
          <a:ln/>
        </p:spPr>
      </p:sp>
      <p:sp>
        <p:nvSpPr>
          <p:cNvPr id="11" name="Text 8"/>
          <p:cNvSpPr/>
          <p:nvPr/>
        </p:nvSpPr>
        <p:spPr>
          <a:xfrm>
            <a:off x="5120640" y="1856232"/>
            <a:ext cx="64008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via @react-three/fiber v9.7 declarative React canvas</a:t>
            </a:r>
            <a:endParaRPr lang="en-US" sz="110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@react-three/drei OrbitControls enable smooth 360° rotation, pitch &amp; zoom</a:t>
            </a:r>
            <a:endParaRPr lang="en-US" sz="110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Auto-focus raycasting zooms smoothly to the inspected tooth on selection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1127455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4944" y="3639312"/>
            <a:ext cx="585216" cy="585216"/>
          </a:xfrm>
          <a:prstGeom prst="ellipse">
            <a:avLst/>
          </a:prstGeom>
          <a:solidFill>
            <a:srgbClr val="0B3B39"/>
          </a:solidFill>
          <a:ln/>
        </p:spPr>
      </p:sp>
      <p:pic>
        <p:nvPicPr>
          <p:cNvPr id="14" name="Image 1" descr="/home/claude/work/icons/sm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96" y="3779764"/>
            <a:ext cx="304312" cy="304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3429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 (1-32) &amp; FDI (11-48) Adapters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892040" y="3447288"/>
            <a:ext cx="12802" cy="969264"/>
          </a:xfrm>
          <a:prstGeom prst="rect">
            <a:avLst/>
          </a:prstGeom>
          <a:solidFill>
            <a:srgbClr val="DCE7E5"/>
          </a:solidFill>
          <a:ln/>
        </p:spPr>
      </p:sp>
      <p:sp>
        <p:nvSpPr>
          <p:cNvPr id="17" name="Text 13"/>
          <p:cNvSpPr/>
          <p:nvPr/>
        </p:nvSpPr>
        <p:spPr>
          <a:xfrm>
            <a:off x="5120640" y="3410712"/>
            <a:ext cx="64008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Universal Numbering (USA standard) and FDI Two-Digit (international)</a:t>
            </a:r>
            <a:endParaRPr lang="en-US" sz="110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arch morphing: Adult (32 teeth), Pediatric primary (20 teeth, A-T)</a:t>
            </a:r>
            <a:endParaRPr lang="en-US" sz="110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dentition mode blends primary and permanent teeth by patient age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4800600"/>
            <a:ext cx="1127455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4944" y="5020056"/>
            <a:ext cx="457200" cy="457200"/>
          </a:xfrm>
          <a:prstGeom prst="ellipse">
            <a:avLst/>
          </a:prstGeom>
          <a:solidFill>
            <a:srgbClr val="5B4B9A"/>
          </a:solidFill>
          <a:ln/>
        </p:spPr>
      </p:sp>
      <p:pic>
        <p:nvPicPr>
          <p:cNvPr id="20" name="Image 2" descr="/home/claude/work/icons/palet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129784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16736" y="4983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Condition Shaders &amp; Texturing</a:t>
            </a:r>
            <a:endParaRPr lang="en-US" sz="1550" dirty="0"/>
          </a:p>
        </p:txBody>
      </p:sp>
      <p:sp>
        <p:nvSpPr>
          <p:cNvPr id="22" name="Shape 17"/>
          <p:cNvSpPr/>
          <p:nvPr/>
        </p:nvSpPr>
        <p:spPr>
          <a:xfrm>
            <a:off x="685800" y="551383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85800" y="5788152"/>
            <a:ext cx="17724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Caries / Cavity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685800" y="5971032"/>
            <a:ext cx="17724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High-visibility pulsing crimson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2513076" y="551383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513076" y="5788152"/>
            <a:ext cx="17724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2513076" y="5971032"/>
            <a:ext cx="17724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cyan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4340352" y="551383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340352" y="5788152"/>
            <a:ext cx="17724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Amalgam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4340352" y="5971032"/>
            <a:ext cx="17724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Metallic silver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6167628" y="551383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167628" y="5788152"/>
            <a:ext cx="17724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6167628" y="5971032"/>
            <a:ext cx="17724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royal blue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7994904" y="551383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994904" y="5788152"/>
            <a:ext cx="17724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Canal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7994904" y="5971032"/>
            <a:ext cx="17724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Restorative gold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9822180" y="5513832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94A3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9822180" y="5788152"/>
            <a:ext cx="17724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Implant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9822180" y="5971032"/>
            <a:ext cx="17724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transparency + titanium anchor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Master Architecture Reference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7802575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HEALTH SYSTEMS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Geocoding Intake: OpenStreetMap + Mapbox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address autocomplete for hyper-local South Asian and New Zealand geographies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74552" cy="12802"/>
          </a:xfrm>
          <a:prstGeom prst="rect">
            <a:avLst/>
          </a:prstGeom>
          <a:solidFill>
            <a:srgbClr val="DCE7E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E14F3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258568"/>
            <a:ext cx="3611880" cy="210312"/>
          </a:xfrm>
          <a:prstGeom prst="rect">
            <a:avLst/>
          </a:prstGeom>
          <a:solidFill>
            <a:srgbClr val="E14F3D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856232"/>
            <a:ext cx="438912" cy="438912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0" name="Image 0" descr="/home/claude/work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956816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43584" y="18196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Clinical Challenge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76656" y="2651760"/>
            <a:ext cx="317296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4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Mapbox API failed on Pakistani CDA sectors (F-6, F-7, G-9, DHA, Bahria Town) without an explicit city name</a:t>
            </a:r>
            <a:endParaRPr lang="en-US" sz="104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4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shadow-DOM web components blocked manual typing of rural or custom clinic addresses</a:t>
            </a:r>
            <a:endParaRPr lang="en-US" sz="104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4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production environment variables caused silent search failures</a:t>
            </a:r>
            <a:endParaRPr lang="en-US" sz="1040" dirty="0"/>
          </a:p>
        </p:txBody>
      </p:sp>
      <p:sp>
        <p:nvSpPr>
          <p:cNvPr id="13" name="Shape 10"/>
          <p:cNvSpPr/>
          <p:nvPr/>
        </p:nvSpPr>
        <p:spPr>
          <a:xfrm>
            <a:off x="4288536" y="169164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88536" y="16916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15877A"/>
          </a:solidFill>
          <a:ln/>
        </p:spPr>
      </p:sp>
      <p:sp>
        <p:nvSpPr>
          <p:cNvPr id="15" name="Shape 12"/>
          <p:cNvSpPr/>
          <p:nvPr/>
        </p:nvSpPr>
        <p:spPr>
          <a:xfrm>
            <a:off x="4288536" y="2258568"/>
            <a:ext cx="3611880" cy="210312"/>
          </a:xfrm>
          <a:prstGeom prst="rect">
            <a:avLst/>
          </a:prstGeom>
          <a:solidFill>
            <a:srgbClr val="15877A"/>
          </a:solidFill>
          <a:ln/>
        </p:spPr>
      </p:sp>
      <p:sp>
        <p:nvSpPr>
          <p:cNvPr id="16" name="Shape 13"/>
          <p:cNvSpPr/>
          <p:nvPr/>
        </p:nvSpPr>
        <p:spPr>
          <a:xfrm>
            <a:off x="4489704" y="1856232"/>
            <a:ext cx="438912" cy="438912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7" name="Image 1" descr="/home/claude/work/icons/g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956816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74920" y="18196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Geocoding Architecture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507992" y="2651760"/>
            <a:ext cx="317296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4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1: OpenStreetMap Nominatim (accept-language=en) handles hyper-local sectors, suburbs &amp; postcodes</a:t>
            </a:r>
            <a:endParaRPr lang="en-US" sz="104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4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2: Mapbox Geocoding REST API with an encoded fallback token resolves highways, avenues &amp; global cities</a:t>
            </a:r>
            <a:endParaRPr lang="en-US" sz="104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4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deduplication merges both result sets seamlessly</a:t>
            </a:r>
            <a:endParaRPr lang="en-US" sz="1040" dirty="0"/>
          </a:p>
        </p:txBody>
      </p:sp>
      <p:sp>
        <p:nvSpPr>
          <p:cNvPr id="20" name="Shape 16"/>
          <p:cNvSpPr/>
          <p:nvPr/>
        </p:nvSpPr>
        <p:spPr>
          <a:xfrm>
            <a:off x="8119872" y="169164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19872" y="16916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C9862F"/>
          </a:solidFill>
          <a:ln/>
        </p:spPr>
      </p:sp>
      <p:sp>
        <p:nvSpPr>
          <p:cNvPr id="22" name="Shape 18"/>
          <p:cNvSpPr/>
          <p:nvPr/>
        </p:nvSpPr>
        <p:spPr>
          <a:xfrm>
            <a:off x="8119872" y="2258568"/>
            <a:ext cx="3611880" cy="210312"/>
          </a:xfrm>
          <a:prstGeom prst="rect">
            <a:avLst/>
          </a:prstGeom>
          <a:solidFill>
            <a:srgbClr val="C9862F"/>
          </a:solidFill>
          <a:ln/>
        </p:spPr>
      </p:sp>
      <p:sp>
        <p:nvSpPr>
          <p:cNvPr id="23" name="Shape 19"/>
          <p:cNvSpPr/>
          <p:nvPr/>
        </p:nvSpPr>
        <p:spPr>
          <a:xfrm>
            <a:off x="8321040" y="1856232"/>
            <a:ext cx="438912" cy="438912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4" name="Image 2" descr="/home/claude/work/icons/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1956816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906256" y="18196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Clinician UI/UX Innovations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8339328" y="2651760"/>
            <a:ext cx="317296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4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non-clipping drawer expands beneath the search input without covering City/Postcode fields</a:t>
            </a:r>
            <a:endParaRPr lang="en-US" sz="104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4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select &amp; fill populates Street, City, and Postcode with a green “✓ Synced” animated badge</a:t>
            </a:r>
            <a:endParaRPr lang="en-US" sz="1040" dirty="0"/>
          </a:p>
          <a:p>
            <a:pPr marL="152400" indent="-152400">
              <a:lnSpc>
                <a:spcPct val="128000"/>
              </a:lnSpc>
              <a:buSzPct val="100000"/>
              <a:buChar char="•"/>
            </a:pPr>
            <a:r>
              <a:rPr lang="en-US" sz="104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city chips: 1-click pills for Islamabad, Lahore, Auckland, Wellington</a:t>
            </a:r>
            <a:endParaRPr lang="en-US" sz="1040" dirty="0"/>
          </a:p>
        </p:txBody>
      </p:sp>
      <p:sp>
        <p:nvSpPr>
          <p:cNvPr id="27" name="Text 22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Master Architecture Reference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7802575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HEALTH SYSTEMS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Multi-Tier AI Scribing: Vertex AI, Groq LPU &amp; Offline LLM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3-tier failover architecture that keeps the clinic scribing under any network condition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74552" cy="12802"/>
          </a:xfrm>
          <a:prstGeom prst="rect">
            <a:avLst/>
          </a:prstGeom>
          <a:solidFill>
            <a:srgbClr val="DCE7E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11274552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109728" cy="138988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2112264"/>
            <a:ext cx="548640" cy="548640"/>
          </a:xfrm>
          <a:prstGeom prst="ellipse">
            <a:avLst/>
          </a:prstGeom>
          <a:solidFill>
            <a:srgbClr val="0B3B39"/>
          </a:solidFill>
          <a:ln/>
        </p:spPr>
      </p:sp>
      <p:pic>
        <p:nvPicPr>
          <p:cNvPr id="9" name="Image 0" descr="/home/claude/work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330" y="2243938"/>
            <a:ext cx="285293" cy="2852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83794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 — Google Cloud Vertex AI (Gemini 1.5 Flash)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17320" y="224028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0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clinical SOAP scribing engine via Google.Cloud.AIPlatform.V1</a:t>
            </a:r>
            <a:endParaRPr lang="en-US" sz="960" dirty="0"/>
          </a:p>
          <a:p>
            <a:pPr marL="127000" indent="-127000">
              <a:lnSpc>
                <a:spcPct val="120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medical domain knowledge for anatomical tooth extraction, FDI mapping &amp; dosage verification</a:t>
            </a:r>
            <a:endParaRPr lang="en-US" sz="960" dirty="0"/>
          </a:p>
          <a:p>
            <a:pPr marL="127000" indent="-127000">
              <a:lnSpc>
                <a:spcPct val="120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semantic precision on complex, multi-procedure consults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8046720" y="1874520"/>
            <a:ext cx="12802" cy="1024128"/>
          </a:xfrm>
          <a:prstGeom prst="rect">
            <a:avLst/>
          </a:prstGeom>
          <a:solidFill>
            <a:srgbClr val="DCE7E5"/>
          </a:solidFill>
          <a:ln/>
        </p:spPr>
      </p:sp>
      <p:sp>
        <p:nvSpPr>
          <p:cNvPr id="13" name="Text 10"/>
          <p:cNvSpPr/>
          <p:nvPr/>
        </p:nvSpPr>
        <p:spPr>
          <a:xfrm>
            <a:off x="8275320" y="194767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~1.2–2.0s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275320" y="25328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3246120"/>
            <a:ext cx="11274552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3246120"/>
            <a:ext cx="109728" cy="138988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676656" y="3666744"/>
            <a:ext cx="548640" cy="548640"/>
          </a:xfrm>
          <a:prstGeom prst="ellipse">
            <a:avLst/>
          </a:prstGeom>
          <a:solidFill>
            <a:srgbClr val="15877A"/>
          </a:solidFill>
          <a:ln/>
        </p:spPr>
      </p:sp>
      <p:pic>
        <p:nvPicPr>
          <p:cNvPr id="18" name="Image 1" descr="/home/claude/work/icons/gro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30" y="3798418"/>
            <a:ext cx="285293" cy="28529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17320" y="339242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 — Groq LPU Ultra-Fast Inference (Llama-3-70b)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417320" y="379476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0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conversational sync via GroqAIService.cs</a:t>
            </a:r>
            <a:endParaRPr lang="en-US" sz="960" dirty="0"/>
          </a:p>
          <a:p>
            <a:pPr marL="127000" indent="-127000">
              <a:lnSpc>
                <a:spcPct val="120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live Intake AI Assistant and real-time operatory dictation</a:t>
            </a:r>
            <a:endParaRPr lang="en-US" sz="960" dirty="0"/>
          </a:p>
          <a:p>
            <a:pPr marL="127000" indent="-127000">
              <a:lnSpc>
                <a:spcPct val="120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doctor voice feedback without lag</a:t>
            </a:r>
            <a:endParaRPr lang="en-US" sz="960" dirty="0"/>
          </a:p>
        </p:txBody>
      </p:sp>
      <p:sp>
        <p:nvSpPr>
          <p:cNvPr id="21" name="Shape 17"/>
          <p:cNvSpPr/>
          <p:nvPr/>
        </p:nvSpPr>
        <p:spPr>
          <a:xfrm>
            <a:off x="8046720" y="3429000"/>
            <a:ext cx="12802" cy="1024128"/>
          </a:xfrm>
          <a:prstGeom prst="rect">
            <a:avLst/>
          </a:prstGeom>
          <a:solidFill>
            <a:srgbClr val="DCE7E5"/>
          </a:solidFill>
          <a:ln/>
        </p:spPr>
      </p:sp>
      <p:sp>
        <p:nvSpPr>
          <p:cNvPr id="22" name="Text 18"/>
          <p:cNvSpPr/>
          <p:nvPr/>
        </p:nvSpPr>
        <p:spPr>
          <a:xfrm>
            <a:off x="8275320" y="350215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8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~300–600ms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8275320" y="40873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7200" y="4800600"/>
            <a:ext cx="11274552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7200" y="4800600"/>
            <a:ext cx="109728" cy="138988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676656" y="5221224"/>
            <a:ext cx="548640" cy="548640"/>
          </a:xfrm>
          <a:prstGeom prst="ellipse">
            <a:avLst/>
          </a:prstGeom>
          <a:solidFill>
            <a:srgbClr val="3E5C58"/>
          </a:solidFill>
          <a:ln/>
        </p:spPr>
      </p:sp>
      <p:pic>
        <p:nvPicPr>
          <p:cNvPr id="27" name="Image 2" descr="/home/claude/work/icons/off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30" y="5352898"/>
            <a:ext cx="285293" cy="285293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17320" y="494690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3 — On-Demand Local LLM Failover (Ollama Air-Gap)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1417320" y="534924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120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resilience via OnDemandLocalLLMService.cs</a:t>
            </a:r>
            <a:endParaRPr lang="en-US" sz="960" dirty="0"/>
          </a:p>
          <a:p>
            <a:pPr marL="127000" indent="-127000">
              <a:lnSpc>
                <a:spcPct val="120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activates if connectivity drops, or in strict air-gapped hospital LANs</a:t>
            </a:r>
            <a:endParaRPr lang="en-US" sz="960" dirty="0"/>
          </a:p>
          <a:p>
            <a:pPr marL="127000" indent="-127000">
              <a:lnSpc>
                <a:spcPct val="120000"/>
              </a:lnSpc>
              <a:buSzPct val="100000"/>
              <a:buChar char="•"/>
            </a:pPr>
            <a:r>
              <a:rPr lang="en-US" sz="96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HIPAA/GDPR local containment — zero audio or text packets leave the premises</a:t>
            </a:r>
            <a:endParaRPr lang="en-US" sz="960" dirty="0"/>
          </a:p>
        </p:txBody>
      </p:sp>
      <p:sp>
        <p:nvSpPr>
          <p:cNvPr id="30" name="Shape 25"/>
          <p:cNvSpPr/>
          <p:nvPr/>
        </p:nvSpPr>
        <p:spPr>
          <a:xfrm>
            <a:off x="8046720" y="4983480"/>
            <a:ext cx="12802" cy="1024128"/>
          </a:xfrm>
          <a:prstGeom prst="rect">
            <a:avLst/>
          </a:prstGeom>
          <a:solidFill>
            <a:srgbClr val="DCE7E5"/>
          </a:solidFill>
          <a:ln/>
        </p:spPr>
      </p:sp>
      <p:sp>
        <p:nvSpPr>
          <p:cNvPr id="31" name="Text 26"/>
          <p:cNvSpPr/>
          <p:nvPr/>
        </p:nvSpPr>
        <p:spPr>
          <a:xfrm>
            <a:off x="8275320" y="505663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5C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32" name="Text 27"/>
          <p:cNvSpPr/>
          <p:nvPr/>
        </p:nvSpPr>
        <p:spPr>
          <a:xfrm>
            <a:off x="8275320" y="56418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Master Architecture Reference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7802575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HEALTH SYSTEMS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58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 SEQUENCE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Integration: How Tools &amp; Skills Connect End-to-End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request path from intake keystroke to a synchronized, signed clinical record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1274552" cy="12802"/>
          </a:xfrm>
          <a:prstGeom prst="rect">
            <a:avLst/>
          </a:prstGeom>
          <a:solidFill>
            <a:srgbClr val="DCE7E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11274552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956816"/>
            <a:ext cx="512064" cy="512064"/>
          </a:xfrm>
          <a:prstGeom prst="ellipse">
            <a:avLst/>
          </a:prstGeom>
          <a:solidFill>
            <a:srgbClr val="15877A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9568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819656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Intake &amp; Geocoding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71600" y="2148840"/>
            <a:ext cx="7818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types address → OpenStreetMap &amp; Mapbox query in parallel → results populate Street, City, Postcode → dentition arch adapts to age.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9400032" y="1856232"/>
            <a:ext cx="2331720" cy="292608"/>
          </a:xfrm>
          <a:prstGeom prst="roundRect">
            <a:avLst>
              <a:gd name="adj" fmla="val 50000"/>
            </a:avLst>
          </a:prstGeom>
          <a:solidFill>
            <a:srgbClr val="15877A"/>
          </a:solidFill>
          <a:ln/>
        </p:spPr>
      </p:sp>
      <p:pic>
        <p:nvPicPr>
          <p:cNvPr id="12" name="Image 0" descr="/home/claude/work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2328" y="1911096"/>
            <a:ext cx="182880" cy="182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701784" y="185623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Dual Geocoding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786384" y="2743200"/>
            <a:ext cx="256032" cy="128016"/>
          </a:xfrm>
          <a:prstGeom prst="downArrow">
            <a:avLst/>
          </a:prstGeom>
          <a:solidFill>
            <a:srgbClr val="22C3A6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2880360"/>
            <a:ext cx="11274552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8368" y="3145536"/>
            <a:ext cx="512064" cy="512064"/>
          </a:xfrm>
          <a:prstGeom prst="ellipse">
            <a:avLst/>
          </a:prstGeom>
          <a:solidFill>
            <a:srgbClr val="0B3B39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31455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371600" y="3008376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Voice Dictation Ingest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371600" y="3337560"/>
            <a:ext cx="7818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streams audio → Web Speech transcribes in real time → .NET API computes a SHA-256 hash → [AudioRecordings] &amp; [Transcripts] saved.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9400032" y="3044952"/>
            <a:ext cx="2331720" cy="292608"/>
          </a:xfrm>
          <a:prstGeom prst="roundRect">
            <a:avLst>
              <a:gd name="adj" fmla="val 50000"/>
            </a:avLst>
          </a:prstGeom>
          <a:solidFill>
            <a:srgbClr val="0B3B39"/>
          </a:solidFill>
          <a:ln/>
        </p:spPr>
      </p:sp>
      <p:pic>
        <p:nvPicPr>
          <p:cNvPr id="21" name="Image 1" descr="/home/claude/work/icons/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2328" y="3099816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701784" y="30449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+ .NET 10 API</a:t>
            </a:r>
            <a:endParaRPr lang="en-US" sz="870" dirty="0"/>
          </a:p>
        </p:txBody>
      </p:sp>
      <p:sp>
        <p:nvSpPr>
          <p:cNvPr id="23" name="Shape 19"/>
          <p:cNvSpPr/>
          <p:nvPr/>
        </p:nvSpPr>
        <p:spPr>
          <a:xfrm>
            <a:off x="786384" y="3931920"/>
            <a:ext cx="256032" cy="128016"/>
          </a:xfrm>
          <a:prstGeom prst="downArrow">
            <a:avLst/>
          </a:prstGeom>
          <a:solidFill>
            <a:srgbClr val="22C3A6"/>
          </a:solidFill>
          <a:ln/>
        </p:spPr>
      </p:sp>
      <p:sp>
        <p:nvSpPr>
          <p:cNvPr id="24" name="Shape 20"/>
          <p:cNvSpPr/>
          <p:nvPr/>
        </p:nvSpPr>
        <p:spPr>
          <a:xfrm>
            <a:off x="457200" y="4069080"/>
            <a:ext cx="11274552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58368" y="4334256"/>
            <a:ext cx="512064" cy="512064"/>
          </a:xfrm>
          <a:prstGeom prst="ellipse">
            <a:avLst/>
          </a:prstGeom>
          <a:solidFill>
            <a:srgbClr val="5B4B9A"/>
          </a:solidFill>
          <a:ln/>
        </p:spPr>
      </p:sp>
      <p:sp>
        <p:nvSpPr>
          <p:cNvPr id="26" name="Text 22"/>
          <p:cNvSpPr/>
          <p:nvPr/>
        </p:nvSpPr>
        <p:spPr>
          <a:xfrm>
            <a:off x="658368" y="43342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1371600" y="4197096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AI Scribing &amp; SOAP Compilation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1371600" y="4526280"/>
            <a:ext cx="7818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transcript sent to Gemini 1.5 Flash / Groq → 8-section SOAP compiled → drugs parsed to [DentalNotePrescriptions] → hashes logged to [AIAuditLogs].</a:t>
            </a:r>
            <a:endParaRPr lang="en-US" sz="980" dirty="0"/>
          </a:p>
        </p:txBody>
      </p:sp>
      <p:sp>
        <p:nvSpPr>
          <p:cNvPr id="29" name="Shape 25"/>
          <p:cNvSpPr/>
          <p:nvPr/>
        </p:nvSpPr>
        <p:spPr>
          <a:xfrm>
            <a:off x="9400032" y="4233672"/>
            <a:ext cx="2331720" cy="292608"/>
          </a:xfrm>
          <a:prstGeom prst="roundRect">
            <a:avLst>
              <a:gd name="adj" fmla="val 50000"/>
            </a:avLst>
          </a:prstGeom>
          <a:solidFill>
            <a:srgbClr val="5B4B9A"/>
          </a:solidFill>
          <a:ln/>
        </p:spPr>
      </p:sp>
      <p:pic>
        <p:nvPicPr>
          <p:cNvPr id="30" name="Image 2" descr="/home/claude/work/icons/a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328" y="4288536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701784" y="423367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/ Groq LPU</a:t>
            </a:r>
            <a:endParaRPr lang="en-US" sz="870" dirty="0"/>
          </a:p>
        </p:txBody>
      </p:sp>
      <p:sp>
        <p:nvSpPr>
          <p:cNvPr id="32" name="Shape 27"/>
          <p:cNvSpPr/>
          <p:nvPr/>
        </p:nvSpPr>
        <p:spPr>
          <a:xfrm>
            <a:off x="786384" y="5120640"/>
            <a:ext cx="256032" cy="128016"/>
          </a:xfrm>
          <a:prstGeom prst="downArrow">
            <a:avLst/>
          </a:prstGeom>
          <a:solidFill>
            <a:srgbClr val="22C3A6"/>
          </a:solidFill>
          <a:ln/>
        </p:spPr>
      </p:sp>
      <p:sp>
        <p:nvSpPr>
          <p:cNvPr id="33" name="Shape 28"/>
          <p:cNvSpPr/>
          <p:nvPr/>
        </p:nvSpPr>
        <p:spPr>
          <a:xfrm>
            <a:off x="457200" y="5257800"/>
            <a:ext cx="11274552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  <a:effectLst>
            <a:outerShdw sx="100000" sy="100000" kx="0" ky="0" algn="bl" rotWithShape="0" blurRad="63500" dist="25400" dir="5400000">
              <a:srgbClr val="6B8580">
                <a:alpha val="15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58368" y="5522976"/>
            <a:ext cx="512064" cy="512064"/>
          </a:xfrm>
          <a:prstGeom prst="ellipse">
            <a:avLst/>
          </a:prstGeom>
          <a:solidFill>
            <a:srgbClr val="C9862F"/>
          </a:solidFill>
          <a:ln/>
        </p:spPr>
      </p:sp>
      <p:sp>
        <p:nvSpPr>
          <p:cNvPr id="35" name="Text 30"/>
          <p:cNvSpPr/>
          <p:nvPr/>
        </p:nvSpPr>
        <p:spPr>
          <a:xfrm>
            <a:off x="658368" y="552297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Text 31"/>
          <p:cNvSpPr/>
          <p:nvPr/>
        </p:nvSpPr>
        <p:spPr>
          <a:xfrm>
            <a:off x="1371600" y="5385816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C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Safety Check &amp; 3D Sync</a:t>
            </a:r>
            <a:endParaRPr lang="en-US" sz="1350" dirty="0"/>
          </a:p>
        </p:txBody>
      </p:sp>
      <p:sp>
        <p:nvSpPr>
          <p:cNvPr id="37" name="Text 32"/>
          <p:cNvSpPr/>
          <p:nvPr/>
        </p:nvSpPr>
        <p:spPr>
          <a:xfrm>
            <a:off x="1371600" y="5715000"/>
            <a:ext cx="7818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8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Allergies cross-referenced in [AIWarnings] → tooth conditions mapped to the Three.js WebGL canvas → colors update → spoken voice confirms success.</a:t>
            </a:r>
            <a:endParaRPr lang="en-US" sz="980" dirty="0"/>
          </a:p>
        </p:txBody>
      </p:sp>
      <p:sp>
        <p:nvSpPr>
          <p:cNvPr id="38" name="Shape 33"/>
          <p:cNvSpPr/>
          <p:nvPr/>
        </p:nvSpPr>
        <p:spPr>
          <a:xfrm>
            <a:off x="9400032" y="5422392"/>
            <a:ext cx="2331720" cy="292608"/>
          </a:xfrm>
          <a:prstGeom prst="roundRect">
            <a:avLst>
              <a:gd name="adj" fmla="val 50000"/>
            </a:avLst>
          </a:prstGeom>
          <a:solidFill>
            <a:srgbClr val="C9862F"/>
          </a:solidFill>
          <a:ln/>
        </p:spPr>
      </p:sp>
      <p:pic>
        <p:nvPicPr>
          <p:cNvPr id="39" name="Image 3" descr="/home/claude/work/icons/odonto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28" y="5477256"/>
            <a:ext cx="182880" cy="18288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9701784" y="542239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+ [AIWarnings]</a:t>
            </a:r>
            <a:endParaRPr lang="en-US" sz="870" dirty="0"/>
          </a:p>
        </p:txBody>
      </p:sp>
      <p:sp>
        <p:nvSpPr>
          <p:cNvPr id="41" name="Text 35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Master Architecture Reference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7802575" y="65105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5C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DENTIA HEALTH SYSTEMS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2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ln w="12700">
            <a:solidFill>
              <a:srgbClr val="15877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206240"/>
            <a:ext cx="5486400" cy="5486400"/>
          </a:xfrm>
          <a:prstGeom prst="ellipse">
            <a:avLst/>
          </a:prstGeom>
          <a:ln w="12700">
            <a:solidFill>
              <a:srgbClr val="22C3A6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2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SYSTEM READINESS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Dentia: Production-Ready Dental AI Platform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108606" cy="3200400"/>
          </a:xfrm>
          <a:prstGeom prst="roundRect">
            <a:avLst>
              <a:gd name="adj" fmla="val 3903"/>
            </a:avLst>
          </a:prstGeom>
          <a:solidFill>
            <a:srgbClr val="0F4A47"/>
          </a:solidFill>
          <a:ln w="12700">
            <a:solidFill>
              <a:srgbClr val="1C6B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92047" y="1929384"/>
            <a:ext cx="438912" cy="438912"/>
          </a:xfrm>
          <a:prstGeom prst="ellipse">
            <a:avLst/>
          </a:prstGeom>
          <a:solidFill>
            <a:srgbClr val="12615E"/>
          </a:solidFill>
          <a:ln/>
        </p:spPr>
      </p:sp>
      <p:pic>
        <p:nvPicPr>
          <p:cNvPr id="8" name="Image 0" descr="/home/claude/work/icons/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386" y="2034723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514600"/>
            <a:ext cx="21086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03504" y="3200400"/>
            <a:ext cx="181599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BF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tools integrated across React 19, Three.js, .NET 10 Web API, Dapper, SQL Server 2022, Vertex AI, and Groq LPU.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2748686" y="1691640"/>
            <a:ext cx="2108606" cy="3200400"/>
          </a:xfrm>
          <a:prstGeom prst="roundRect">
            <a:avLst>
              <a:gd name="adj" fmla="val 3903"/>
            </a:avLst>
          </a:prstGeom>
          <a:solidFill>
            <a:srgbClr val="0F4A47"/>
          </a:solidFill>
          <a:ln w="12700">
            <a:solidFill>
              <a:srgbClr val="1C6B6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83534" y="1929384"/>
            <a:ext cx="438912" cy="438912"/>
          </a:xfrm>
          <a:prstGeom prst="ellipse">
            <a:avLst/>
          </a:prstGeom>
          <a:solidFill>
            <a:srgbClr val="12615E"/>
          </a:solidFill>
          <a:ln/>
        </p:spPr>
      </p:sp>
      <p:pic>
        <p:nvPicPr>
          <p:cNvPr id="13" name="Image 1" descr="/home/claude/work/icons/scri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872" y="2034723"/>
            <a:ext cx="228234" cy="2282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48686" y="2514600"/>
            <a:ext cx="21086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2894990" y="3200400"/>
            <a:ext cx="181599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BF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clinical skills — ambient SOAP scribing, 3D anatomical odontogram, voice dictation, allergy warnings, and audit hashing.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5040173" y="1691640"/>
            <a:ext cx="2108606" cy="3200400"/>
          </a:xfrm>
          <a:prstGeom prst="roundRect">
            <a:avLst>
              <a:gd name="adj" fmla="val 3903"/>
            </a:avLst>
          </a:prstGeom>
          <a:solidFill>
            <a:srgbClr val="0F4A47"/>
          </a:solidFill>
          <a:ln w="12700">
            <a:solidFill>
              <a:srgbClr val="1C6B6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75020" y="1929384"/>
            <a:ext cx="438912" cy="438912"/>
          </a:xfrm>
          <a:prstGeom prst="ellipse">
            <a:avLst/>
          </a:prstGeom>
          <a:solidFill>
            <a:srgbClr val="12615E"/>
          </a:solidFill>
          <a:ln/>
        </p:spPr>
      </p:sp>
      <p:pic>
        <p:nvPicPr>
          <p:cNvPr id="18" name="Image 2" descr="/home/claude/work/icons/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359" y="2034723"/>
            <a:ext cx="228234" cy="2282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40173" y="2514600"/>
            <a:ext cx="21086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5186477" y="3200400"/>
            <a:ext cx="181599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BF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PPI architecture with a fully visual diagram mapping consultation audio to 3D chart sync and HIPAA/GDPR governance.</a:t>
            </a:r>
            <a:endParaRPr lang="en-US" sz="930" dirty="0"/>
          </a:p>
        </p:txBody>
      </p:sp>
      <p:sp>
        <p:nvSpPr>
          <p:cNvPr id="21" name="Shape 16"/>
          <p:cNvSpPr/>
          <p:nvPr/>
        </p:nvSpPr>
        <p:spPr>
          <a:xfrm>
            <a:off x="7331659" y="1691640"/>
            <a:ext cx="2108606" cy="3200400"/>
          </a:xfrm>
          <a:prstGeom prst="roundRect">
            <a:avLst>
              <a:gd name="adj" fmla="val 3903"/>
            </a:avLst>
          </a:prstGeom>
          <a:solidFill>
            <a:srgbClr val="0F4A47"/>
          </a:solidFill>
          <a:ln w="12700">
            <a:solidFill>
              <a:srgbClr val="1C6B6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166506" y="1929384"/>
            <a:ext cx="438912" cy="438912"/>
          </a:xfrm>
          <a:prstGeom prst="ellipse">
            <a:avLst/>
          </a:prstGeom>
          <a:solidFill>
            <a:srgbClr val="12615E"/>
          </a:solidFill>
          <a:ln/>
        </p:spPr>
      </p:sp>
      <p:pic>
        <p:nvPicPr>
          <p:cNvPr id="23" name="Image 3" descr="/home/claude/work/icons/sq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1845" y="2034723"/>
            <a:ext cx="228234" cy="22823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31659" y="2514600"/>
            <a:ext cx="21086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400" dirty="0"/>
          </a:p>
        </p:txBody>
      </p:sp>
      <p:sp>
        <p:nvSpPr>
          <p:cNvPr id="25" name="Text 19"/>
          <p:cNvSpPr/>
          <p:nvPr/>
        </p:nvSpPr>
        <p:spPr>
          <a:xfrm>
            <a:off x="7477963" y="3200400"/>
            <a:ext cx="181599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BF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SQL tables in a high-performance ERD covering demographics, dental anatomy, voice, and treatment planning.</a:t>
            </a:r>
            <a:endParaRPr lang="en-US" sz="930" dirty="0"/>
          </a:p>
        </p:txBody>
      </p:sp>
      <p:sp>
        <p:nvSpPr>
          <p:cNvPr id="26" name="Shape 20"/>
          <p:cNvSpPr/>
          <p:nvPr/>
        </p:nvSpPr>
        <p:spPr>
          <a:xfrm>
            <a:off x="9623146" y="1691640"/>
            <a:ext cx="2108606" cy="3200400"/>
          </a:xfrm>
          <a:prstGeom prst="roundRect">
            <a:avLst>
              <a:gd name="adj" fmla="val 3903"/>
            </a:avLst>
          </a:prstGeom>
          <a:solidFill>
            <a:srgbClr val="0F4A47"/>
          </a:solidFill>
          <a:ln w="12700">
            <a:solidFill>
              <a:srgbClr val="1C6B6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0457993" y="1929384"/>
            <a:ext cx="438912" cy="438912"/>
          </a:xfrm>
          <a:prstGeom prst="ellipse">
            <a:avLst/>
          </a:prstGeom>
          <a:solidFill>
            <a:srgbClr val="12615E"/>
          </a:solidFill>
          <a:ln/>
        </p:spPr>
      </p:sp>
      <p:pic>
        <p:nvPicPr>
          <p:cNvPr id="28" name="Image 4" descr="/home/claude/work/icons/rock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3332" y="2034723"/>
            <a:ext cx="228234" cy="22823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623146" y="2514600"/>
            <a:ext cx="21086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30" name="Text 23"/>
          <p:cNvSpPr/>
          <p:nvPr/>
        </p:nvSpPr>
        <p:spPr>
          <a:xfrm>
            <a:off x="9769450" y="3200400"/>
            <a:ext cx="181599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BF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 live production — live on Vercel frontend and a high-throughput .NET 10 Web API backend.</a:t>
            </a:r>
            <a:endParaRPr lang="en-US" sz="930" dirty="0"/>
          </a:p>
        </p:txBody>
      </p:sp>
      <p:sp>
        <p:nvSpPr>
          <p:cNvPr id="31" name="Shape 24"/>
          <p:cNvSpPr/>
          <p:nvPr/>
        </p:nvSpPr>
        <p:spPr>
          <a:xfrm>
            <a:off x="457200" y="5349240"/>
            <a:ext cx="11274552" cy="10973"/>
          </a:xfrm>
          <a:prstGeom prst="rect">
            <a:avLst/>
          </a:prstGeom>
          <a:solidFill>
            <a:srgbClr val="1C4F4B"/>
          </a:solidFill>
          <a:ln/>
        </p:spPr>
      </p:sp>
      <p:sp>
        <p:nvSpPr>
          <p:cNvPr id="32" name="Text 25"/>
          <p:cNvSpPr/>
          <p:nvPr/>
        </p:nvSpPr>
        <p:spPr>
          <a:xfrm>
            <a:off x="457200" y="5468112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5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Engineering &amp; Clinical Review Document   ·   Dentia Health Systems   ·   September 2026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2026-09-10T08:47:01Z</dcterms:created>
  <dcterms:modified xsi:type="dcterms:W3CDTF">2026-09-10T08:47:01Z</dcterms:modified>
</cp:coreProperties>
</file>