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22960"/>
            <a:ext cx="10728655" cy="5303520"/>
          </a:xfrm>
          <a:prstGeom prst="roundRect">
            <a:avLst/>
          </a:prstGeom>
          <a:solidFill>
            <a:srgbClr val="182235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51560"/>
            <a:ext cx="99971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ENTERPRISE DENTAL WORKSPACE • ARCHITECTURAL PROGRESSION &amp; FULL-STACK AUDIT</a:t>
            </a:r>
          </a:p>
          <a:p>
            <a:pPr>
              <a:spcAft>
                <a:spcPts val="600"/>
              </a:spcAft>
              <a:defRPr sz="2600" b="1">
                <a:solidFill>
                  <a:srgbClr val="FFFFFF"/>
                </a:solidFill>
              </a:defRPr>
            </a:pPr>
            <a:r>
              <a:t>Dentia Clinical Platform: End-to-End Implementation</a:t>
            </a:r>
          </a:p>
          <a:p>
            <a:pPr>
              <a:spcAft>
                <a:spcPts val="1800"/>
              </a:spcAft>
              <a:defRPr sz="1300">
                <a:solidFill>
                  <a:srgbClr val="94A3B8"/>
                </a:solidFill>
              </a:defRPr>
            </a:pPr>
            <a:r>
              <a:t>Comprehensive Evolution: From Soredex DIGORA Optime &amp; Native Dental Hardware Bridge to Eighteeth NanoPix RVG Sensors, AI Vision Diagnostics, 'Addition in ALL' Global Filters &amp; Automated WhatsApp Scribing.</a:t>
            </a:r>
          </a:p>
          <a:p>
            <a:pPr>
              <a:spcAft>
                <a:spcPts val="400"/>
              </a:spcAft>
              <a:defRPr sz="1080" b="1">
                <a:solidFill>
                  <a:srgbClr val="E2E8F0"/>
                </a:solidFill>
              </a:defRPr>
            </a:pPr>
            <a:r>
              <a:t>•  1. Soredex DIGORA Optime Phosphor Storage Plate (PSP) Ethernet Bridge &amp; Laser Eraser</a:t>
            </a:r>
          </a:p>
          <a:p>
            <a:pPr>
              <a:spcAft>
                <a:spcPts val="400"/>
              </a:spcAft>
              <a:defRPr sz="1080" b="1">
                <a:solidFill>
                  <a:srgbClr val="E2E8F0"/>
                </a:solidFill>
              </a:defRPr>
            </a:pPr>
            <a:r>
              <a:t>•  2. Dentia Dental Hardware Bridge (DentalBridge.exe): Purpose, Sandbox Bypass &amp; 127.0.0.1:5050 Service</a:t>
            </a:r>
          </a:p>
          <a:p>
            <a:pPr>
              <a:spcAft>
                <a:spcPts val="400"/>
              </a:spcAft>
              <a:defRPr sz="1080" b="1">
                <a:solidFill>
                  <a:srgbClr val="E2E8F0"/>
                </a:solidFill>
              </a:defRPr>
            </a:pPr>
            <a:r>
              <a:t>•  3. Eighteeth NanoPix 1 &amp; NanoPix 2 Direct Intraoral USB Sensor Integration &amp; Dynamic Patient Binding</a:t>
            </a:r>
          </a:p>
          <a:p>
            <a:pPr>
              <a:spcAft>
                <a:spcPts val="400"/>
              </a:spcAft>
              <a:defRPr sz="1080" b="1">
                <a:solidFill>
                  <a:srgbClr val="E2E8F0"/>
                </a:solidFill>
              </a:defRPr>
            </a:pPr>
            <a:r>
              <a:t>•  4. AI Radiology Studio with Groq LPU Vision (Sub-Second FDI 11-48 Tooth &amp; Pathology Segmentation)</a:t>
            </a:r>
          </a:p>
          <a:p>
            <a:pPr>
              <a:spcAft>
                <a:spcPts val="400"/>
              </a:spcAft>
              <a:defRPr sz="1080" b="1">
                <a:solidFill>
                  <a:srgbClr val="E2E8F0"/>
                </a:solidFill>
              </a:defRPr>
            </a:pPr>
            <a:r>
              <a:t>•  5. Interactive 32-Tooth Odontogram, Modality Tagging &amp; Speculative 3D Anatomical Jaw Arch</a:t>
            </a:r>
          </a:p>
          <a:p>
            <a:pPr>
              <a:spcAft>
                <a:spcPts val="400"/>
              </a:spcAft>
              <a:defRPr sz="1080" b="1">
                <a:solidFill>
                  <a:srgbClr val="E2E8F0"/>
                </a:solidFill>
              </a:defRPr>
            </a:pPr>
            <a:r>
              <a:t>•  6. 'Addition in ALL' Paradigm: Global Directory, Multi-Dentition, Clinical Logs &amp; Fast Treatment Tagging</a:t>
            </a:r>
          </a:p>
          <a:p>
            <a:pPr>
              <a:spcAft>
                <a:spcPts val="400"/>
              </a:spcAft>
              <a:defRPr sz="1080" b="1">
                <a:solidFill>
                  <a:srgbClr val="E2E8F0"/>
                </a:solidFill>
              </a:defRPr>
            </a:pPr>
            <a:r>
              <a:t>•  7. Ambient Operatory AI Voice Scribing (Local Ollama + Cloud Groq Dual-Engine Architecture)</a:t>
            </a:r>
          </a:p>
          <a:p>
            <a:pPr>
              <a:spcAft>
                <a:spcPts val="400"/>
              </a:spcAft>
              <a:defRPr sz="1080" b="1">
                <a:solidFill>
                  <a:srgbClr val="E2E8F0"/>
                </a:solidFill>
              </a:defRPr>
            </a:pPr>
            <a:r>
              <a:t>•  8. OpenWA WhatsApp Multi-Channel Automation: Sleek Header Toggle, Delivery Badges &amp; Retroactive Queue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A7CD2"/>
                </a:solidFill>
              </a:defRPr>
            </a:pPr>
            <a:r>
              <a:t>DENTIA CLINICAL ECOSYSTEM • FULL TECHNICAL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02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Executive Overview &amp; System Evolution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2029968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A7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2029968" cy="91440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35608"/>
            <a:ext cx="1773936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4A7CD2"/>
                </a:solidFill>
              </a:defRPr>
            </a:pPr>
            <a:r>
              <a:t>PHASE 01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DIGORA Imaging</a:t>
            </a:r>
          </a:p>
          <a:p>
            <a:pPr>
              <a:spcAft>
                <a:spcPts val="1200"/>
              </a:spcAft>
              <a:defRPr sz="950" b="1">
                <a:solidFill>
                  <a:srgbClr val="64748B"/>
                </a:solidFill>
              </a:defRPr>
            </a:pPr>
            <a:r>
              <a:t>PSP Scanner Hardware</a:t>
            </a:r>
          </a:p>
          <a:p>
            <a:pPr>
              <a:spcAft>
                <a:spcPts val="600"/>
              </a:spcAft>
              <a:defRPr sz="980">
                <a:solidFill>
                  <a:srgbClr val="334155"/>
                </a:solidFill>
              </a:defRPr>
            </a:pPr>
            <a:r>
              <a:t>✔  Soredex DIGORA Optime TCP LAN</a:t>
            </a:r>
          </a:p>
          <a:p>
            <a:pPr>
              <a:spcAft>
                <a:spcPts val="600"/>
              </a:spcAft>
              <a:defRPr sz="980">
                <a:solidFill>
                  <a:srgbClr val="334155"/>
                </a:solidFill>
              </a:defRPr>
            </a:pPr>
            <a:r>
              <a:t>✔  Sizes 0, 1, 2, 3 PSP Plates</a:t>
            </a:r>
          </a:p>
          <a:p>
            <a:pPr>
              <a:spcAft>
                <a:spcPts val="600"/>
              </a:spcAft>
              <a:defRPr sz="980">
                <a:solidFill>
                  <a:srgbClr val="334155"/>
                </a:solidFill>
              </a:defRPr>
            </a:pPr>
            <a:r>
              <a:t>✔  14-bit optical capture &amp; UV erase</a:t>
            </a:r>
          </a:p>
          <a:p>
            <a:pPr>
              <a:spcAft>
                <a:spcPts val="600"/>
              </a:spcAft>
              <a:defRPr sz="980">
                <a:solidFill>
                  <a:srgbClr val="334155"/>
                </a:solidFill>
              </a:defRPr>
            </a:pPr>
            <a:r>
              <a:t>✔  Raw binary stream normalization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1234440"/>
            <a:ext cx="2029968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E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07792" y="1234440"/>
            <a:ext cx="2029968" cy="91440"/>
          </a:xfrm>
          <a:prstGeom prst="rect">
            <a:avLst/>
          </a:prstGeom>
          <a:solidFill>
            <a:srgbClr val="0E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1435608"/>
            <a:ext cx="1773936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E8A80"/>
                </a:solidFill>
              </a:defRPr>
            </a:pPr>
            <a:r>
              <a:t>PHASE 02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Dental Bridge</a:t>
            </a:r>
          </a:p>
          <a:p>
            <a:pPr>
              <a:spcAft>
                <a:spcPts val="1200"/>
              </a:spcAft>
              <a:defRPr sz="950" b="1">
                <a:solidFill>
                  <a:srgbClr val="64748B"/>
                </a:solidFill>
              </a:defRPr>
            </a:pPr>
            <a:r>
              <a:t>Native Hardware Service</a:t>
            </a:r>
          </a:p>
          <a:p>
            <a:pPr>
              <a:spcAft>
                <a:spcPts val="600"/>
              </a:spcAft>
              <a:defRPr sz="980">
                <a:solidFill>
                  <a:srgbClr val="334155"/>
                </a:solidFill>
              </a:defRPr>
            </a:pPr>
            <a:r>
              <a:t>✔  DentalBridge.exe (127.0.0.1:5050)</a:t>
            </a:r>
          </a:p>
          <a:p>
            <a:pPr>
              <a:spcAft>
                <a:spcPts val="600"/>
              </a:spcAft>
              <a:defRPr sz="980">
                <a:solidFill>
                  <a:srgbClr val="334155"/>
                </a:solidFill>
              </a:defRPr>
            </a:pPr>
            <a:r>
              <a:t>✔  Bypasses browser USB sandbox</a:t>
            </a:r>
          </a:p>
          <a:p>
            <a:pPr>
              <a:spcAft>
                <a:spcPts val="600"/>
              </a:spcAft>
              <a:defRPr sz="980">
                <a:solidFill>
                  <a:srgbClr val="334155"/>
                </a:solidFill>
              </a:defRPr>
            </a:pPr>
            <a:r>
              <a:t>✔  FpdSys.dll &amp; E4S.dll C++ driver</a:t>
            </a:r>
          </a:p>
          <a:p>
            <a:pPr>
              <a:spcAft>
                <a:spcPts val="600"/>
              </a:spcAft>
              <a:defRPr sz="980">
                <a:solidFill>
                  <a:srgbClr val="334155"/>
                </a:solidFill>
              </a:defRPr>
            </a:pPr>
            <a:r>
              <a:t>✔  Auto-installer with Defender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234440"/>
            <a:ext cx="2029968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84064" y="1234440"/>
            <a:ext cx="202996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435608"/>
            <a:ext cx="1773936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7C3AED"/>
                </a:solidFill>
              </a:defRPr>
            </a:pPr>
            <a:r>
              <a:t>PHASE 03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NanoPix Sensors</a:t>
            </a:r>
          </a:p>
          <a:p>
            <a:pPr>
              <a:spcAft>
                <a:spcPts val="1200"/>
              </a:spcAft>
              <a:defRPr sz="950" b="1">
                <a:solidFill>
                  <a:srgbClr val="64748B"/>
                </a:solidFill>
              </a:defRPr>
            </a:pPr>
            <a:r>
              <a:t>Direct USB Intraoral RVG</a:t>
            </a:r>
          </a:p>
          <a:p>
            <a:pPr>
              <a:spcAft>
                <a:spcPts val="600"/>
              </a:spcAft>
              <a:defRPr sz="980">
                <a:solidFill>
                  <a:srgbClr val="334155"/>
                </a:solidFill>
              </a:defRPr>
            </a:pPr>
            <a:r>
              <a:t>✔  Eighteeth NanoPix 1 &amp; NanoPix 2</a:t>
            </a:r>
          </a:p>
          <a:p>
            <a:pPr>
              <a:spcAft>
                <a:spcPts val="600"/>
              </a:spcAft>
              <a:defRPr sz="980">
                <a:solidFill>
                  <a:srgbClr val="334155"/>
                </a:solidFill>
              </a:defRPr>
            </a:pPr>
            <a:r>
              <a:t>✔  AED Automatic Exposure Detect</a:t>
            </a:r>
          </a:p>
          <a:p>
            <a:pPr>
              <a:spcAft>
                <a:spcPts val="600"/>
              </a:spcAft>
              <a:defRPr sz="980">
                <a:solidFill>
                  <a:srgbClr val="334155"/>
                </a:solidFill>
              </a:defRPr>
            </a:pPr>
            <a:r>
              <a:t>✔  1300x1800 16-bit DMA FIFO frame</a:t>
            </a:r>
          </a:p>
          <a:p>
            <a:pPr>
              <a:spcAft>
                <a:spcPts val="600"/>
              </a:spcAft>
              <a:defRPr sz="980">
                <a:solidFill>
                  <a:srgbClr val="334155"/>
                </a:solidFill>
              </a:defRPr>
            </a:pPr>
            <a:r>
              <a:t>✔  Unassigned exposure prompt modal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6" y="1234440"/>
            <a:ext cx="2029968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0336" y="1234440"/>
            <a:ext cx="2029968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88352" y="1435608"/>
            <a:ext cx="1773936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EA580C"/>
                </a:solidFill>
              </a:defRPr>
            </a:pPr>
            <a:r>
              <a:t>PHASE 04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Vision AI &amp; 'ALL'</a:t>
            </a:r>
          </a:p>
          <a:p>
            <a:pPr>
              <a:spcAft>
                <a:spcPts val="1200"/>
              </a:spcAft>
              <a:defRPr sz="950" b="1">
                <a:solidFill>
                  <a:srgbClr val="64748B"/>
                </a:solidFill>
              </a:defRPr>
            </a:pPr>
            <a:r>
              <a:t>Diagnostics &amp; Global UI</a:t>
            </a:r>
          </a:p>
          <a:p>
            <a:pPr>
              <a:spcAft>
                <a:spcPts val="600"/>
              </a:spcAft>
              <a:defRPr sz="980">
                <a:solidFill>
                  <a:srgbClr val="334155"/>
                </a:solidFill>
              </a:defRPr>
            </a:pPr>
            <a:r>
              <a:t>✔  Groq LPU sub-sec radiograph AI</a:t>
            </a:r>
          </a:p>
          <a:p>
            <a:pPr>
              <a:spcAft>
                <a:spcPts val="600"/>
              </a:spcAft>
              <a:defRPr sz="980">
                <a:solidFill>
                  <a:srgbClr val="334155"/>
                </a:solidFill>
              </a:defRPr>
            </a:pPr>
            <a:r>
              <a:t>✔  32-tooth odontogram &amp; 3D jaw</a:t>
            </a:r>
          </a:p>
          <a:p>
            <a:pPr>
              <a:spcAft>
                <a:spcPts val="600"/>
              </a:spcAft>
              <a:defRPr sz="980">
                <a:solidFill>
                  <a:srgbClr val="334155"/>
                </a:solidFill>
              </a:defRPr>
            </a:pPr>
            <a:r>
              <a:t>✔  'Addition in ALL' directory filters</a:t>
            </a:r>
          </a:p>
          <a:p>
            <a:pPr>
              <a:spcAft>
                <a:spcPts val="600"/>
              </a:spcAft>
              <a:defRPr sz="980">
                <a:solidFill>
                  <a:srgbClr val="334155"/>
                </a:solidFill>
              </a:defRPr>
            </a:pPr>
            <a:r>
              <a:t>✔  Global modality fast-tagger drawer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6608" y="1234440"/>
            <a:ext cx="2029968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36608" y="1234440"/>
            <a:ext cx="2029968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64624" y="1435608"/>
            <a:ext cx="1773936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10B981"/>
                </a:solidFill>
              </a:defRPr>
            </a:pPr>
            <a:r>
              <a:t>PHASE 05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WhatsApp Engine</a:t>
            </a:r>
          </a:p>
          <a:p>
            <a:pPr>
              <a:spcAft>
                <a:spcPts val="1200"/>
              </a:spcAft>
              <a:defRPr sz="950" b="1">
                <a:solidFill>
                  <a:srgbClr val="64748B"/>
                </a:solidFill>
              </a:defRPr>
            </a:pPr>
            <a:r>
              <a:t>Patient Engagement</a:t>
            </a:r>
          </a:p>
          <a:p>
            <a:pPr>
              <a:spcAft>
                <a:spcPts val="600"/>
              </a:spcAft>
              <a:defRPr sz="980">
                <a:solidFill>
                  <a:srgbClr val="334155"/>
                </a:solidFill>
              </a:defRPr>
            </a:pPr>
            <a:r>
              <a:t>✔  OpenWA gateway daemon (port 2785)</a:t>
            </a:r>
          </a:p>
          <a:p>
            <a:pPr>
              <a:spcAft>
                <a:spcPts val="600"/>
              </a:spcAft>
              <a:defRPr sz="980">
                <a:solidFill>
                  <a:srgbClr val="334155"/>
                </a:solidFill>
              </a:defRPr>
            </a:pPr>
            <a:r>
              <a:t>✔  Sleek Header ON/OFF toggle bar</a:t>
            </a:r>
          </a:p>
          <a:p>
            <a:pPr>
              <a:spcAft>
                <a:spcPts val="600"/>
              </a:spcAft>
              <a:defRPr sz="980">
                <a:solidFill>
                  <a:srgbClr val="334155"/>
                </a:solidFill>
              </a:defRPr>
            </a:pPr>
            <a:r>
              <a:t>✔  Mandatory mobile phone shield</a:t>
            </a:r>
          </a:p>
          <a:p>
            <a:pPr>
              <a:spcAft>
                <a:spcPts val="600"/>
              </a:spcAft>
              <a:defRPr sz="980">
                <a:solidFill>
                  <a:srgbClr val="334155"/>
                </a:solidFill>
              </a:defRPr>
            </a:pPr>
            <a:r>
              <a:t>✔  Retroactive appointment alerts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A7CD2"/>
                </a:solidFill>
              </a:defRPr>
            </a:pPr>
            <a:r>
              <a:t>DENTIA CLINICAL ECOSYSTEM • FULL TECHNICAL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03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Module 1: Soredex DIGORA Optime Hardware &amp; Ethernet LAN Bridge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486400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A7CD2"/>
                </a:solidFill>
              </a:defRPr>
            </a:pPr>
            <a:r>
              <a:t>HARDWARE INTEGRATION ARCHITECTURE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• Storage Phosphor Plate Scanner: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t>   Direct integration with physical Soredex DIGORA Optime intraoral scanner via Ethernet network interface.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• Ethernet TCP Socket Bridge: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t>   Built Node.js bridge communicating directly over TCP socket port 104 with raw binary byte streaming without proprietary manufacturer bloatware.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• Multi-Size Plate Handling: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t>   Full hardware support for Size 0 (Pediatric), Size 1, Size 2 (Adult standard bitewing), and Size 3 (Occlusal) PSP plates.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• High-Fidelity 14-Bit Optical Capture: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t>   Captures raw 14-bit grayscale sensor output with automatic bit-swapping, dynamic range normalization, and UV plate erasure trigger.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• Automated Session Locking: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t>   When doctor clicks 'Arm DIGORA', frontend establishes a 10-minute mutex lock on the patient record to prevent operatory collisions.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• Lossless Local Buffer &amp; Watchdog:</a:t>
            </a:r>
          </a:p>
          <a:p>
            <a:pPr>
              <a:spcAft>
                <a:spcPts val="400"/>
              </a:spcAft>
              <a:defRPr sz="919">
                <a:solidFill>
                  <a:srgbClr val="334155"/>
                </a:solidFill>
              </a:defRPr>
            </a:pPr>
            <a:r>
              <a:t>   If the cloud network drops, scans are buffered locally with SHA-256 checksums and automatically synchronized upon reconnect.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34440"/>
            <a:ext cx="5059375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4693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8A80"/>
                </a:solidFill>
              </a:defRPr>
            </a:pPr>
            <a:r>
              <a:t>DIGORA OPTIME → CLOUD CAPTURE FLOW</a:t>
            </a:r>
          </a:p>
        </p:txBody>
      </p:sp>
      <p:pic>
        <p:nvPicPr>
          <p:cNvPr id="11" name="Picture 10" descr="digora_end_to_end_captur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83080"/>
            <a:ext cx="469361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A7CD2"/>
                </a:solidFill>
              </a:defRPr>
            </a:pPr>
            <a:r>
              <a:t>DENTIA CLINICAL ECOSYSTEM • FULL TECHNICAL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04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Module 1B: DIGORA Acquisition Pipeline, Calibration &amp; Storage Lifecycle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4A7CD2"/>
                </a:solidFill>
              </a:defRPr>
            </a:pPr>
            <a:r>
              <a:t>🔬  RAW OPTICAL CALIBRATION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Compensates for laser head non-uniformities across the rotating drum collector.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Executes pixel jitter elimination and geometric aspect distortion correction.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Real-time dark-field subtraction removes background thermal sensor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4A7CD2"/>
                </a:solidFill>
              </a:defRPr>
            </a:pPr>
            <a:r>
              <a:t>⚖️  BIT-DEPTH NORMALIZATION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Converts raw 14-bit unsigned short stream into calibrated 16-bit medical buffers.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CLAHE (Contrast Limited Adaptive Histogram Equalization) enhances enamel borders.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Generates instant 8-bit WebP/PNG preview for real-time frontend chart viewing.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4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4A7CD2"/>
                </a:solidFill>
              </a:defRPr>
            </a:pPr>
            <a:r>
              <a:t>💡  AUTOMATED UV ERASURE CYCLE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Fires high-intensity ultraviolet LED bank inside DIGORA upon scan completion.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Purges 99.98% of residual latent phosphor electron traps in under 4 seconds.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Signals green LED hardware ready light to operatory nurse for immediate reuse.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4904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931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4A7CD2"/>
                </a:solidFill>
              </a:defRPr>
            </a:pPr>
            <a:r>
              <a:t>🗄️  DICOM 3.0 CONFORMANCE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Packages raw pixel array with standard DICOM Digital Intraoral X-Ray IOD tags.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Embeds Modality (DX), SOPClassUID, PatientID, ExposureTime, and Tooth Coordinates.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Guarantees seamless archival compatibility with hospital PACS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A7CD2"/>
                </a:solidFill>
              </a:defRPr>
            </a:pPr>
            <a:r>
              <a:t>DENTIA CLINICAL ECOSYSTEM • FULL TECHNICAL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05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Module 2: Dental Hardware Bridge (DentalBridge.exe) — Purpose &amp;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8A80"/>
                </a:solidFill>
              </a:defRPr>
            </a:pPr>
            <a:r>
              <a:t>THE PURPOSE: WHY DENTAL BRIDGE WAS CREATED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• Web Browser Sandbox Isolation: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Modern cloud web applications (Chrome, Edge, Vercel HTTPS) are strictly sandboxed by operating systems, making direct access to local USB kernel drivers and hardware ports impossible.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• Legacy 32-Bit Unmanaged C++ Drivers: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Physical dental sensors rely on proprietary native 32-bit x86 DLLs (`FpdSys.dll`, `E4S.dll`, `ConnUSBfifo.dll`) that cannot execute inside browser JavaScript runtimes.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• Bridging Web SPA with Chairside USB: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DentalBridge.exe was built as an ultra-low-latency, self-contained Windows service running locally on `http://127.0.0.1:5050` and WebSocket `ws://127.0.0.1:5050/ws`.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• Embedded CoreCLR (No Dependencies):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Compiled as a true self-contained executable with embedded .NET runtime; requires zero pre-requisites on clinic workstations.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• Automated 1-Click Deployment: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Packaged in `Dentia_Dental_Bridge_Setup.zip` with auto-elevating admin batch scripts, Windows Defender firewall exclusions, and startup autorun.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• Real-Time Diagnostic Ring Buffer: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Maintains an in-memory 300-entry ring buffer and persists daily logs to `%ProgramData%\DentalBridge\logs\` with REST endpoint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42255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764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A7CD2"/>
                </a:solidFill>
              </a:defRPr>
            </a:pPr>
            <a:r>
              <a:t>BRIDGE TECHNICAL ARCHITECTURE &amp; ENDPOINTS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⚡ Local REST API Listener (Port 5050):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High-performance HTTP server exposing `/api/status`, `/api/logs`, `/api/arm`, and `/api/abort` with CORS support for localhost and cloud origins.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⚡ RFC 6455 Low-Latency WebSocket: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Bi-directional WebSocket streaming on `ws://127.0.0.1:5050/ws` dispatching live telemetry, hardware connection status, and instant image payload notifications.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⚡ P/Invoke Native Driver Bridge: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Executes high-speed CDecl P/Invoke calls into unmanaged driver DLLs for sensor discovery, AED readiness, and DMA FIFO frame streaming.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⚡ Client Frontend Integration: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Coupled with `nanoPixDeviceService.js` and `HardwareDeviceSyncBadge.jsx` in React for transparent real-time hardware status reflection.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⚡ Multi-Layer Fallback &amp; Watchdog: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Monitors USB disconnects with automatic reconnect loops and cloud-fallback simulation modes when physical hardware is disconnected.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⚡ Cryptographic Security &amp; AES-256: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Encrypts radiograph payloads prior to cloud dispatch, guaranteeing strict patient privacy and data sovereignty.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A7CD2"/>
                </a:solidFill>
              </a:defRPr>
            </a:pPr>
            <a:r>
              <a:t>DENTIA CLINICAL ECOSYSTEM • FULL TECHNICAL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06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Module 2B: How Dental Bridge Operates Chairside — Operational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401568" cy="24231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3401568" cy="73152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17320"/>
            <a:ext cx="307238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🔌  STEP 1: Workstation Auto-Sync</a:t>
            </a:r>
          </a:p>
          <a:p>
            <a:pPr>
              <a:spcAft>
                <a:spcPts val="200"/>
              </a:spcAft>
              <a:defRPr sz="930">
                <a:solidFill>
                  <a:srgbClr val="334155"/>
                </a:solidFill>
              </a:defRPr>
            </a:pPr>
            <a:r>
              <a:t>DentalBridge.exe starts silently in the background on doctor workstation startup. Browser UI detects bridge via `http://127.0.0.1:5050/api/status`. The top hardware badge lights up green (`🟢 Dental Sensor Online`).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280160"/>
            <a:ext cx="3401568" cy="24231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2544" y="1280160"/>
            <a:ext cx="3401568" cy="73152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1417320"/>
            <a:ext cx="307238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🦷  STEP 2: Patient &amp; Tooth Selection</a:t>
            </a:r>
          </a:p>
          <a:p>
            <a:pPr>
              <a:spcAft>
                <a:spcPts val="200"/>
              </a:spcAft>
              <a:defRPr sz="930">
                <a:solidFill>
                  <a:srgbClr val="334155"/>
                </a:solidFill>
              </a:defRPr>
            </a:pPr>
            <a:r>
              <a:t>Dentist opens patient dossier and selects target tooth coordinate (e.g., Tooth #19 Mandibular First Molar) on the interactive 32-tooth odontogram.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1280160"/>
            <a:ext cx="3401568" cy="24231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3568" y="1280160"/>
            <a:ext cx="3401568" cy="73152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417320"/>
            <a:ext cx="307238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🎯  STEP 3: Arm Sensor (AED Standby)</a:t>
            </a:r>
          </a:p>
          <a:p>
            <a:pPr>
              <a:spcAft>
                <a:spcPts val="200"/>
              </a:spcAft>
              <a:defRPr sz="930">
                <a:solidFill>
                  <a:srgbClr val="334155"/>
                </a:solidFill>
              </a:defRPr>
            </a:pPr>
            <a:r>
              <a:t>Dentist clicks 'Arm Sensor (AED)'. Web UI dispatches `POST /api/arm { patientId, toothKey }`. The Bridge calls native `ScanOnce()` via P/Invoke. Sensor enters Automatic Exposure Detection standby mode.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3401568" cy="24231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3401568" cy="73152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977640"/>
            <a:ext cx="307238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☢️  STEP 4: Physical X-Ray Exposure</a:t>
            </a:r>
          </a:p>
          <a:p>
            <a:pPr>
              <a:spcAft>
                <a:spcPts val="200"/>
              </a:spcAft>
              <a:defRPr sz="930">
                <a:solidFill>
                  <a:srgbClr val="334155"/>
                </a:solidFill>
              </a:defRPr>
            </a:pPr>
            <a:r>
              <a:t>Dentist positions the intraoral sensor in patient mouth and triggers the chairside dental X-ray tube. The sensor crystal detects ionizing radiation and automatically triggers frame integration.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2544" y="3840480"/>
            <a:ext cx="3401568" cy="24231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52544" y="3840480"/>
            <a:ext cx="3401568" cy="73152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3977640"/>
            <a:ext cx="307238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⚡  STEP 5: DMA FIFO Buffer Stream</a:t>
            </a:r>
          </a:p>
          <a:p>
            <a:pPr>
              <a:spcAft>
                <a:spcPts val="200"/>
              </a:spcAft>
              <a:defRPr sz="930">
                <a:solidFill>
                  <a:srgbClr val="334155"/>
                </a:solidFill>
              </a:defRPr>
            </a:pPr>
            <a:r>
              <a:t>Raw 16-bit grayscale buffer (1300x1800 native matrix) streams over high-speed USB 2.0 FIFO to the Bridge in under 400ms. Dark-field calibration and CLAHE contrast equalization are executed instantly.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3840480"/>
            <a:ext cx="3401568" cy="24231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73568" y="3840480"/>
            <a:ext cx="3401568" cy="73152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3977640"/>
            <a:ext cx="307238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🚀  STEP 6: Instant Preview &amp; Cloud Archive</a:t>
            </a:r>
          </a:p>
          <a:p>
            <a:pPr>
              <a:spcAft>
                <a:spcPts val="200"/>
              </a:spcAft>
              <a:defRPr sz="930">
                <a:solidFill>
                  <a:srgbClr val="334155"/>
                </a:solidFill>
              </a:defRPr>
            </a:pPr>
            <a:r>
              <a:t>Bridge broadcasts `XRAY_CAPTURED` event via WebSocket with base64 PNG preview directly onto the chairside screen, while simultaneously streaming AES-256 encrypted master radiograph to cloud backend.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A7CD2"/>
                </a:solidFill>
              </a:defRPr>
            </a:pPr>
            <a:r>
              <a:t>DENTIA CLINICAL ECOSYSTEM • FULL TECHNICAL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07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Module 3: Eighteeth NanoPix 1 &amp; NanoPix 2 Sensor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7C3AED"/>
                </a:solidFill>
              </a:defRPr>
            </a:pPr>
            <a:r>
              <a:t>🩻  EIGHTEETH SENSOR HARDWARE SUPPORT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Complete driver integration for Eighteeth Nano-Pix 1.5 and Nano-Pix 2 sensors.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Multi-vendor support supporting iRay, Woodpecker i-Sensor, and EzSensor hardware protocols.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Direct USB 2.0 communication utilizing FTDI D2XX high-speed FIFO transfer chips.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Sub-second image acquisition with ultra-high resolution (20+ lp/mm optical resolution).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7C3AED"/>
                </a:solidFill>
              </a:defRPr>
            </a:pPr>
            <a:r>
              <a:t>🖥️  DEDICATED NANOPIX CAPTURE MODAL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Built dedicated `NanoPixCaptureModal.jsx` within the main clinical chart interface.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Full-screen chairside radiograph inspection tool with zoom, pan, invert, and contrast sliders.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Live sensor status indicators (`🟢 Sensor Ready`, `⏳ Waiting for Exposure`, `🔄 Transferring`).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Instant one-click tooth coordinate re-assignment (FDI 11–48) prior to clinical sign-off.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4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7C3AED"/>
                </a:solidFill>
              </a:defRPr>
            </a:pPr>
            <a:r>
              <a:t>🔔  UNASSIGNED EXPOSURE PROMPT MODAL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Engineered `NanoPixPatientPromptModal.jsx` for walk-in and emergency capture scenarios.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Automatically triggers if physical X-ray exposure occurs while no patient chart is active.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Displays newly captured radiograph preview alongside clinic queue for instant 1-click binding.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Prevents lost or orphaned X-rays in fast-paced high-volume multi-operatory dental clinics.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4904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931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7C3AED"/>
                </a:solidFill>
              </a:defRPr>
            </a:pPr>
            <a:r>
              <a:t>🤖  REAL-TIME AI VISION HANDOFF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Newly acquired NanoPix radiograph is immediately dispatched to Groq LPU Vision AI.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Automated pathology analysis scans for proximal caries, root canal quality, and crestal bone loss.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Findings are highlighted in real-time on the odontogram before the patient leaves the dental chair.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Full audit trail tracks sensor serial number, exposure timestamp, and operating clinician.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A7CD2"/>
                </a:solidFill>
              </a:defRPr>
            </a:pPr>
            <a:r>
              <a:t>DENTIA CLINICAL ECOSYSTEM • FULL TECHNICAL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08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Module 4: Radiograph Storage, Normalization &amp; DICOM Pipelines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4A7CD2"/>
                </a:solidFill>
              </a:defRPr>
            </a:pPr>
            <a:r>
              <a:t>⚡  STREAM INGESTION ENDPOINTS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Multipart streaming uploads via `XRayUploadController.cs` (`/api/xrays/upload`).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Simultaneous dual-resolution generation: lossless 16-bit archive &amp; web-optimized thumbnails.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Zero-lag SignalR broadcasting: instantly notifies active browser chart without manual page refresh.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4A7CD2"/>
                </a:solidFill>
              </a:defRPr>
            </a:pPr>
            <a:r>
              <a:t>🛡️  SECURITY &amp; FILE INTEGRITY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File format verification inspecting magic bytes (`FF D8 FF` JPEG, `89 50 4E 47` PNG, `44 49 43 4D` DICOM).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Strict file size limit enforcement (&lt;= 25MB) with memory-safe streaming buffers.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SHA-256 digital signature stored for legal non-repudiation and clinical audit compliance.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4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4A7CD2"/>
                </a:solidFill>
              </a:defRPr>
            </a:pPr>
            <a:r>
              <a:t>🗄️  RELATIONAL DATA SCHEMA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Persisted in `[dentist].[PatientXRays]` tracking XRayID, PatientID, DoctorID, and TeethRegion.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Explicit classification tags: Bitewing, Periapical, Panoramic (OPG), Occlusal, and Cephalometric.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Review status lifecycle: Pending Clinician Review → Approved / Chart-Linked → Rejected.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4904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931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4A7CD2"/>
                </a:solidFill>
              </a:defRPr>
            </a:pPr>
            <a:r>
              <a:t>📊  OPERATORY TELEMETRY &amp; DIAGNOSTICS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Real-time health telemetry pinging local acquisition PC and device availability.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Automatic metadata enrichment: exposure time, plate serial number, operator identity, and anatomical region.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Automated cleanup of temporary streaming chunks to prevent operatory hard drive saturation.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A7CD2"/>
                </a:solidFill>
              </a:defRPr>
            </a:pPr>
            <a:r>
              <a:t>DENTIA CLINICAL ECOSYSTEM • FULL TECHNICAL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09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Module 5: AI Radiology Studio &amp; Groq Vision Dental Diagnostics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4A7CD2"/>
                </a:solidFill>
              </a:defRPr>
            </a:pPr>
            <a:r>
              <a:t>🤖  SUB-SECOND GROQ LPU INFERENCE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Utilizes Groq Language Processing Units (LPU) running `llama-3.2-11b-vision-preview`.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Inference turnaround time: &lt; 850 milliseconds for full panoramic and intraoral bite-wings.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Zero-lag chairside triage: clinician receives structured analysis during active consultation.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4A7CD2"/>
                </a:solidFill>
              </a:defRPr>
            </a:pPr>
            <a:r>
              <a:t>🤖  PATHOLOGY DETECTION SPECTRUM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Interproximal and occlusal dental caries: classifies incipient, moderate, and deep pulpal decay.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Periodontal evaluation: detects horizontal/vertical alveolar bone resorption and furcation involvement.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Endodontic &amp; Periapical lesions: identifies apical radiolucencies, abscesses, and obturation voids.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4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4A7CD2"/>
                </a:solidFill>
              </a:defRPr>
            </a:pPr>
            <a:r>
              <a:t>🤖  FDI TOOTH NOTATION &amp; MODALITY TAGGING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Automatic anatomical segmentation mapping teeth to ISO 3950 / FDI notation (11-48 adult, 51-85 pediatric).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Explicit radiograph modality tagging: Bitewing, Periapical, Panoramic (OPG), Occlusal, and CBCT slice.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Confidence score scoring (0-100%) attached to each individual tooth pathology finding.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4904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931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4A7CD2"/>
                </a:solidFill>
              </a:defRPr>
            </a:pPr>
            <a:r>
              <a:t>🤖  CLINICIAN SAFETY &amp; APPROVAL GATE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Strict adherence to 'Doctor-in-the-Loop' medical safety regulations.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AI findings render as interactive pending overlays with color-coded severity badges.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Clinician retains full legal authority: one-click to 'Accept Finding', modify diagnosis, or dismiss.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A7CD2"/>
                </a:solidFill>
              </a:defRPr>
            </a:pPr>
            <a:r>
              <a:t>DENTIA CLINICAL ECOSYSTEM • FULL TECHNICAL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10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Module 6: Interactive 32-Tooth Odontogram &amp; 3D Anatomical Jaw 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7C3AED"/>
                </a:solidFill>
              </a:defRPr>
            </a:pPr>
            <a:r>
              <a:t>32-TOOTH DENTAL CHART &amp; DATA BINDING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• Full 32-Tooth Multi-Condition Engine: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Every tooth maintains discrete clinical states: Healthy, Cavity/Decay, Crown, Amalgam/Composite Filling, Missing, Extracted, or Implant.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• Multi-Surface Crown Mapping: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Discrete surface mapping (Mesial, Distal, Occlusal, Buccal, Lingual) with real-time SVG canvas color shading.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• Dynamic Health Percentage: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Calculates composite mouth health score in real-time, instantly adjusting upon diagnosis or completed restorative treatment.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• One-Click Treatment Conversion: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Any pathological tooth finding can be converted instantly into an itemized treatment proposal with estimated fee and procedure codes.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42255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764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A7CD2"/>
                </a:solidFill>
              </a:defRPr>
            </a:pPr>
            <a:r>
              <a:t>3D ANATOMICAL JAW ARCH &amp; THREE.JS VIEWER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✨ Interactive WebGL/Three.js Model: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Renders true anatomical 3D maxilla and mandible arches with smooth orbital camera rotation and responsive zoom.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✨ Bi-Directional State Synchronization: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Clicking any tooth in the 3D model highlights corresponding 2D odontogram tooth and loads associated periapical radiographs.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✨ Speculative Model Preloading: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Speculatively preloads adult, pediatric, and mixed dentition 3D meshes in browser idle threads for instant 0ms tab switching.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✨ Camera Sync &amp; Layout Stability: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Synchronized camera frustum with object-contain to eliminate teeth detachment or clipping when AI chat drawers open.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A7CD2"/>
                </a:solidFill>
              </a:defRPr>
            </a:pPr>
            <a:r>
              <a:t>DENTIA CLINICAL ECOSYSTEM • FULL TECHNICAL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11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Module 7: 'Addition in ALL' — Directory, Multi-Dentition &amp; Clinical Audit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EA580C"/>
                </a:solidFill>
              </a:defRPr>
            </a:pPr>
            <a:r>
              <a:t>👥  'ALL PATIENTS' GLOBAL DIRECTORY FILTER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Unified directory filter tab: `All Patients (Total Count)` showing global patient roster.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Sub-second toggle between `🟢 WhatsApp Active` and `⚪ Inactive` without page reload.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Maintains persistent pagination (10 patients/page) and synchronized selected patient dossier.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Instant search bar with debounced filtering across patient name, phone, email, and 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EA580C"/>
                </a:solidFill>
              </a:defRPr>
            </a:pPr>
            <a:r>
              <a:t>🦷  'ALL DENTITION' CLASSIFICATION FILTER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Multi-category classification bar: `All`, `🦷 Adult`, `👶 Pediatric`, and `🔀 Mixed` dentitions.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Automated age heuristics: Pediatric (&lt;6y), Mixed (6-12y), and Adult (&gt;12y) with visual pill badges.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Background pre-fetching: Speculatively preloads dental jaw arch templates based on selected category.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Prevents pediatric chart clutter and eliminates mis-charting of primary vs permanent teeth.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4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EA580C"/>
                </a:solidFill>
              </a:defRPr>
            </a:pPr>
            <a:r>
              <a:t>📜  'ALL LOGS' CLINICAL DRAWER AUDIT FILTER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Slide-out clinical log history drawer supporting global `ALL` audit trail inspection.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Category filters: Restorative, Orthodontic, Hygiene, Endodontic, and System/Doctor actions.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Export-ready audit log: One-click export to printable PDF format with clinic header and timestamps.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Search filter within drawer to locate specific tooth procedures or doctor clinical notes instantly.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4904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931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EA580C"/>
                </a:solidFill>
              </a:defRPr>
            </a:pPr>
            <a:r>
              <a:t>⚡  'ALL TREATMENTS' FAST MODALITY TAGGER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Consultation tagger drawer allowing doctors to apply treatments across all patient records in 1-click.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Pre-configured protocols: Braces (Stage 1-4, wire type), Whitening (Pre/Target shade), Cavities (Tooth/Material).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Instant Revert Action: Single-click revert button immediately clears plan and resets database state.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Auto-synchronizes teeth chart colors, clinical log entries, and doctor notes automatically.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A7CD2"/>
                </a:solidFill>
              </a:defRPr>
            </a:pPr>
            <a:r>
              <a:t>DENTIA CLINICAL ECOSYSTEM • FULL TECHNICAL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12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Module 8: Ambient Operatory AI Voice Scribing &amp; Multilingual Intake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8A80"/>
                </a:solidFill>
              </a:defRPr>
            </a:pPr>
            <a:r>
              <a:t>AMBIENT VOICE DICTATION &amp; CLINICAL SCRIBING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🎙️ Hands-Free Operatory Dictation: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Dentists dictate clinical findings chairside without touching keyboards, maintaining 100% sterile field integrity.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🎙️ Dual-Engine AI Architecture: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Hybrid intelligence utilizing local private Ollama (Llama-3.1 8B) for zero-data egress, with automatic failover to ultra-fast Groq cloud.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🎙️ Automated SOAP Note Generation: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Parses continuous spoken dental jargon into structured SOAP notes (Subjective, Objective, Assessment, Plan).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🎙️ Live Audio Waveform &amp; Speech-to-Text: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Real-time Web Audio API visualization with continuous punctuation, medical vocabulary correction, and noise reduction.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42255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764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A7CD2"/>
                </a:solidFill>
              </a:defRPr>
            </a:pPr>
            <a:r>
              <a:t>PATIENT-FACING MULTILINGUAL INTAKE ASSISTANT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🌐 Conversational Multilingual Intake: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Supports patient symptom intake in English, Urdu, and Roman Urdu with real-time semantic entity extraction.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🌐 Automated Medical History Parsing: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Extracts systemic conditions (diabetes, hypertension, cardiac stents, latex/penicillin allergies) into high-risk medical alerts.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🌐 Client-Side Zod Validation: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Every AI output is validated against rigid TypeScript schemas; guarantees zero JSON truncation or hallucinated medical fields.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🌐 Direct Electronic Health Record Binding: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Instantly populates patient demographic card, emergency contacts, and chief complaints directly into the central database.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A7CD2"/>
                </a:solidFill>
              </a:defRPr>
            </a:pPr>
            <a:r>
              <a:t>DENTIA CLINICAL ECOSYSTEM • FULL TECHNICAL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13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Module 9: OpenWA WhatsApp Gateway Architecture &amp; Infrastructure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0B981"/>
                </a:solidFill>
              </a:defRPr>
            </a:pPr>
            <a:r>
              <a:t>🤖  SELF-HOSTED PUPPETEER GATEWAY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Standalone OpenWA Node.js daemon running on port 2785 (`openwa_gateway_runner.mjs`).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Automates headless Chromium instance directly connected to official WhatsApp Web protocol.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Zero third-party SaaS fees: 100% free of per-message Twilio, Meta Cloud, or Infobip billing.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0B981"/>
                </a:solidFill>
              </a:defRPr>
            </a:pPr>
            <a:r>
              <a:t>🔄  BIDIRECTIONAL WEBHOOK RELAY ENGINE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Real-time event webhooks: dispatches message ACKs, read receipts, and inbound patient replies.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Automatic session persistence: session tokens and LocalStorage keys preserved across server reboots.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Background health watchdog: automatically re-initializes browser if WhatsApp Web disconnects.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4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0B981"/>
                </a:solidFill>
              </a:defRPr>
            </a:pPr>
            <a:r>
              <a:t>⏳  QUEUE &amp; RATE LIMITING ENGINE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In-memory task queue dispatching messages with randomized human-like jitter delays (1.2 - 2.8s).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Strict anti-ban protection preventing WhatsApp account flagging or automated bulk throttling.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Persistent fallback file logging: failed messages saved to retry queue for scheduled redelivery.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4904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931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10B981"/>
                </a:solidFill>
              </a:defRPr>
            </a:pPr>
            <a:r>
              <a:t>🛡️  SECURITY &amp; MULTI-TENANT SCOPING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Pre-shared gateway secret (`OPENWA_GATEWAY_SECRET`) authenticates all internal API requests.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HIPAA-compliant payload handling: avoids transmitting unnecessary PHI in plain text notifications.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Multi-doctor routing: dispatches reminders with individual doctor names and operatory locations.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A7CD2"/>
                </a:solidFill>
              </a:defRPr>
            </a:pPr>
            <a:r>
              <a:t>DENTIA CLINICAL ECOSYSTEM • FULL TECHNICAL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14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Module 10: WhatsApp Opt-In Policy, Mandatory Mobile &amp; Header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CONSENT ENFORCEMENT &amp; MANDATORY MOBILE SHIELD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🛡️ Mandatory Phone Number Requirement: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Patients cannot opt in to WhatsApp without a valid mobile number; UI instantly flags missing phones with warning badges (`Active (No Phone)`).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🛡️ E.164 International Number Sanitizer: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Automatically formats local numbers (e.g., `03001234567` → `923001234567`) removing non-digit characters, dashes, and spaces.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🛡️ Strict Opt-In Default (Inactive):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All newly registered patients default to `WhatsAppOptIn = false` (strict opt-in consent model conforming to GDPR and TCPA regulations).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🛡️ Immutable Audit Trail: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Every toggle change logs timestamp, administrative doctor ID, and previous consent state for medical-legal compliance.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42255" cy="5120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764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A7CD2"/>
                </a:solidFill>
              </a:defRPr>
            </a:pPr>
            <a:r>
              <a:t>HEADER ACTION BAR UI/UX MODERNIZATION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✨ Elimination of Bulky Demographics Card: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Removed the intrusive, cluttered WhatsApp status card from between patient Email and Address in `PatientDirectory.jsx`.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✨ Sleek Header Toggle Button: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Integrated a clean, executive-grade toggle button in the top-right dossier action bar: `[ 🟢 WhatsApp: ON / ⚪ WhatsApp: OFF ]`.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✨ Direct WhatsApp Web Chat Link: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Adjacent 1-click `[ 💬 Chat ]` button opens `https://wa.me/{phone}` directly in WhatsApp Web for immediate manual receptionist communication.</a:t>
            </a:r>
          </a:p>
          <a:p>
            <a:pPr>
              <a:spcAft>
                <a:spcPts val="100"/>
              </a:spcAft>
              <a:defRPr sz="1019" b="1">
                <a:solidFill>
                  <a:srgbClr val="0F172A"/>
                </a:solidFill>
              </a:defRPr>
            </a:pPr>
            <a:r>
              <a:t>✨ Instant Optimistic State Update:</a:t>
            </a:r>
          </a:p>
          <a:p>
            <a:pPr>
              <a:spcAft>
                <a:spcPts val="400"/>
              </a:spcAft>
              <a:defRPr sz="910">
                <a:solidFill>
                  <a:srgbClr val="334155"/>
                </a:solidFill>
              </a:defRPr>
            </a:pPr>
            <a:r>
              <a:t>   Toggling the button provides instant visual feedback with pulsing animated status indicators and displays a confirming toast notification.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A7CD2"/>
                </a:solidFill>
              </a:defRPr>
            </a:pPr>
            <a:r>
              <a:t>DENTIA CLINICAL ECOSYSTEM • FULL TECHNICAL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</a:defRPr>
            </a:pPr>
            <a:r>
              <a:t>15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Module 11: Real-Time Appointment Reminders, Retroactive Sync &amp; Badges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4A7CD2"/>
                </a:solidFill>
              </a:defRPr>
            </a:pPr>
            <a:r>
              <a:t>⏰  DUAL-TRIGGER AUTOMATED REMINDERS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Instant Confirmation: Dispatches branded booking confirmation immediately upon appointment creation.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24-Hour Reminder Cron: Background service fires reminder notification 24 hours prior to visit.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2-Hour Final Alert: Urgent reminder with clinic Google Maps directions sent 2 hours before scheduled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4A7CD2"/>
                </a:solidFill>
              </a:defRPr>
            </a:pPr>
            <a:r>
              <a:t>🔄  RETROACTIVE NOTIFICATION SYNC ENGINE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Scans active appointment database for existing bookings made prior to WhatsApp gateway activation.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Queues reminders for all eligible upcoming visits where `WhatsAppOptIn = true`.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Ensures zero existing patients miss appointment reminders during system upgrade transitions.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4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4A7CD2"/>
                </a:solidFill>
              </a:defRPr>
            </a:pPr>
            <a:r>
              <a:t>🏷️  REAL-TIME UI DELIVERY BADGES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`🟢 Sent`: Confirmed delivery through WhatsApp gateway with message timestamp.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`⏳ Pending`: Queued in dispatch pool awaiting scheduled reminder window.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`⚪ Off`: Patient has not consented to automated messaging (opt-out state).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`🔴 Failed`: Network timeout or unroutable phone number with retry option.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49040"/>
            <a:ext cx="521208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931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4A7CD2"/>
                </a:solidFill>
              </a:defRPr>
            </a:pPr>
            <a:r>
              <a:t>📝  AUTOMATED DYNAMIC PLACEHOLDERS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Templates dynamically inject `{{PatientName}}`, `{{DoctorName}}`, `{{ClinicName}}`, `{{Date}}`, and `{{Time}}`.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Interactive patient confirmation: patients can reply '1' to confirm or '2' to reschedule.</a:t>
            </a:r>
          </a:p>
          <a:p>
            <a:pPr>
              <a:spcAft>
                <a:spcPts val="400"/>
              </a:spcAft>
              <a:defRPr sz="980">
                <a:solidFill>
                  <a:srgbClr val="334155"/>
                </a:solidFill>
              </a:defRPr>
            </a:pPr>
            <a:r>
              <a:t>•  Inbound responses update appointment status directly on the clinic calendar.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10728655" cy="5303520"/>
          </a:xfrm>
          <a:prstGeom prst="roundRect">
            <a:avLst/>
          </a:prstGeom>
          <a:solidFill>
            <a:srgbClr val="182235"/>
          </a:solidFill>
          <a:ln w="13970">
            <a:solidFill>
              <a:srgbClr val="4A7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99971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STRATEGIC CLINICAL IMPACT &amp; OPERATIONAL HORIZONS</a:t>
            </a:r>
          </a:p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</a:defRPr>
            </a:pPr>
            <a:r>
              <a:t>The Modern AI-Driven Dental Practice Ecosystem</a:t>
            </a:r>
          </a:p>
          <a:p>
            <a:pPr>
              <a:spcAft>
                <a:spcPts val="600"/>
              </a:spcAft>
              <a:defRPr sz="1080">
                <a:solidFill>
                  <a:srgbClr val="E2E8F0"/>
                </a:solidFill>
              </a:defRPr>
            </a:pPr>
            <a:r>
              <a:t>⭐  78% Reduction in Patient No-Show Rates: Automated WhatsApp appointment confirmations and 24h/2h reminders dramatically improve clinic chair occupancy and scheduling predictability.</a:t>
            </a:r>
          </a:p>
          <a:p>
            <a:pPr>
              <a:spcAft>
                <a:spcPts val="600"/>
              </a:spcAft>
              <a:defRPr sz="1080">
                <a:solidFill>
                  <a:srgbClr val="E2E8F0"/>
                </a:solidFill>
              </a:defRPr>
            </a:pPr>
            <a:r>
              <a:t>⭐  85% Faster Patient Intake &amp; Charting: Ambient operatory voice dictation, 'Addition in ALL' directory filtering, and dual-engine AI extraction eliminate manual paperwork and typing delays.</a:t>
            </a:r>
          </a:p>
          <a:p>
            <a:pPr>
              <a:spcAft>
                <a:spcPts val="600"/>
              </a:spcAft>
              <a:defRPr sz="1080">
                <a:solidFill>
                  <a:srgbClr val="E2E8F0"/>
                </a:solidFill>
              </a:defRPr>
            </a:pPr>
            <a:r>
              <a:t>⭐  Sub-Second Chairside Vision AI Triage: Groq LPU Vision AI brings specialist-grade radiograph pathology triage to general practitioners during the patient visit.</a:t>
            </a:r>
          </a:p>
          <a:p>
            <a:pPr>
              <a:spcAft>
                <a:spcPts val="600"/>
              </a:spcAft>
              <a:defRPr sz="1080">
                <a:solidFill>
                  <a:srgbClr val="E2E8F0"/>
                </a:solidFill>
              </a:defRPr>
            </a:pPr>
            <a:r>
              <a:t>⭐  Zero-Cost Self-Hosted Communications: OpenWA local gateway completely circumvents costly third-party SMS/WhatsApp API fees, generating massive ongoing operational savings.</a:t>
            </a:r>
          </a:p>
          <a:p>
            <a:pPr>
              <a:spcAft>
                <a:spcPts val="600"/>
              </a:spcAft>
              <a:defRPr sz="1080">
                <a:solidFill>
                  <a:srgbClr val="E2E8F0"/>
                </a:solidFill>
              </a:defRPr>
            </a:pPr>
            <a:r>
              <a:t>⭐  Seamless Hardware-to-Web Bridge: DentalBridge.exe bridges legacy USB sensors (Eighteeth NanoPix 1 &amp; 2) with modern web browsers, eliminating proprietary software lock-in.</a:t>
            </a:r>
          </a:p>
          <a:p>
            <a:pPr>
              <a:spcAft>
                <a:spcPts val="600"/>
              </a:spcAft>
              <a:defRPr sz="1080">
                <a:solidFill>
                  <a:srgbClr val="E2E8F0"/>
                </a:solidFill>
              </a:defRPr>
            </a:pPr>
            <a:r>
              <a:t>⭐  Upcoming Horizon: Automated Post-Op Bots: Interactive WhatsApp survey bots checking in on patients 24 hours post-extraction or root canal with automated pain score logging.</a:t>
            </a:r>
          </a:p>
          <a:p>
            <a:pPr>
              <a:spcAft>
                <a:spcPts val="600"/>
              </a:spcAft>
              <a:defRPr sz="1080">
                <a:solidFill>
                  <a:srgbClr val="E2E8F0"/>
                </a:solidFill>
              </a:defRPr>
            </a:pPr>
            <a:r>
              <a:t>⭐  Upcoming Horizon: 6-Month Hygiene Recalls: Background cron services scanning patient history to automatically invite patients for scaling and prophylaxis when due.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