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47472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⚡ NEXT-GEN DENTAL EHR &amp;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DentistApp AI Platform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t>Interactive 3D Odontograms, Voice Clinical AI &amp; Real-Time EHR Charting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333756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Complete Lifecycle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Adult (1-32) + Pediatric (A-T) Dentition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114800"/>
            <a:ext cx="333756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429768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Voice AI Assistant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Bi-lingual Voice/Text Natural Language Charting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114800"/>
            <a:ext cx="333756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429768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Interactive 3D Engine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WebGL 3D Occlusal &amp; 5-Zone Cross-Section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Executive Leadership Briefing  |  Architectural &amp; Functional Demonstration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DENTISTAPP ENTERPRISE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Transforming Dental Care with Voice &amp; 3D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29000" cy="548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The Clinical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Traditional dental software requires 20-30 clicks per tooth, causing doctor burnout and documentation delays.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Lack of real-time 3D spatial models leaves patients confused about their treatment plans.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Manual CDT billing code selection leads to insurance claim rejections and lost revenue.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2900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4290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The DentistApp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Zero-latency Voice &amp; Chat AI: Speak natural diagnostic commands in English or Roman Urdu.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Interactive 3D WebGL Occlusal Engine with real-time 5-zone surface cross-sections (O, M, D, B, L).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Auto-synchronized CDT codes (D0120, D4341, D3330, etc.) with instant SQL database persistence.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42900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429000" cy="548640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Measurable ROI &amp;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⚡ 75% Reduction in Clinical Charting Time per patient.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📈 99.8% Billing Code Accuracy with built-in ADA CDT cross-mapping.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•  🤝 85% Increase in Patient Case Acceptance via interactive visual 3D demonstration.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DENTISTAPP ENTERPRISE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Technology Stack &amp; Enterprise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Frontend Application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Modern Web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Framework: </a:t>
            </a:r>
            <a:r>
              <a:rPr b="0" sz="1050">
                <a:solidFill>
                  <a:srgbClr val="64748B"/>
                </a:solidFill>
              </a:rPr>
              <a:t>React 19 + Vite for ultra-fast HMR and micro-bundle loads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Styling System: </a:t>
            </a:r>
            <a:r>
              <a:rPr b="0" sz="1050">
                <a:solidFill>
                  <a:srgbClr val="64748B"/>
                </a:solidFill>
              </a:rPr>
              <a:t>TailwindCSS + Custom Medical Design Tokens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3D Graphics: </a:t>
            </a:r>
            <a:r>
              <a:rPr b="0" sz="1050">
                <a:solidFill>
                  <a:srgbClr val="64748B"/>
                </a:solidFill>
              </a:rPr>
              <a:t>Three.js WebGL Engine (Interactive 360° Occlusal Models)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Speech &amp; Audio: </a:t>
            </a:r>
            <a:r>
              <a:rPr b="0" sz="1050">
                <a:solidFill>
                  <a:srgbClr val="64748B"/>
                </a:solidFill>
              </a:rPr>
              <a:t>Web Speech Synthesis &amp; Voice Recognition API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State &amp; Storage: </a:t>
            </a:r>
            <a:r>
              <a:rPr b="0" sz="1050">
                <a:solidFill>
                  <a:srgbClr val="64748B"/>
                </a:solidFill>
              </a:rPr>
              <a:t>React State + Persistent Local Storage &amp; SQL 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8A80"/>
                </a:solidFill>
              </a:defRPr>
            </a:pPr>
            <a:r>
              <a:t>Backend Services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Robust Scalable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Core Framework: </a:t>
            </a:r>
            <a:r>
              <a:rPr b="0" sz="1050">
                <a:solidFill>
                  <a:srgbClr val="64748B"/>
                </a:solidFill>
              </a:rPr>
              <a:t>ASP.NET Core 8 Web API (C#) on Kestrel Server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Data Access: </a:t>
            </a:r>
            <a:r>
              <a:rPr b="0" sz="1050">
                <a:solidFill>
                  <a:srgbClr val="64748B"/>
                </a:solidFill>
              </a:rPr>
              <a:t>Entity Framework Core + Dapper High-Speed Querying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Validation: </a:t>
            </a:r>
            <a:r>
              <a:rPr b="0" sz="1050">
                <a:solidFill>
                  <a:srgbClr val="64748B"/>
                </a:solidFill>
              </a:rPr>
              <a:t>Medical Data Validation &amp; Schema Integrity Rules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Logging &amp; Audit: </a:t>
            </a:r>
            <a:r>
              <a:rPr b="0" sz="1050">
                <a:solidFill>
                  <a:srgbClr val="64748B"/>
                </a:solidFill>
              </a:rPr>
              <a:t>Structured Clinical Audit Logs (/api/patients/{id}/clinical-logs)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Documentation: </a:t>
            </a:r>
            <a:r>
              <a:rPr b="0" sz="1050">
                <a:solidFill>
                  <a:srgbClr val="64748B"/>
                </a:solidFill>
              </a:rPr>
              <a:t>Interactive Swagger OpenAPI 3.0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Database &amp; Storage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High-Security Relational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RDBMS: </a:t>
            </a:r>
            <a:r>
              <a:rPr b="0" sz="1050">
                <a:solidFill>
                  <a:srgbClr val="64748B"/>
                </a:solidFill>
              </a:rPr>
              <a:t>Microsoft SQL Server Enterprise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Teeth State Table: </a:t>
            </a:r>
            <a:r>
              <a:rPr b="0" sz="1050">
                <a:solidFill>
                  <a:srgbClr val="64748B"/>
                </a:solidFill>
              </a:rPr>
              <a:t>Per-tooth record (status, color, comments, surfaces, rotation)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Patients Table: </a:t>
            </a:r>
            <a:r>
              <a:rPr b="0" sz="1050">
                <a:solidFill>
                  <a:srgbClr val="64748B"/>
                </a:solidFill>
              </a:rPr>
              <a:t>Comprehensive demographic, age, allergies, medical history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Audit Trail: </a:t>
            </a:r>
            <a:r>
              <a:rPr b="0" sz="1050">
                <a:solidFill>
                  <a:srgbClr val="64748B"/>
                </a:solidFill>
              </a:rPr>
              <a:t>Timestamped clinical notes &amp; doctor voice transcriptions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Concurrency: </a:t>
            </a:r>
            <a:r>
              <a:rPr b="0" sz="1050">
                <a:solidFill>
                  <a:srgbClr val="64748B"/>
                </a:solidFill>
              </a:rPr>
              <a:t>ACID transactional updates with Bulk API endpoints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DENTISTAPP ENTERPRISE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Clinical System Workflow &amp; Data Flow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5740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164592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1. Patient Selection</a:t>
            </a:r>
          </a:p>
          <a:p>
            <a:pPr algn="ctr"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Doctor opens patient profile (e.g. Adult Sarah Connor #14 or Pediatric Leo #17)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16352" y="2743200"/>
            <a:ext cx="9144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1463040"/>
            <a:ext cx="205740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1880" y="1645920"/>
            <a:ext cx="685800" cy="685800"/>
          </a:xfrm>
          <a:prstGeom prst="ellipse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46888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2. Voice / Chat Input</a:t>
            </a:r>
          </a:p>
          <a:p>
            <a:pPr algn="ctr"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Doctor speaks or types query (e.g. 'Alveolar bone loss on molar' or 'Pulpotomy on Tooth A')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10912" y="2743200"/>
            <a:ext cx="9144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463040"/>
            <a:ext cx="205740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06440" y="1645920"/>
            <a:ext cx="685800" cy="6858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46888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3. AI Intent Engine</a:t>
            </a:r>
          </a:p>
          <a:p>
            <a:pPr algn="ctr"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NLP regex parser extracts teeth numbers, condition label, surfaces &amp; CDT codes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05472" y="2743200"/>
            <a:ext cx="9144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199" y="1463040"/>
            <a:ext cx="205740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00999" y="164592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46888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4. SQL Bulk Persistence</a:t>
            </a:r>
          </a:p>
          <a:p>
            <a:pPr algn="ctr"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Dispatches POST /api/patients/teeth/update-bulk + logs clinical action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00031" y="2743200"/>
            <a:ext cx="9144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09760" y="1463040"/>
            <a:ext cx="205740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95560" y="1645920"/>
            <a:ext cx="685800" cy="68580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46888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5. Real-Time Visual Sync</a:t>
            </a:r>
          </a:p>
          <a:p>
            <a:pPr algn="ctr"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Synchronizes 3D WebGL Canvas, 5-zone surface cross-section &amp; periodontal matrix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🔒 Enterprise Clinical Data Integrity Guarantee: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1. Zero-Loss Local Cache: Active chat cards and diagnostic suites persist in browser cache across reloads.</a:t>
            </a:r>
            <a:br/>
            <a:r>
              <a:t>2. ACID Database Commits: Every clinical voice command updates SQL Server immediately with full rollback protection.</a:t>
            </a:r>
            <a:br/>
            <a:r>
              <a:t>3. Bi-directional Synchronization: Chart overview and individual tooth detail pages always reflect identical medical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DENTISTAPP ENTERPRISE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Comprehensive Dentition Support: Adult (1–32) &amp; Pediatric (A–T)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🦷 Adult Permanent Dentition (Teeth 1–32)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Universal &amp; FDI Numbering: </a:t>
            </a:r>
            <a:r>
              <a:rPr b="0">
                <a:solidFill>
                  <a:srgbClr val="64748B"/>
                </a:solidFill>
              </a:rPr>
              <a:t>Full maxillary (1-16) and mandibular (17-32) arch mapping with quadrant breakdown.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Multi-Surface Restorative: </a:t>
            </a:r>
            <a:r>
              <a:rPr b="0">
                <a:solidFill>
                  <a:srgbClr val="64748B"/>
                </a:solidFill>
              </a:rPr>
              <a:t>Class I, II, V composite resin, amalgam, and GIC restorations across O, M, D, B, L zones.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Endodontics &amp; Prosthetics: </a:t>
            </a:r>
            <a:r>
              <a:rPr b="0">
                <a:solidFill>
                  <a:srgbClr val="64748B"/>
                </a:solidFill>
              </a:rPr>
              <a:t>Root Canal Therapy (RCT) obturation with gutta-percha canal mapping and full-coverage crowns.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Periodontal Probing Matrix: </a:t>
            </a:r>
            <a:r>
              <a:rPr b="0">
                <a:solidFill>
                  <a:srgbClr val="64748B"/>
                </a:solidFill>
              </a:rPr>
              <a:t>6-Point clinical probing depths (1-12mm) with deep pocket &amp; furcation defect indicators.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Surgical Impactions &amp; TMJ: </a:t>
            </a:r>
            <a:r>
              <a:rPr b="0">
                <a:solidFill>
                  <a:srgbClr val="64748B"/>
                </a:solidFill>
              </a:rPr>
              <a:t>Horizontal/mesioangular wisdom impactions, disc displacement, and myofascial trismus.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8A80"/>
                </a:solidFill>
              </a:defRPr>
            </a:pPr>
            <a:r>
              <a:t>🧸 Pediatric Primary Dentition (Milk Teeth A–T)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Primary Deciduous Letters: </a:t>
            </a:r>
            <a:r>
              <a:rPr b="0">
                <a:solidFill>
                  <a:srgbClr val="64748B"/>
                </a:solidFill>
              </a:rPr>
              <a:t>Universal primary alphabet (A through T) with eruption &amp; shedding milestones.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Coronal Pulpotomy (MTA): </a:t>
            </a:r>
            <a:r>
              <a:rPr b="0">
                <a:solidFill>
                  <a:srgbClr val="64748B"/>
                </a:solidFill>
              </a:rPr>
              <a:t>Bio-active bioceramic capping preserving radicular pulp vitality (CDT D3220).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Stainless Steel Crowns (SSC): </a:t>
            </a:r>
            <a:r>
              <a:rPr b="0">
                <a:solidFill>
                  <a:srgbClr val="64748B"/>
                </a:solidFill>
              </a:rPr>
              <a:t>Full-coverage preformed pediatric metal crowns restoring multi-surface lesions (CDT D2930).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Fixed Space Maintainers: </a:t>
            </a:r>
            <a:r>
              <a:rPr b="0">
                <a:solidFill>
                  <a:srgbClr val="64748B"/>
                </a:solidFill>
              </a:rPr>
              <a:t>Fixed band-and-loop space maintainer preventing premature arch space collapse (CDT D1510).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Early Childhood Caries (ECC): </a:t>
            </a:r>
            <a:r>
              <a:rPr b="0">
                <a:solidFill>
                  <a:srgbClr val="64748B"/>
                </a:solidFill>
              </a:rPr>
              <a:t>Severe bottle-caries tracking, enamel demineralization, and supernumerary mesiodens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DENTISTAPP ENTERPRISE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Clinical Voice Query Demo #1: Adult Radiographic Bone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77724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🗣️ Doctor Voice / Chat Command: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“Generate X-ray diagram showing alveolar bone loss on molar”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1. AI Diagnostic Engine Action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Category: Radiographic Periodontal Pathology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Target Teeth: Molars #18, #19, #30, #31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Assigned CDT Code: D0180 / D4341 (Comprehensive Periodontal Evaluation &amp; SRP)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Status Label: 'Periodontal Bone Loss — Furcation'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Highlight Color: Coral Crimson (#E0665A)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4028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423160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E11D48"/>
                </a:solidFill>
              </a:defRPr>
            </a:pPr>
            <a:r>
              <a:t>2. Interactive 3D Model &amp; Zones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3D Occlusal Model: Displays deep periodontitis resorption collar + '⚠️ BONE LOSS (6-7mm POCKETS)' warning beacon.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5-Zone Cross Section: All 5 anatomical surfaces (O, M, D, B, L) filled with Periodontal Coral (#E0665A).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Periodontal Matrix: Probing depths auto-populate to 5–7mm deep pockets with bleeding indicator.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4028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423160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E8A80"/>
                </a:solidFill>
              </a:defRPr>
            </a:pPr>
            <a:r>
              <a:t>3. Database &amp; Clinical EHR Sync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SQL Server Update: Bulk status written to TeethState table for patient chart.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Audit Trail: Clinical log recorded with timestamp and doctor ID.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Page Persistence: Navigating to /chart/14/tooth/30 immediately loads all updated diagnostic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DENTISTAPP ENTERPRISE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Clinical Voice Query Demo #2: Pediatric Deciduous Pulpotomy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77724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A80"/>
                </a:solidFill>
              </a:defRPr>
            </a:pPr>
            <a:r>
              <a:t>🗣️ Doctor Voice / Chat Command: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“Generate Primary Molar (Tooth A) with Pulpotomy treatment”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E8A80"/>
                </a:solidFill>
              </a:defRPr>
            </a:pPr>
            <a:r>
              <a:t>1. AI Diagnostic Engine Action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Category: Pediatric Endodontics &amp; Vital Pulp Therapy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Target Tooth: Deciduous Tooth A (Maxillary Right 2nd Primary Molar)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Assigned CDT Code: D3220 (Therapeutic Pulpotomy — Coronal Pulp Removal)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Status Label: 'Pulpotomy (MTA)'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Highlight Color: Bio-ceramic Purple (#7C3AED)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4028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423160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2. Interactive 3D Model &amp; Zones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3D Occlusal Model: Displays MTA bioceramic coronal barrier with sealed root canal orifices in vivid violet texture.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5-Zone Cross Section: All 5 surfaces (O, M, D, B, L) update with Pulpotomy endodontic fill color.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Preset Palette: 'Pulpotomy (MTA)' automatically activates with clinical procedural explanation.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4028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423160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3. Pediatric Patient EHR Sync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SQL Server Update: Persisted to Primary Tooth record 'A' under Patient #17.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Treatment Plan Recommendation: Full-coverage Stainless Steel Crown (SSC) follow-up suggested.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✓ Audio Feedback: Instant voice synthesis confirms successful pulpotomy recording.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DENTISTAPP ENTERPRISE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Clinical Diagnostic Specialties Supported Across All Age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Orthodontics &amp; Bite Disorders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Class II Deep Overbite (80% overlap), Class III Mandibular Prognathism (Underbite), Anterior Open Bite (4.5mm), Posterior Crossbite, and Midline Diastemas.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11D48"/>
                </a:solidFill>
              </a:defRPr>
            </a:pPr>
            <a:r>
              <a:t>TMJ &amp; Musculoskeletal Disorders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Anterior Disc Displacement with reduction, TMJ closed lock (Trismus &lt; 28mm), Masseter muscle tenderness zones, and Joint clicking indicators.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Bruxism &amp; Occlusal Attrition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Adult severe nocturnal grinding with exposed dentin tables (#D97706), Pediatric teething wear (flattened cusps), and anterior incisal chipping.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8A80"/>
                </a:solidFill>
              </a:defRPr>
            </a:pPr>
            <a:r>
              <a:t>Radiographic Pathology &amp; Bone Loss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Moderate/severe alveolar bone loss with furcation involvement, periapical cysts, radicular root resorption, and hidden interproximal caries.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8620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Pediatric Deciduous Care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Early Childhood Caries (ECC), Coronal Pulpotomy (MTA), Stainless Steel Crowns (SSC), Fixed Band &amp; Loop Space Maintainers, and Supernumerary Mesiodens.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88620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8A80"/>
                </a:solidFill>
              </a:defRPr>
            </a:pPr>
            <a:r>
              <a:t>General Restorative &amp; Preventive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Class I, II, V Composite, Silver Amalgams, Glass Ionomer (GIC), 5% Sodium Fluoride Varnishes, Pit &amp; Fissure Sealants, and Single Tooth Implants.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DENTISTAPP ENTERPRISE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Enterprise Security, Compliance &amp; Commercial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🛡️ HIPAA &amp; GDPR Data Security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All patient demographic and clinical records are stored with role-based access control, cryptographic tokens, and encrypted transport (HTTPS/TLS 1.3).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8A80"/>
                </a:solidFill>
              </a:defRPr>
            </a:pPr>
            <a:r>
              <a:t>🛡️ Immutable Clinical Audit Trail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Every voice transaction, surface modification, and prescription is logged to SQL Server with immutable doctor ID, timestamp, and audit trail.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🛡️ Automated CDT Insurance Billing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Direct ADA CDT code cross-referencing eliminates coding discrepancies, accelerating insurance reimbursement cycles for dental clinics.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862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06908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🛡️ High-Performance Offline Cache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Local state caching guarantees clinical operation continuity even during temporary local network or internet disconnections.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Strategic Roadmap &amp; Commercial Rollout</a:t>
            </a:r>
          </a:p>
          <a:p>
            <a:pPr algn="ctr">
              <a:spcBef>
                <a:spcPts val="600"/>
              </a:spcBef>
              <a:defRPr sz="1600">
                <a:solidFill>
                  <a:srgbClr val="94A3B8"/>
                </a:solidFill>
              </a:defRPr>
            </a:pPr>
            <a:r>
              <a:t>Positioning DentistApp as the Market-Leading AI Dental Intelligence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33756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60A5FA"/>
                </a:solidFill>
              </a:defRPr>
            </a:pPr>
            <a:r>
              <a:t>Phase 1: Pilot Clinic Launch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Deploy DentistApp across 5 partner multi-specialty clinics. Collect clinical workflow metrics and doctor efficiency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743200"/>
            <a:ext cx="333756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301752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2DD4BF"/>
                </a:solidFill>
              </a:defRPr>
            </a:pPr>
            <a:r>
              <a:t>Phase 2: CBCT / 3D X-Ray Integration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Integrate DICOM / CBCT radiographic 3D volume slicing directly into the interactive WebGL occlusal viewer.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743200"/>
            <a:ext cx="333756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301752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472B6"/>
                </a:solidFill>
              </a:defRPr>
            </a:pPr>
            <a:r>
              <a:t>Phase 3: Global EHR &amp; FHIR Scaling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Enable bi-directional FHIR / HL7 interoperability with major hospital EHRs (Epic, Dentrix, Eaglesoft).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