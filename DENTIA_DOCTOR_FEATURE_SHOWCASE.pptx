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3840480" cy="411480"/>
          </a:xfrm>
          <a:prstGeom prst="roundRect">
            <a:avLst/>
          </a:prstGeom>
          <a:solidFill>
            <a:srgbClr val="3665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AA638"/>
                </a:solidFill>
              </a:defRPr>
            </a:pPr>
            <a:r>
              <a:t>THE NEXT-GEN CLINICAL WORKSPACE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Dentia™ &amp; Jarvis AI Clinical Copilot</a:t>
            </a:r>
          </a:p>
          <a:p>
            <a:pPr>
              <a:defRPr sz="1600">
                <a:solidFill>
                  <a:srgbClr val="EAF0FC"/>
                </a:solidFill>
              </a:defRPr>
            </a:pPr>
            <a:r>
              <a:t>The World's First 100% Hands-Free Dental Practice Operating System with Voice Charting, Ambient SOAP Scribing &amp; Hardware LAN Sync.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840480"/>
            <a:ext cx="3291840" cy="2194560"/>
          </a:xfrm>
          <a:prstGeom prst="roundRect">
            <a:avLst/>
          </a:prstGeom>
          <a:solidFill>
            <a:srgbClr val="1A2E58"/>
          </a:solidFill>
          <a:ln w="15240">
            <a:solidFill>
              <a:srgbClr val="4A7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AA638"/>
                </a:solidFill>
              </a:defRPr>
            </a:pPr>
            <a:r>
              <a:t>100% Sterile Operatory</a:t>
            </a:r>
          </a:p>
          <a:p>
            <a:pPr>
              <a:defRPr sz="1100">
                <a:solidFill>
                  <a:srgbClr val="EAF0FC"/>
                </a:solidFill>
              </a:defRPr>
            </a:pPr>
            <a:r>
              <a:t>Never touch a dirty mouse or keyboard with surgical gloves on. Speak naturally to update charts.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3840480"/>
            <a:ext cx="3291840" cy="2194560"/>
          </a:xfrm>
          <a:prstGeom prst="roundRect">
            <a:avLst/>
          </a:prstGeom>
          <a:solidFill>
            <a:srgbClr val="1A2E58"/>
          </a:solidFill>
          <a:ln w="15240">
            <a:solidFill>
              <a:srgbClr val="4A7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402336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AA638"/>
                </a:solidFill>
              </a:defRPr>
            </a:pPr>
            <a:r>
              <a:t>2 Hours Saved Daily</a:t>
            </a:r>
          </a:p>
          <a:p>
            <a:pPr>
              <a:defRPr sz="1100">
                <a:solidFill>
                  <a:srgbClr val="EAF0FC"/>
                </a:solidFill>
              </a:defRPr>
            </a:pPr>
            <a:r>
              <a:t>Ambient voice scribe drafts 8-section SOAP notes &amp; CDT codes automatically during treatment.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3840480"/>
            <a:ext cx="3291840" cy="2194560"/>
          </a:xfrm>
          <a:prstGeom prst="roundRect">
            <a:avLst/>
          </a:prstGeom>
          <a:solidFill>
            <a:srgbClr val="1A2E58"/>
          </a:solidFill>
          <a:ln w="15240">
            <a:solidFill>
              <a:srgbClr val="4A7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59" y="402336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AA638"/>
                </a:solidFill>
              </a:defRPr>
            </a:pPr>
            <a:r>
              <a:t>Zero-Install Hardware</a:t>
            </a:r>
          </a:p>
          <a:p>
            <a:pPr>
              <a:defRPr sz="1100">
                <a:solidFill>
                  <a:srgbClr val="EAF0FC"/>
                </a:solidFill>
              </a:defRPr>
            </a:pPr>
            <a:r>
              <a:t>Directly connects Soredex DIGORA® Optime Ethernet &amp; RVG sensors in the web browser.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7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EAA638"/>
                </a:solidFill>
              </a:defRPr>
            </a:pPr>
            <a:r>
              <a:t>DOCTOR ATTRACTION &amp; CLINICAL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0244B"/>
                </a:solidFill>
              </a:defRPr>
            </a:pPr>
            <a:r>
              <a:t>The 4 Breakthrough Features Dentists Love Most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57800" cy="2377440"/>
          </a:xfrm>
          <a:prstGeom prst="roundRect">
            <a:avLst/>
          </a:prstGeom>
          <a:solidFill>
            <a:srgbClr val="F4F6FA"/>
          </a:solidFill>
          <a:ln w="15240">
            <a:solidFill>
              <a:srgbClr val="4A7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4800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EAA638"/>
                </a:solidFill>
              </a:defRPr>
            </a:pPr>
            <a:r>
              <a:t>⭐ TOP DOCTOR ATTRACTION</a:t>
            </a:r>
          </a:p>
          <a:p>
            <a:pPr>
              <a:defRPr sz="1300" b="1">
                <a:solidFill>
                  <a:srgbClr val="10244B"/>
                </a:solidFill>
              </a:defRPr>
            </a:pPr>
            <a:r>
              <a:t>Hands-Free Voice Charting (Jarvis)</a:t>
            </a:r>
          </a:p>
          <a:p>
            <a:pPr>
              <a:defRPr sz="950">
                <a:solidFill>
                  <a:srgbClr val="4A5568"/>
                </a:solidFill>
              </a:defRPr>
            </a:pPr>
            <a:r>
              <a:t>• Voice-driven Odontogram: 'Tooth 14 occlusal caries', 'Tooth 19 RCT'</a:t>
            </a:r>
          </a:p>
          <a:p>
            <a:pPr>
              <a:defRPr sz="950">
                <a:solidFill>
                  <a:srgbClr val="4A5568"/>
                </a:solidFill>
              </a:defRPr>
            </a:pPr>
            <a:r>
              <a:t>• Bilingual Understanding: English and Roman Urdu fluency</a:t>
            </a:r>
          </a:p>
          <a:p>
            <a:pPr>
              <a:defRPr sz="950">
                <a:solidFill>
                  <a:srgbClr val="4A5568"/>
                </a:solidFill>
              </a:defRPr>
            </a:pPr>
            <a:r>
              <a:t>• Strict Privacy: 100% dormant; wakes only on sterile foot-pedal/spacebar</a:t>
            </a:r>
          </a:p>
          <a:p>
            <a:pPr>
              <a:defRPr sz="950">
                <a:solidFill>
                  <a:srgbClr val="4A5568"/>
                </a:solidFill>
              </a:defRPr>
            </a:pPr>
            <a:r>
              <a:t>• Instant 3D dual-jaw mesh update with zero contamination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371600"/>
            <a:ext cx="5257800" cy="2377440"/>
          </a:xfrm>
          <a:prstGeom prst="roundRect">
            <a:avLst/>
          </a:prstGeom>
          <a:solidFill>
            <a:srgbClr val="F4F6FA"/>
          </a:solidFill>
          <a:ln w="15240">
            <a:solidFill>
              <a:srgbClr val="4A7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08760"/>
            <a:ext cx="4800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EAA638"/>
                </a:solidFill>
              </a:defRPr>
            </a:pPr>
            <a:r>
              <a:t>⭐ TIME RECOVERY (2 HRS/DAY)</a:t>
            </a:r>
          </a:p>
          <a:p>
            <a:pPr>
              <a:defRPr sz="1300" b="1">
                <a:solidFill>
                  <a:srgbClr val="10244B"/>
                </a:solidFill>
              </a:defRPr>
            </a:pPr>
            <a:r>
              <a:t>Ambient 8-Section AI SOAP Scribe</a:t>
            </a:r>
          </a:p>
          <a:p>
            <a:pPr>
              <a:defRPr sz="950">
                <a:solidFill>
                  <a:srgbClr val="4A5568"/>
                </a:solidFill>
              </a:defRPr>
            </a:pPr>
            <a:r>
              <a:t>• Listens to doctor dictation &amp; categorizes into SOAP structure</a:t>
            </a:r>
          </a:p>
          <a:p>
            <a:pPr>
              <a:defRPr sz="950">
                <a:solidFill>
                  <a:srgbClr val="4A5568"/>
                </a:solidFill>
              </a:defRPr>
            </a:pPr>
            <a:r>
              <a:t>• Maps Subjective, Objective, Assessment, Plan &amp; Pharmacology</a:t>
            </a:r>
          </a:p>
          <a:p>
            <a:pPr>
              <a:defRPr sz="950">
                <a:solidFill>
                  <a:srgbClr val="4A5568"/>
                </a:solidFill>
              </a:defRPr>
            </a:pPr>
            <a:r>
              <a:t>• Automates ADA CDT billing codes (D0120, D2391, D3330)</a:t>
            </a:r>
          </a:p>
          <a:p>
            <a:pPr>
              <a:defRPr sz="950">
                <a:solidFill>
                  <a:srgbClr val="4A5568"/>
                </a:solidFill>
              </a:defRPr>
            </a:pPr>
            <a:r>
              <a:t>• One-click verbal sign-off: 'Jarvis, sign and finalize note'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257800" cy="2377440"/>
          </a:xfrm>
          <a:prstGeom prst="roundRect">
            <a:avLst/>
          </a:prstGeom>
          <a:solidFill>
            <a:srgbClr val="F4F6FA"/>
          </a:solidFill>
          <a:ln w="15240">
            <a:solidFill>
              <a:srgbClr val="4A7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069080"/>
            <a:ext cx="4800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EAA638"/>
                </a:solidFill>
              </a:defRPr>
            </a:pPr>
            <a:r>
              <a:t>⭐ PATIENT RETENTION &amp; TRUST</a:t>
            </a:r>
          </a:p>
          <a:p>
            <a:pPr>
              <a:defRPr sz="1300" b="1">
                <a:solidFill>
                  <a:srgbClr val="10244B"/>
                </a:solidFill>
              </a:defRPr>
            </a:pPr>
            <a:r>
              <a:t>Doctor-Cloned Voice Post-Op Audio</a:t>
            </a:r>
          </a:p>
          <a:p>
            <a:pPr>
              <a:defRPr sz="950">
                <a:solidFill>
                  <a:srgbClr val="4A5568"/>
                </a:solidFill>
              </a:defRPr>
            </a:pPr>
            <a:r>
              <a:t>• Synthesizes care instructions in the treating doctor's actual voice</a:t>
            </a:r>
          </a:p>
          <a:p>
            <a:pPr>
              <a:defRPr sz="950">
                <a:solidFill>
                  <a:srgbClr val="4A5568"/>
                </a:solidFill>
              </a:defRPr>
            </a:pPr>
            <a:r>
              <a:t>• Delivered straight to patient portal &amp; mobile phone</a:t>
            </a:r>
          </a:p>
          <a:p>
            <a:pPr>
              <a:defRPr sz="950">
                <a:solidFill>
                  <a:srgbClr val="4A5568"/>
                </a:solidFill>
              </a:defRPr>
            </a:pPr>
            <a:r>
              <a:t>• Reassures patients at home, eliminating post-treatment panic</a:t>
            </a:r>
          </a:p>
          <a:p>
            <a:pPr>
              <a:defRPr sz="950">
                <a:solidFill>
                  <a:srgbClr val="4A5568"/>
                </a:solidFill>
              </a:defRPr>
            </a:pPr>
            <a:r>
              <a:t>• Slashes repetitive after-hours phone calls by over 70%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931920"/>
            <a:ext cx="5257800" cy="2377440"/>
          </a:xfrm>
          <a:prstGeom prst="roundRect">
            <a:avLst/>
          </a:prstGeom>
          <a:solidFill>
            <a:srgbClr val="F4F6FA"/>
          </a:solidFill>
          <a:ln w="15240">
            <a:solidFill>
              <a:srgbClr val="4A7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069080"/>
            <a:ext cx="4800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EAA638"/>
                </a:solidFill>
              </a:defRPr>
            </a:pPr>
            <a:r>
              <a:t>⭐ ZERO IT HEADACHE</a:t>
            </a:r>
          </a:p>
          <a:p>
            <a:pPr>
              <a:defRPr sz="1300" b="1">
                <a:solidFill>
                  <a:srgbClr val="10244B"/>
                </a:solidFill>
              </a:defRPr>
            </a:pPr>
            <a:r>
              <a:t>Zero-Install Hardware LAN Hub</a:t>
            </a:r>
          </a:p>
          <a:p>
            <a:pPr>
              <a:defRPr sz="950">
                <a:solidFill>
                  <a:srgbClr val="4A5568"/>
                </a:solidFill>
              </a:defRPr>
            </a:pPr>
            <a:r>
              <a:t>• Connects directly over Ethernet TCP/IP &amp; USB in browser</a:t>
            </a:r>
          </a:p>
          <a:p>
            <a:pPr>
              <a:defRPr sz="950">
                <a:solidFill>
                  <a:srgbClr val="4A5568"/>
                </a:solidFill>
              </a:defRPr>
            </a:pPr>
            <a:r>
              <a:t>• Phosphor plates auto-mount into active chart in 5-7 seconds</a:t>
            </a:r>
          </a:p>
          <a:p>
            <a:pPr>
              <a:defRPr sz="950">
                <a:solidFill>
                  <a:srgbClr val="4A5568"/>
                </a:solidFill>
              </a:defRPr>
            </a:pPr>
            <a:r>
              <a:t>• Integrated AI vision detects interproximal decay &amp; bone loss</a:t>
            </a:r>
          </a:p>
          <a:p>
            <a:pPr>
              <a:defRPr sz="950">
                <a:solidFill>
                  <a:srgbClr val="4A5568"/>
                </a:solidFill>
              </a:defRPr>
            </a:pPr>
            <a:r>
              <a:t>• Eliminates 10GB legacy desktop software &amp; expensive dongles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7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EAA638"/>
                </a:solidFill>
              </a:defRPr>
            </a:pPr>
            <a:r>
              <a:t>VISUAL TREATMENT EXCELLENCE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0244B"/>
                </a:solidFill>
              </a:defRPr>
            </a:pPr>
            <a:r>
              <a:t>Interactive 3D Odontogram &amp; Multi-Specialty Suites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7472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A7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5448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665B7"/>
                </a:solidFill>
              </a:defRPr>
            </a:pPr>
            <a:r>
              <a:t>3D Dual-Jaw Anatomical Chart</a:t>
            </a:r>
          </a:p>
          <a:p>
            <a:pPr>
              <a:defRPr sz="1000" i="1">
                <a:solidFill>
                  <a:srgbClr val="4A5568"/>
                </a:solidFill>
              </a:defRPr>
            </a:pPr>
            <a:r>
              <a:t>Empowers patient visual understanding and accelerates treatment plan consent by 40%.</a:t>
            </a:r>
          </a:p>
          <a:p/>
          <a:p>
            <a:pPr>
              <a:defRPr sz="950">
                <a:solidFill>
                  <a:srgbClr val="10244B"/>
                </a:solidFill>
              </a:defRPr>
            </a:pPr>
            <a:r>
              <a:t>✔ Maxilla (Upper) &amp; Mandible (Lower) 3D arches</a:t>
            </a:r>
          </a:p>
          <a:p>
            <a:pPr>
              <a:defRPr sz="950">
                <a:solidFill>
                  <a:srgbClr val="10244B"/>
                </a:solidFill>
              </a:defRPr>
            </a:pPr>
            <a:r>
              <a:t>✔ Color shaders: Decay (Red), RCT (Violet), Crown (Amber), Implant (Emerald)</a:t>
            </a:r>
          </a:p>
          <a:p>
            <a:pPr>
              <a:defRPr sz="950">
                <a:solidFill>
                  <a:srgbClr val="10244B"/>
                </a:solidFill>
              </a:defRPr>
            </a:pPr>
            <a:r>
              <a:t>✔ Full adult 1-32 Universal and 11-48 FDI notation</a:t>
            </a:r>
          </a:p>
          <a:p>
            <a:pPr>
              <a:defRPr sz="950">
                <a:solidFill>
                  <a:srgbClr val="10244B"/>
                </a:solidFill>
              </a:defRPr>
            </a:pPr>
            <a:r>
              <a:t>✔ Pediatric deciduous arch (A-T) auto-adaptation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71600"/>
            <a:ext cx="347472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A7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55448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665B7"/>
                </a:solidFill>
              </a:defRPr>
            </a:pPr>
            <a:r>
              <a:t>Microscopic Surface Canvas</a:t>
            </a:r>
          </a:p>
          <a:p>
            <a:pPr>
              <a:defRPr sz="1000" i="1">
                <a:solidFill>
                  <a:srgbClr val="4A5568"/>
                </a:solidFill>
              </a:defRPr>
            </a:pPr>
            <a:r>
              <a:t>High-precision diagnostic mapping for endodontics and complex prosthodontics.</a:t>
            </a:r>
          </a:p>
          <a:p/>
          <a:p>
            <a:pPr>
              <a:defRPr sz="950">
                <a:solidFill>
                  <a:srgbClr val="10244B"/>
                </a:solidFill>
              </a:defRPr>
            </a:pPr>
            <a:r>
              <a:t>✔ Individual 5-surface mapping (Mesial, Distal, Occlusal, Buccal, Lingual)</a:t>
            </a:r>
          </a:p>
          <a:p>
            <a:pPr>
              <a:defRPr sz="950">
                <a:solidFill>
                  <a:srgbClr val="10244B"/>
                </a:solidFill>
              </a:defRPr>
            </a:pPr>
            <a:r>
              <a:t>✔ Detailed root canal morphology and canal counter</a:t>
            </a:r>
          </a:p>
          <a:p>
            <a:pPr>
              <a:defRPr sz="950">
                <a:solidFill>
                  <a:srgbClr val="10244B"/>
                </a:solidFill>
              </a:defRPr>
            </a:pPr>
            <a:r>
              <a:t>✔ Per-tooth chronological treatment history ledger</a:t>
            </a:r>
          </a:p>
          <a:p>
            <a:pPr>
              <a:defRPr sz="950">
                <a:solidFill>
                  <a:srgbClr val="10244B"/>
                </a:solidFill>
              </a:defRPr>
            </a:pPr>
            <a:r>
              <a:t>✔ Antagonist tracking and occlusion mapping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371600"/>
            <a:ext cx="347472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A7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155448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665B7"/>
                </a:solidFill>
              </a:defRPr>
            </a:pPr>
            <a:r>
              <a:t>Advanced Specialty Suites</a:t>
            </a:r>
          </a:p>
          <a:p>
            <a:pPr>
              <a:defRPr sz="1000" i="1">
                <a:solidFill>
                  <a:srgbClr val="4A5568"/>
                </a:solidFill>
              </a:defRPr>
            </a:pPr>
            <a:r>
              <a:t>Built-in clinical workflows for dental specialists and comprehensive clinics.</a:t>
            </a:r>
          </a:p>
          <a:p/>
          <a:p>
            <a:pPr>
              <a:defRPr sz="950">
                <a:solidFill>
                  <a:srgbClr val="10244B"/>
                </a:solidFill>
              </a:defRPr>
            </a:pPr>
            <a:r>
              <a:t>✔ Orthodontics: Clear aligner sequencing &amp; IPR staging</a:t>
            </a:r>
          </a:p>
          <a:p>
            <a:pPr>
              <a:defRPr sz="950">
                <a:solidFill>
                  <a:srgbClr val="10244B"/>
                </a:solidFill>
              </a:defRPr>
            </a:pPr>
            <a:r>
              <a:t>✔ TMJ &amp; Occlusion: Disc clicking &amp; trismus analysis</a:t>
            </a:r>
          </a:p>
          <a:p>
            <a:pPr>
              <a:defRPr sz="950">
                <a:solidFill>
                  <a:srgbClr val="10244B"/>
                </a:solidFill>
              </a:defRPr>
            </a:pPr>
            <a:r>
              <a:t>✔ Implantology: Bone quality &amp; 2mm IAN nerve buffer</a:t>
            </a:r>
          </a:p>
          <a:p>
            <a:pPr>
              <a:defRPr sz="950">
                <a:solidFill>
                  <a:srgbClr val="10244B"/>
                </a:solidFill>
              </a:defRPr>
            </a:pPr>
            <a:r>
              <a:t>✔ Radiology: Automated AI caries &amp; bone resorption detection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7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EAA638"/>
                </a:solidFill>
              </a:defRPr>
            </a:pPr>
            <a:r>
              <a:t>COMPLETE PRACTICE OPERATING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0244B"/>
                </a:solidFill>
              </a:defRPr>
            </a:pPr>
            <a:r>
              <a:t>Full Feature Matrix &amp; Measurable Practice ROI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6217920" cy="4937760"/>
          </a:xfrm>
          <a:prstGeom prst="roundRect">
            <a:avLst/>
          </a:prstGeom>
          <a:solidFill>
            <a:srgbClr val="F4F6FA"/>
          </a:solidFill>
          <a:ln w="15240">
            <a:solidFill>
              <a:srgbClr val="D4E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54480"/>
            <a:ext cx="5760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244B"/>
                </a:solidFill>
              </a:defRPr>
            </a:pPr>
            <a:r>
              <a:t>COMPLETE PRACTICE FEATURE SUITE</a:t>
            </a:r>
          </a:p>
          <a:p>
            <a:pPr>
              <a:defRPr sz="950">
                <a:solidFill>
                  <a:srgbClr val="4A5568"/>
                </a:solidFill>
              </a:defRPr>
            </a:pPr>
            <a:r>
              <a:t>• Smart Patient Intake: Auto-calculates age, adapts dentition arch, geocodes addresses, eliminates paperwork errors.</a:t>
            </a:r>
          </a:p>
          <a:p>
            <a:pPr>
              <a:defRPr sz="950">
                <a:solidFill>
                  <a:srgbClr val="4A5568"/>
                </a:solidFill>
              </a:defRPr>
            </a:pPr>
            <a:r>
              <a:t>• Operatory Schedule: Doctor calendar, conflict prevention, real-time status flow (Pending, Confirmed, Completed).</a:t>
            </a:r>
          </a:p>
          <a:p>
            <a:pPr>
              <a:defRPr sz="950">
                <a:solidFill>
                  <a:srgbClr val="4A5568"/>
                </a:solidFill>
              </a:defRPr>
            </a:pPr>
            <a:r>
              <a:t>• Patient Master Directory: Forensic clinical audit logs, instant search across all teeth states and treatments.</a:t>
            </a:r>
          </a:p>
          <a:p>
            <a:pPr>
              <a:defRPr sz="950">
                <a:solidFill>
                  <a:srgbClr val="4A5568"/>
                </a:solidFill>
              </a:defRPr>
            </a:pPr>
            <a:r>
              <a:t>• Automated CDT Invoicing: ADA procedure billing schedules, instant PDF reports, zero missed billing items.</a:t>
            </a:r>
          </a:p>
          <a:p>
            <a:pPr>
              <a:defRPr sz="950">
                <a:solidFill>
                  <a:srgbClr val="4A5568"/>
                </a:solidFill>
              </a:defRPr>
            </a:pPr>
            <a:r>
              <a:t>• Patient Portal &amp; Health Map: Patients view their teeth health map, pay invoices, and hear doctor voice instructions.</a:t>
            </a:r>
          </a:p>
          <a:p>
            <a:pPr>
              <a:defRPr sz="950">
                <a:solidFill>
                  <a:srgbClr val="4A5568"/>
                </a:solidFill>
              </a:defRPr>
            </a:pPr>
            <a:r>
              <a:t>• Cloud DICOM Security: 100% web-based, zero workstation drivers, multi-tier cloud and offline AI fallback.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371600"/>
            <a:ext cx="4297680" cy="4937760"/>
          </a:xfrm>
          <a:prstGeom prst="roundRect">
            <a:avLst/>
          </a:prstGeom>
          <a:solidFill>
            <a:srgbClr val="10244B"/>
          </a:solidFill>
          <a:ln w="15240">
            <a:solidFill>
              <a:srgbClr val="4A7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0" y="1645920"/>
            <a:ext cx="374903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AA638"/>
                </a:solidFill>
              </a:defRPr>
            </a:pPr>
            <a:r>
              <a:t>PROVEN CLINICIAN ROI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2.0 Hours / Day</a:t>
            </a:r>
          </a:p>
          <a:p>
            <a:pPr>
              <a:defRPr sz="1000">
                <a:solidFill>
                  <a:srgbClr val="EAF0FC"/>
                </a:solidFill>
              </a:defRPr>
            </a:pPr>
            <a:r>
              <a:t>Saved in manual dictation and note typing.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100% Sterile</a:t>
            </a:r>
          </a:p>
          <a:p>
            <a:pPr>
              <a:defRPr sz="1000">
                <a:solidFill>
                  <a:srgbClr val="EAF0FC"/>
                </a:solidFill>
              </a:defRPr>
            </a:pPr>
            <a:r>
              <a:t>Glove sterility maintained with zero keyboard contact.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+40% Acceptance</a:t>
            </a:r>
          </a:p>
          <a:p>
            <a:pPr>
              <a:defRPr sz="1000">
                <a:solidFill>
                  <a:srgbClr val="EAF0FC"/>
                </a:solidFill>
              </a:defRPr>
            </a:pPr>
            <a:r>
              <a:t>Higher patient treatment plan consent via 3D visualization.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6 Seconds</a:t>
            </a:r>
          </a:p>
          <a:p>
            <a:pPr>
              <a:defRPr sz="1000">
                <a:solidFill>
                  <a:srgbClr val="EAF0FC"/>
                </a:solidFill>
              </a:defRPr>
            </a:pPr>
            <a:r>
              <a:t>Average speed to scan and auto-mount Digora X-rays.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